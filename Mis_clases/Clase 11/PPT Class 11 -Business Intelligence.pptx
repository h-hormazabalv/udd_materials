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47" r:id="rId2"/>
    <p:sldId id="457" r:id="rId3"/>
    <p:sldId id="458" r:id="rId4"/>
    <p:sldId id="459" r:id="rId5"/>
    <p:sldId id="460" r:id="rId6"/>
    <p:sldId id="461" r:id="rId7"/>
    <p:sldId id="462" r:id="rId8"/>
    <p:sldId id="463" r:id="rId9"/>
    <p:sldId id="464" r:id="rId10"/>
    <p:sldId id="465" r:id="rId11"/>
    <p:sldId id="466" r:id="rId12"/>
    <p:sldId id="398" r:id="rId13"/>
    <p:sldId id="446" r:id="rId14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2F2F2"/>
    <a:srgbClr val="3E7D13"/>
    <a:srgbClr val="C76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843" autoAdjust="0"/>
    <p:restoredTop sz="93792" autoAdjust="0"/>
  </p:normalViewPr>
  <p:slideViewPr>
    <p:cSldViewPr snapToGrid="0">
      <p:cViewPr varScale="1">
        <p:scale>
          <a:sx n="64" d="100"/>
          <a:sy n="64" d="100"/>
        </p:scale>
        <p:origin x="32" y="3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885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ED5A-871E-4544-8630-E130C4C6C60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9" y="4473472"/>
            <a:ext cx="5607362" cy="366087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885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131-80DD-4B65-AB6A-E7BEF34656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3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08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18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0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94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9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47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0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3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95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49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F62F-DE3E-FFF0-37FB-CA679E48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2048D-FE24-36C7-23A5-EBF9374B8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BAEEE-A5EB-40CA-CA29-852D7C42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85DB-002B-4751-0424-68A1AC3C2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0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1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6C58-2B93-42E6-9CDE-9F837FD2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C6770-B59D-42DE-8D03-33D58929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CA293-93F0-45BC-AEED-C2C5CACB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02EBB-1C18-4B40-9E89-BB182029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C7F92-FCE0-4C48-9DF2-E3D0BCA1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B2EE1-8DA7-40DB-BA2A-E8DDD795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32485-33A6-4477-BC7D-3A41A400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453EC-9D11-420C-908E-46DF2A2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CCEBC-7624-4694-894A-3BCD6F2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E914-94B8-4E83-AA9E-2A9AC0E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9B43-2E43-4C05-9059-3E27F93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83005-9C20-4DB8-B2E5-A9486B39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309D7-9A89-444B-887C-88C7421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E2309-E996-4689-B1F7-0824EC51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3F54C-4F3F-4474-AAE9-4B507FE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2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B339-D80E-4259-8368-E6EFD0A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EC2EC6-7974-418B-8E94-2C518A4F0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D232C-B60A-4B2F-8B56-6747734A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E33A31-13D4-420A-B839-EFD089C9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1612D-A82E-47A2-8E5C-246A0EF6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A155A-9C12-4DB8-94A5-5C9661D5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9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A5D3-7BFE-4B37-BC15-D96C1E2B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78144-4E19-4BAB-8A10-ECBC1024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E319A-2E77-4649-88E0-0D58E193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EE07E-3A95-402D-8661-16201E63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F6699-B7FF-4D87-B714-C8250A62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EE464B-0630-417F-9426-6F410558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230FD-F75E-477F-B6BB-A67819A5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3E43BC-990E-47A6-BA74-74A25354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92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EE56-0FF1-4325-8F11-2786437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73E8B-CF14-449E-A330-FD4D55A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6F627-86B9-4779-8970-A1A3CB46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97DC80-FC4F-4153-9057-8BA499A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73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B130DF-15A9-43A4-A61D-6C64CCDD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D7A77A-394A-45FF-B2EA-21D925C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BB0A-ED7E-4EAD-88E5-61C84ED0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525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49D5-CA78-4C19-9EB4-10733F9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21E93-3261-4190-BBB2-63CFFB8F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3267E-E1FD-429E-812B-262712FA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308A0-6CCE-4FB6-A66A-8DED7B0B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B5B204-5199-4782-8ECF-05C4C88E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30D90-8BAD-466C-9302-791EC393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65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DA58-8A5F-4D02-9DF3-940B8113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B48E5E-FD10-4615-BCE6-8B9918FFA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B308F-814B-41E8-AC24-6DBC51133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76FD-A848-4D0E-8F32-EBA0875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D63E9E-AEB2-4506-85D8-EC9CFB6A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0EB25-68F2-42CC-82D9-8282F1A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27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D939-6827-460F-9BA9-D9EB24C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BD03BF-8A22-4428-A138-4FA085383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56E2E-05B1-4962-96F4-2CCBE5F2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B0A4B-301D-4744-860C-5B04C06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10D734-2B34-4F48-ADFF-28334883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5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0B3DBF-385A-45FB-BB2B-D0B84FCC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28EC30-4B1B-415C-9768-986A57C7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CE1D7-8E47-4FD0-97C8-BFECC9B4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684F-50C6-4F1D-AD98-71083DC9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C2AFA-2622-46D5-B58E-83EC2B68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3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8C10C-7047-4062-9ADD-90AB7D69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63B4F-A322-41B5-A16D-346326B6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0213B-12DA-4E71-82AD-59E1E5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CACA-0C01-43AF-89B6-7E7D04E651FD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C55FC-5C84-4652-A1B2-C47F38EF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626A3-7927-4E16-9E65-034576C9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3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11: </a:t>
            </a:r>
            <a:r>
              <a:rPr lang="en-US" sz="2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Unsupervised Learning: Clustering Analysis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n-US" sz="1800" b="1" dirty="0">
                <a:effectLst/>
                <a:latin typeface="CMU Sans Serif" panose="02000603000000000000"/>
                <a:ea typeface="Arial" panose="020B0604020202020204" pitchFamily="34" charset="0"/>
              </a:rPr>
              <a:t>UNIT III: Advanced Analytics and Machine Learning Models</a:t>
            </a:r>
            <a:endParaRPr lang="es-CL" sz="2000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2">
            <a:extLst>
              <a:ext uri="{FF2B5EF4-FFF2-40B4-BE49-F238E27FC236}">
                <a16:creationId xmlns:a16="http://schemas.microsoft.com/office/drawing/2014/main" id="{22C1A953-D66F-4865-978D-6FD9CB0A38DD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18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35634" y="288346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Unsupervised Learning - Foundations of Cluster Analysis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64C6C63E-518F-4654-B664-F3E3C1535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871" y="1312474"/>
                <a:ext cx="5005808" cy="47859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Transitioning from predictive models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with explicit target guidance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to the unsupervised partition of raw data matrices without historical training labels.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dirty="0"/>
                  <a:t> I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mplementing the Euclidean distance metric </a:t>
                </a:r>
                <a14:m>
                  <m:oMath xmlns:m="http://schemas.openxmlformats.org/officeDocument/2006/math">
                    <m:r>
                      <a:rPr kumimoji="0" lang="es-MX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kumimoji="0" lang="es-MX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to establish a standardized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measure of geometric proximity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between high-dimensional observations.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Minimizing internal distance variance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to transform a continuous feature space into discrete, homogeneous regions with defined boundaries.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Initializing the K-Means algorithm as the specific optimization engine that will locate stable cluster centers to maximize the compactness of each group.</a:t>
                </a:r>
              </a:p>
            </p:txBody>
          </p:sp>
        </mc:Choice>
        <mc:Fallback xmlns="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64C6C63E-518F-4654-B664-F3E3C1535C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871" y="1312474"/>
                <a:ext cx="5005808" cy="4785926"/>
              </a:xfrm>
              <a:prstGeom prst="rect">
                <a:avLst/>
              </a:prstGeom>
              <a:blipFill>
                <a:blip r:embed="rId4"/>
                <a:stretch>
                  <a:fillRect l="-1340" t="-1274" r="-974" b="-16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On the left, a graph of symptom severity vs. symptom count&#10;   displaying datapoints that suggest three clusters.&#10;   On the right, the same graph but with each of the three clusters colored.">
            <a:extLst>
              <a:ext uri="{FF2B5EF4-FFF2-40B4-BE49-F238E27FC236}">
                <a16:creationId xmlns:a16="http://schemas.microsoft.com/office/drawing/2014/main" id="{F1AAC6C1-4A6B-497C-9CBA-55E793D55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679" y="1833003"/>
            <a:ext cx="6531141" cy="371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0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/>
              <p:nvPr/>
            </p:nvSpPr>
            <p:spPr>
              <a:xfrm>
                <a:off x="135634" y="288346"/>
                <a:ext cx="119207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The Core Intuition of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3600" b="1" dirty="0"/>
                  <a:t>-Means – Clustering ML method</a:t>
                </a:r>
                <a:endParaRPr lang="en-US" sz="3600" b="1" dirty="0">
                  <a:latin typeface="CMU Sans Serif" panose="0200060300000000000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4" y="288346"/>
                <a:ext cx="11920732" cy="646331"/>
              </a:xfrm>
              <a:prstGeom prst="rect">
                <a:avLst/>
              </a:prstGeom>
              <a:blipFill>
                <a:blip r:embed="rId4"/>
                <a:stretch>
                  <a:fillRect l="-153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A26592-99E1-4D9A-B5A8-455E4D498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708" y="1506848"/>
            <a:ext cx="6089658" cy="47174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6A436BE1-75A8-4535-8268-A7CBBB40D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596" y="1397431"/>
                <a:ext cx="5652572" cy="4717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Objective-driven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partitioning that seeks to split a dataset into </a:t>
                </a:r>
                <a14:m>
                  <m:oMath xmlns:m="http://schemas.openxmlformats.org/officeDocument/2006/math">
                    <m:r>
                      <a:rPr kumimoji="0" lang="es-MX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distinct clusters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ensuring that observations mapped to the same subset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0" lang="es-MX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 </m:t>
                    </m:r>
                    <m:r>
                      <a:rPr kumimoji="0" lang="es-MX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0" lang="es-MX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share maximum behavioral similarity.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Relying on the concept of centroids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which act as the mathematical gravity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centers or mean vectors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that represent the coordinates of all elements assigned to that specific group.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0" lang="es-MX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</a:rPr>
                  <a:t>Minimizing the intra-cluster variance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by finding stable positions for these centers, creating a geometric state where no individual observation can switch groups without increasing the global error.</a:t>
                </a:r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6A436BE1-75A8-4535-8268-A7CBBB40D1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596" y="1397431"/>
                <a:ext cx="5652572" cy="4717445"/>
              </a:xfrm>
              <a:prstGeom prst="rect">
                <a:avLst/>
              </a:prstGeom>
              <a:blipFill>
                <a:blip r:embed="rId6"/>
                <a:stretch>
                  <a:fillRect l="-862" t="-1292" r="-862" b="-16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30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/>
              <p:nvPr/>
            </p:nvSpPr>
            <p:spPr>
              <a:xfrm>
                <a:off x="135634" y="288346"/>
                <a:ext cx="119207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The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3600" b="1" dirty="0"/>
                  <a:t>-Means Iterative Optimization</a:t>
                </a:r>
                <a:endParaRPr lang="en-US" sz="3600" b="1" dirty="0">
                  <a:latin typeface="CMU Sans Serif" panose="0200060300000000000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4" y="288346"/>
                <a:ext cx="11920732" cy="646331"/>
              </a:xfrm>
              <a:prstGeom prst="rect">
                <a:avLst/>
              </a:prstGeom>
              <a:blipFill>
                <a:blip r:embed="rId4"/>
                <a:stretch>
                  <a:fillRect l="-153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6441F7B4-597F-44B3-9C27-67AF17E58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09" y="1165565"/>
                <a:ext cx="11346973" cy="52019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input dataset is a matrix </a:t>
                </a:r>
                <a14:m>
                  <m:oMath xmlns:m="http://schemas.openxmlformats.org/officeDocument/2006/math">
                    <m:r>
                      <a:rPr kumimoji="0" lang="en-US" altLang="en-US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 containing </a:t>
                </a:r>
                <a14:m>
                  <m:oMath xmlns:m="http://schemas.openxmlformats.org/officeDocument/2006/math">
                    <m:r>
                      <a:rPr kumimoji="0" lang="en-US" altLang="en-US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𝒏</m:t>
                    </m:r>
                    <m:r>
                      <a:rPr kumimoji="0" lang="en-US" altLang="en-US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observations and </a:t>
                </a:r>
                <a14:m>
                  <m:oMath xmlns:m="http://schemas.openxmlformats.org/officeDocument/2006/math">
                    <m:r>
                      <a:rPr kumimoji="0" lang="en-US" altLang="en-US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 features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where each individual observation:</a:t>
                </a:r>
                <a14:m>
                  <m:oMath xmlns:m="http://schemas.openxmlformats.org/officeDocument/2006/math">
                    <m:r>
                      <a:rPr kumimoji="0" lang="es-MX" altLang="en-US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0" lang="es-MX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altLang="en-US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en-US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0" lang="en-US" altLang="en-US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altLang="en-US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en-US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0" lang="en-US" altLang="en-US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s-MX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altLang="en-US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en-US" b="0" i="1" u="none" strike="noStrike" cap="none" normalizeH="0" baseline="0" dirty="0" err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𝑖𝑝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kumimoji="0" lang="es-MX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is a vector in the </a:t>
                </a:r>
                <a14:m>
                  <m:oMath xmlns:m="http://schemas.openxmlformats.org/officeDocument/2006/math">
                    <m:r>
                      <a:rPr kumimoji="0" lang="en-US" altLang="en-US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-dimensional real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0" lang="es-MX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objective is to split these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observations into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disjoint subsets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representing the clusters, based on their spatial proximity.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optimization handles the minimization of the objective function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(Inertia), which sums the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squared Euclidean distances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between each data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and the centroid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of its assigned cluster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alt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s-MX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s-MX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MX" alt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MX" alt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s-MX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alt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MX" alt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s-MX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s-MX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alt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alt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alt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alt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MX" alt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alt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s-MX" alt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MX" alt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dirty="0"/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mathematical partition enforces that every observation belongs exclusively to one group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=∅, </m:t>
                    </m:r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 meaning assignments are discrete and non-probabilistic.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process triggers by setting the initial state of the cluster centers (randomly)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begChr m:val="{"/>
                            <m:endChr m:val="}"/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kumimoji="0" lang="en-US" altLang="en-US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en-US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sup>
                    </m:sSubSup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,…, </m:t>
                    </m:r>
                    <m:sSubSup>
                      <m:sSubSup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begChr m:val="{"/>
                            <m:endChr m:val="}"/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kumimoji="0" lang="en-US" altLang="en-US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en-US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sup>
                    </m:sSubSup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using coordinates from the dataset, which establishes the first geometric boundaries.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6441F7B4-597F-44B3-9C27-67AF17E58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509" y="1165565"/>
                <a:ext cx="11346973" cy="5201937"/>
              </a:xfrm>
              <a:prstGeom prst="rect">
                <a:avLst/>
              </a:prstGeom>
              <a:blipFill>
                <a:blip r:embed="rId5"/>
                <a:stretch>
                  <a:fillRect l="-430" t="-1288" r="-430" b="-15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298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35634" y="288346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Iterative Assignment and Update Cycle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865B3B55-026C-4EDC-9664-5A719501F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026" y="1399502"/>
                <a:ext cx="11439940" cy="46985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Assignment step (</a:t>
                </a:r>
                <a:r>
                  <a:rPr kumimoji="0" lang="en-US" altLang="en-US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often called he Expectation or E-step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 keeps the centroids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fixed while each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s-MX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 joins the group of its nearest center,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minimizing the squared Euclidean distance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: </a:t>
                </a:r>
                <a:endParaRPr lang="en-US" altLang="en-US" dirty="0"/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s-MX" altLang="en-US" sz="1800" b="0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en-US" sz="1800" b="0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kumimoji="0" lang="en-US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s-MX" altLang="en-US" sz="18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s-MX" altLang="en-US" sz="18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s-MX" altLang="en-US" sz="18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s-MX" altLang="en-US" sz="18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s-MX" altLang="en-US" sz="18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kumimoji="0" lang="es-MX" altLang="en-US" sz="18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kumimoji="0" lang="es-MX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Update step (</a:t>
                </a:r>
                <a:r>
                  <a:rPr kumimoji="0" lang="en-US" altLang="en-US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often called the Maximization or M-step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 keeps the cluster assignments fixed while every centroid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migrates to the arithmetic mean (geometric center of mass) of its current members:</a:t>
                </a:r>
                <a:endParaRPr lang="en-US" altLang="en-US" dirty="0"/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0" lang="es-MX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en-US" dirty="0"/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TERMINATION CRITERION: 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algorithm cycles through these two steps recursively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until reaching a state of stability where no observations change cluster membership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indicating that the system has converged to a local optimum.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Practical termination also occurs if the process reaches a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maximum number of iterations or if the physical displacement of the centroids between steps becomes smaller than a set tolerance threshold 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kumimoji="0" lang="en-US" altLang="en-US" sz="1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865B3B55-026C-4EDC-9664-5A719501FC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026" y="1399502"/>
                <a:ext cx="11439940" cy="4698594"/>
              </a:xfrm>
              <a:prstGeom prst="rect">
                <a:avLst/>
              </a:prstGeom>
              <a:blipFill>
                <a:blip r:embed="rId4"/>
                <a:stretch>
                  <a:fillRect l="-586" t="-1299" r="-480" b="-18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151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/>
              <p:nvPr/>
            </p:nvSpPr>
            <p:spPr>
              <a:xfrm>
                <a:off x="135634" y="288346"/>
                <a:ext cx="119207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3600" b="1" dirty="0"/>
                  <a:t>-means. Initialization Sensitivity</a:t>
                </a:r>
                <a:endParaRPr lang="en-US" sz="3600" b="1" dirty="0">
                  <a:latin typeface="CMU Sans Serif" panose="0200060300000000000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4" y="288346"/>
                <a:ext cx="11920732" cy="646331"/>
              </a:xfrm>
              <a:prstGeom prst="rect">
                <a:avLst/>
              </a:prstGeom>
              <a:blipFill>
                <a:blip r:embed="rId4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228843A-417B-484C-AE05-CCB1D1EC7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99" y="1991864"/>
            <a:ext cx="549306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Simultaneous optimization of discrete assignments and centroid coordinates results in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non-convex error surface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multiple local minima.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Random seeding limits the iterative trajectory to a local search space, often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missing the global optimal partition.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Poorly placed initial centers cause high-density groups to be artificially split or merged.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avoid these poor initial configurations, the algorithm can either be initialized strategically via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K-Means++  (heuristic)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 run multiple independent times.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123" name="Picture 3" descr="alt text">
            <a:extLst>
              <a:ext uri="{FF2B5EF4-FFF2-40B4-BE49-F238E27FC236}">
                <a16:creationId xmlns:a16="http://schemas.microsoft.com/office/drawing/2014/main" id="{7E36620C-1054-4F95-952B-C229857A2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417" y="1550504"/>
            <a:ext cx="6082950" cy="413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84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/>
              <p:nvPr/>
            </p:nvSpPr>
            <p:spPr>
              <a:xfrm>
                <a:off x="135634" y="288346"/>
                <a:ext cx="119207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Optimal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b="1" dirty="0"/>
                  <a:t>Selection: The Elbow Method</a:t>
                </a:r>
                <a:endParaRPr lang="en-US" sz="3600" b="1" dirty="0">
                  <a:latin typeface="CMU Sans Serif" panose="0200060300000000000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1616B852-63A6-4684-9357-AC52515CB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4" y="288346"/>
                <a:ext cx="11920732" cy="646331"/>
              </a:xfrm>
              <a:prstGeom prst="rect">
                <a:avLst/>
              </a:prstGeom>
              <a:blipFill>
                <a:blip r:embed="rId4"/>
                <a:stretch>
                  <a:fillRect l="-153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16D625-8A8C-4AEF-891E-B476030D6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252" y="1044466"/>
            <a:ext cx="5464658" cy="275228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8EA0CB8-4377-41C8-9098-2066D90A5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254" y="3904489"/>
            <a:ext cx="4300653" cy="26831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0F29D7B0-848E-4795-AD80-17C516D56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090" y="1486512"/>
                <a:ext cx="6099314" cy="44781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total Inertia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𝐽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is a monotonically non-increasing function of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that naturally scales down toward zero as the number of clusters approaches the total number of observations (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optimal number of clusters is identified at the "elbow" point, which represents the maximum curvature where the second-order difference in the objective function is maximized.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This selection criteria formalizes the marginal reduction in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l-GR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kumimoji="0" lang="el-GR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s-MX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capturing the precise point of diminishing returns.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Beyond this geometric threshold, any additional cluster increases model complexity and risks over-fitting without providing a significant gain in explained variance.</a:t>
                </a:r>
              </a:p>
            </p:txBody>
          </p:sp>
        </mc:Choice>
        <mc:Fallback xmlns=""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0F29D7B0-848E-4795-AD80-17C516D562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090" y="1486512"/>
                <a:ext cx="6099314" cy="4478149"/>
              </a:xfrm>
              <a:prstGeom prst="rect">
                <a:avLst/>
              </a:prstGeom>
              <a:blipFill>
                <a:blip r:embed="rId7"/>
                <a:stretch>
                  <a:fillRect l="-900" t="-1362" r="-800" b="-17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48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35634" y="288346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Validation via Silhouette Analysis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AD24F62A-6E60-4004-82F5-93224119E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618" y="1173576"/>
                <a:ext cx="11797748" cy="4510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Silhouette Coefficient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evaluates how well-defined each cluster is by measuring the trade-off between inner compactness and outer separation.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Intra-cluster distance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0" lang="en-US" altLang="en-US" sz="180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average distance between the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and all other points in its same cluster. It quantifies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cohesion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(lower means - tighter clusters).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Nearest-cluster distance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0" lang="en-US" altLang="en-US" sz="180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average distance between the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and all points in the closest neighboring cluster. It quantifies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separation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(higher means more isolated clusters).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individual silhouette score normalizes these components to evaluate the quality of the assignment: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MX" alt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en-US" dirty="0"/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metric ranges from -1 to 1, where values near 1 indicate highly distinct segments, 0 indicates overlapping boundaries, and negative values reveal misallocated points.</a:t>
                </a:r>
              </a:p>
            </p:txBody>
          </p:sp>
        </mc:Choice>
        <mc:Fallback xmlns=""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AD24F62A-6E60-4004-82F5-93224119E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618" y="1173576"/>
                <a:ext cx="11797748" cy="4510850"/>
              </a:xfrm>
              <a:prstGeom prst="rect">
                <a:avLst/>
              </a:prstGeom>
              <a:blipFill>
                <a:blip r:embed="rId4"/>
                <a:stretch>
                  <a:fillRect l="-413" t="-1353" r="-413" b="-17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54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35634" y="288346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Critical Pre-processing: Data Scaling -  Z score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6A0ADB4A-7E41-47CD-868D-1D78D6AC2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709" y="1468106"/>
                <a:ext cx="6594414" cy="46755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Because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-Means relies strictly on the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Euclidean distance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features with larger numerical ranges will mathematically dominate the distance calculations.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Without proper normalization,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variables with high variance artificially dictate cluster boundaries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rendering lower-scale variables geometrically irrelevant.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Standardizing the features (Z-score scaling) transforms the dataset so that each variable has a mean of 0 and a variance of 1: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es-MX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kumimoji="0" lang="es-MX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s-MX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0" lang="es-MX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s-MX" altLang="en-US" dirty="0"/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Feature scaling ensures an isotropic feature space where all dimensions contribute equitably to the calculation of centroids and cluster updates.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6A0ADB4A-7E41-47CD-868D-1D78D6AC2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709" y="1468106"/>
                <a:ext cx="6594414" cy="4675575"/>
              </a:xfrm>
              <a:prstGeom prst="rect">
                <a:avLst/>
              </a:prstGeom>
              <a:blipFill>
                <a:blip r:embed="rId4"/>
                <a:stretch>
                  <a:fillRect l="-832" t="-1173" r="-739" b="-15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DC8BD86E-AAB1-42B3-A38D-79ACBBEC3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1851" y="1024128"/>
            <a:ext cx="3264177" cy="28523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CC19A75-9E99-4499-8A0F-A19B3B97B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243" y="3965921"/>
            <a:ext cx="3164785" cy="260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8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35634" y="288346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Algorithm Limitations and Geometric Assumptions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C5DC5B1-D4E6-46D9-8506-7CA57C2DF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188" y="1242108"/>
                <a:ext cx="5476466" cy="5032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arithmetic mean update mechanism makes the algorithm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highly sensitive to outliers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which pull centroids away from the high-density core of the clusters.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K-Means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implicitly assumes clusters are spherical and have a uniform spread in all directions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; it fails to capture complex geometries like moons, rings, or elongated shapes. 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algorithm struggles to correctly partition groups with significantly different densities or imbalanced membership sizes, often causing artificial splits in larger clusters. 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Defining </a:t>
                </a:r>
                <a14:m>
                  <m:oMath xmlns:m="http://schemas.openxmlformats.org/officeDocument/2006/math"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upfront remains a fundamental constraint, as the model lacks an internal mechanism to automatically discover the natural number of groups.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C5DC5B1-D4E6-46D9-8506-7CA57C2DF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188" y="1242108"/>
                <a:ext cx="5476466" cy="5032147"/>
              </a:xfrm>
              <a:prstGeom prst="rect">
                <a:avLst/>
              </a:prstGeom>
              <a:blipFill>
                <a:blip r:embed="rId4"/>
                <a:stretch>
                  <a:fillRect l="-890" t="-1091" r="-890" b="-14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>
            <a:extLst>
              <a:ext uri="{FF2B5EF4-FFF2-40B4-BE49-F238E27FC236}">
                <a16:creationId xmlns:a16="http://schemas.microsoft.com/office/drawing/2014/main" id="{C9A73131-2E39-4FB9-84CD-0A9CE086A9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201" y="1845882"/>
            <a:ext cx="6132165" cy="342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8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35634" y="288346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K-Means Inference and Prediction Architecture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E9CC78F3-5B7F-4110-87D1-6A64F930B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478" y="1504914"/>
                <a:ext cx="11400183" cy="42324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New observations must be standardized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using the exact parameters (mean </a:t>
                </a:r>
                <a14:m>
                  <m:oMath xmlns:m="http://schemas.openxmlformats.org/officeDocument/2006/math"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and standard deviation </a:t>
                </a:r>
                <a14:m>
                  <m:oMath xmlns:m="http://schemas.openxmlformats.org/officeDocument/2006/math">
                    <m:r>
                      <a:rPr kumimoji="0" lang="es-MX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) derived from the training dataset to ensure spatial consistency.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The model evaluates the newly normalized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e>
                        </m:d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against the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frozen final coordinates of the </a:t>
                </a:r>
                <a14:m>
                  <m:oMath xmlns:m="http://schemas.openxmlformats.org/officeDocument/2006/math">
                    <m:r>
                      <a:rPr kumimoji="0" lang="es-MX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centroids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using: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MX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</m:sub>
                          </m:sSub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kumimoji="0" lang="es-MX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</m:sub>
                          </m:sSub>
                          <m:r>
                            <a:rPr kumimoji="0" lang="es-MX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s-MX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s-MX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Classification is executed as a deterministic </a:t>
                </a:r>
                <a:r>
                  <a:rPr kumimoji="0" lang="en-US" altLang="en-US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argmin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operation, mapping the new observation to the single closest cluster index: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s-MX" altLang="en-US" sz="1800" b="0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kumimoji="0" lang="es-MX" altLang="en-US" sz="1800" b="0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s-MX" altLang="en-US" sz="1800" b="0" i="0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s-MX" altLang="en-US" sz="1800" b="0" i="0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new</m:t>
                                  </m:r>
                                </m:sub>
                              </m:sSub>
                              <m:r>
                                <a:rPr kumimoji="0" lang="es-MX" altLang="en-US" sz="1800" b="0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kumimoji="0" lang="es-MX" altLang="en-US" sz="1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s-MX" altLang="en-US" sz="1800" b="0" i="0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arg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altLang="en-US" sz="1800" b="0" i="0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s-MX" altLang="en-US" sz="1800" b="0" i="0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lim/>
                          </m:limLow>
                        </m:fName>
                        <m:e>
                          <m:sSup>
                            <m:sSupPr>
                              <m:ctrlP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MX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MX" altLang="en-US" i="1">
                                          <a:latin typeface="Cambria Math" panose="02040503050406030204" pitchFamily="18" charset="0"/>
                                        </a:rPr>
                                        <m:t>𝑛𝑒𝑤</m:t>
                                      </m:r>
                                    </m:sub>
                                  </m:sSub>
                                  <m:r>
                                    <a:rPr lang="es-MX" alt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alt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s-MX" alt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MX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MX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Fast vector-distance calculation enables real-time inference, allowing live data pipelines to instantly flag operational risk or assign customer personas during live sessions.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E9CC78F3-5B7F-4110-87D1-6A64F930B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78" y="1504914"/>
                <a:ext cx="11400183" cy="4232441"/>
              </a:xfrm>
              <a:prstGeom prst="rect">
                <a:avLst/>
              </a:prstGeom>
              <a:blipFill>
                <a:blip r:embed="rId4"/>
                <a:stretch>
                  <a:fillRect l="-481" t="-1441" r="-428" b="-18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453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2AAC-87BE-8953-1D3D-628E9208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662E756-C86F-CE66-21E3-1F6123EE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2674E1-590E-AEF8-CF47-A192CAE6AC5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4BE6E-4083-5F8B-4372-F75DF0C3ED7A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Practical Section</a:t>
            </a:r>
          </a:p>
        </p:txBody>
      </p:sp>
      <p:pic>
        <p:nvPicPr>
          <p:cNvPr id="6146" name="Picture 2" descr="Python logo, icon. Programming language 44600750 Vector Art at Vecteezy">
            <a:extLst>
              <a:ext uri="{FF2B5EF4-FFF2-40B4-BE49-F238E27FC236}">
                <a16:creationId xmlns:a16="http://schemas.microsoft.com/office/drawing/2014/main" id="{997D3BEC-92EB-81C8-CD18-6ACD9F9CB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736750"/>
            <a:ext cx="4753238" cy="140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652A2A-F914-890D-329C-11AC45BFA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031739"/>
              </p:ext>
            </p:extLst>
          </p:nvPr>
        </p:nvGraphicFramePr>
        <p:xfrm>
          <a:off x="2209800" y="3712609"/>
          <a:ext cx="8509000" cy="1619250"/>
        </p:xfrm>
        <a:graphic>
          <a:graphicData uri="http://schemas.openxmlformats.org/drawingml/2006/table">
            <a:tbl>
              <a:tblPr/>
              <a:tblGrid>
                <a:gridCol w="8509000">
                  <a:extLst>
                    <a:ext uri="{9D8B030D-6E8A-4147-A177-3AD203B41FA5}">
                      <a16:colId xmlns:a16="http://schemas.microsoft.com/office/drawing/2014/main" val="2981097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Google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Colab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— RFM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Clustering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74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K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means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ML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algorithm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895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Cluster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generation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+ Business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impact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88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Evaluation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metrics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and final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centroids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Visualization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–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Elbow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method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50724"/>
                  </a:ext>
                </a:extLst>
              </a:tr>
            </a:tbl>
          </a:graphicData>
        </a:graphic>
      </p:graphicFrame>
      <p:sp>
        <p:nvSpPr>
          <p:cNvPr id="5" name="CuadroTexto 12">
            <a:extLst>
              <a:ext uri="{FF2B5EF4-FFF2-40B4-BE49-F238E27FC236}">
                <a16:creationId xmlns:a16="http://schemas.microsoft.com/office/drawing/2014/main" id="{BDBB5863-274C-24CA-8D66-BA51A8842EBF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37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11: </a:t>
            </a:r>
            <a:r>
              <a:rPr lang="en-US" sz="2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Unsupervised Learning: Clustering Analysis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n-US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UNIT III: Advanced Analytics and Machine Learning Models</a:t>
            </a:r>
            <a:endParaRPr lang="es-CL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11">
            <a:extLst>
              <a:ext uri="{FF2B5EF4-FFF2-40B4-BE49-F238E27FC236}">
                <a16:creationId xmlns:a16="http://schemas.microsoft.com/office/drawing/2014/main" id="{1F22FC98-2281-4FCB-AC4F-14BB6AADE9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11" name="CuadroTexto 12">
            <a:extLst>
              <a:ext uri="{FF2B5EF4-FFF2-40B4-BE49-F238E27FC236}">
                <a16:creationId xmlns:a16="http://schemas.microsoft.com/office/drawing/2014/main" id="{9B1F4251-9D71-4EFC-85DE-40B136DAB136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11: Machine Learning - Clustering Analysis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4288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54461</TotalTime>
  <Words>3347</Words>
  <Application>Microsoft Office PowerPoint</Application>
  <PresentationFormat>Panorámica</PresentationFormat>
  <Paragraphs>258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CMU Sans Serif</vt:lpstr>
      <vt:lpstr>Helvetica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Alfredo Munoz Herrera</dc:creator>
  <cp:lastModifiedBy>Héctor Alonso Hormazábal Vildósola</cp:lastModifiedBy>
  <cp:revision>343</cp:revision>
  <cp:lastPrinted>2025-06-20T00:00:54Z</cp:lastPrinted>
  <dcterms:created xsi:type="dcterms:W3CDTF">2020-06-17T02:23:22Z</dcterms:created>
  <dcterms:modified xsi:type="dcterms:W3CDTF">2026-05-27T08:39:26Z</dcterms:modified>
</cp:coreProperties>
</file>
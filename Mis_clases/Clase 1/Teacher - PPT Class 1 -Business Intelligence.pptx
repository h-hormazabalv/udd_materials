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7" r:id="rId2"/>
    <p:sldId id="386" r:id="rId3"/>
    <p:sldId id="388" r:id="rId4"/>
    <p:sldId id="394" r:id="rId5"/>
    <p:sldId id="387" r:id="rId6"/>
    <p:sldId id="389" r:id="rId7"/>
    <p:sldId id="391" r:id="rId8"/>
    <p:sldId id="390" r:id="rId9"/>
    <p:sldId id="392" r:id="rId10"/>
    <p:sldId id="393" r:id="rId11"/>
    <p:sldId id="395" r:id="rId12"/>
    <p:sldId id="396" r:id="rId13"/>
    <p:sldId id="398" r:id="rId14"/>
    <p:sldId id="397" r:id="rId15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29" autoAdjust="0"/>
    <p:restoredTop sz="70588" autoAdjust="0"/>
  </p:normalViewPr>
  <p:slideViewPr>
    <p:cSldViewPr snapToGrid="0">
      <p:cViewPr varScale="1">
        <p:scale>
          <a:sx n="79" d="100"/>
          <a:sy n="79" d="100"/>
        </p:scale>
        <p:origin x="1128" y="19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Sebastián Muñoz-Herrera,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dive in,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picture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sets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healthcare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retail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raw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superpower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explore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look at real-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Chile,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finish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hands-on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mental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I'd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love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introduction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share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Industrial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time. </a:t>
            </a:r>
          </a:p>
          <a:p>
            <a:endParaRPr lang="es-C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Sebastián Muñoz Herrera, I am Industrial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profession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Master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Degree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Industrial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PhD in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soccer and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articles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wants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BBDE-1945-5595-F8EB-3A5E802B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4CB94-C6B5-C4A5-BF5D-B2F4A6607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2A7B3-65B2-65E0-CACC-0C1DBDFA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grade has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exercises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semester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doable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material,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midterm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grade 70%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total grade.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midterms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honest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midterms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stakes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4DA4B-B0F6-7198-0A39-678471D92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67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8726-CE60-3225-8F6C-A629EBC7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09BA1-F4DE-4215-B262-2A55018AF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5E7CB-A509-E7B9-E047-A2081628B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substance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ideas.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data-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 DSS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combines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gathering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unpack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"Data-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doesn't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decide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"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raw data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well-organized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kitchen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Raw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kitchen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knives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blenders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drives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pantry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full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dinner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717DF-74F3-1342-11F0-8D5D97BF2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25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8567-3185-A964-B2C7-364FE6D1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65E05-8033-C27E-344D-36CFA600B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C2F35-F994-3C41-809D-8E9300E0A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show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companies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Chile —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classrooom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Starken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ENAP. 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ENAP uses BI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Starken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disruptions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fuel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spikes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happening at once. No human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real-time GPS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15%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fuel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real-time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rerouting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Store managers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instinct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massive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overstock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shelves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Retail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Link,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supplier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store,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center in real time.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A 20%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surpassed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Sears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Chile's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retailer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ENAP,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Chile's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national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Refining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involves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simultaneous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chemical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extreme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pressures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temperatures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anomalies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throughput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5–8%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yield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30%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unplanned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shutdowns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industries,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s-CL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0F712-954F-CEA2-A01E-0FBB4033C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19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F6E9-F3E0-846C-5BB6-6E70D2BE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46700-9586-EBB5-6558-F42A3B0FB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33B60-E2BC-A77B-EE08-1FBBF9178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didn't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appear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decades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innovation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appreciate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looks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1950s and 60s,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record-keeping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1970s and 80s,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emerged — software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managers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1990s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brought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OLAP (Online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Processing)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store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2000s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brought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self-service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Tableau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2020s,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augmented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9BFAE-A0C9-C634-CDF2-95D9BF499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06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36DE-0BF5-B4A3-F7B0-023FCD95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A472B-EC07-D138-6201-4B57D9A18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248AA-8856-B153-BFB5-7A284AFD7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classic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describes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subject-oriented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time-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non-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volatile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break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Subject-oriented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sales,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preserved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non-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volatile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long-term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running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website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tracking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short-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guesswork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extra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93C80-B35D-A83E-ADD3-204C441D9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3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7CEF-1ED7-DBDA-FF8B-C6D1A05A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22313-15BC-0B16-F9FF-7A5280E19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69214-EAD5-3B21-AD34-73D5B3519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06E59-D5B3-1667-32C4-5C8B255A2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05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379D-DA46-9E0F-7143-A29287C99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58041-41E8-E951-5645-A08D40537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79E1F-C180-F9BB-7E27-C29D6E23F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can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sales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website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descriptive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future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and III.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Prescriptive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do?"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navigation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doesn't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prescriptive.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progress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descriptive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prescriptive.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and more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valuable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A3BCD-4766-CE7F-7F84-24B1F9C5B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51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F9E9-D202-1D0C-91D8-C7B8DA08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677EA-BC81-58B4-6339-918ADB0B3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847C6-B965-C5BE-FEA8-E32E3CC7B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doesn't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appear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journey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sale, a sensor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comes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usable.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visualization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charts,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repeats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Modern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organizations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24/7,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real-time.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crucial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BI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back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step in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Garbage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garbage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B7473-D673-60C2-C924-4B20D642F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67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0188-601C-392F-430F-E97B8935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AABFC-AABA-A926-7DBF-81053D9E5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639C0-CC58-508F-297D-887BCCCB8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01324-9A8B-BED2-1CAF-D4DFABB95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91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E380-1C9F-7D52-7520-AE0C9DBD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EEF9D-7055-6308-3B12-7F42AB922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BE7CE-5A11-2BD8-207F-FAAF0F760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BB774-4EF6-3196-EB0D-75C4FB945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0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F62F-DE3E-FFF0-37FB-CA679E48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2048D-FE24-36C7-23A5-EBF9374B8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AEEE-A5EB-40CA-CA29-852D7C42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85DB-002B-4751-0424-68A1AC3C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0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3BD7-16B1-0929-7489-2862B9E7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2C19F-B3E5-B05F-19A9-D5791A52E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63A74-9C7B-0300-E4EB-121B98301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5935C-2EFF-621B-6180-A9FA8CA67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01-03-26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4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microsoft.com/office/2007/relationships/hdphoto" Target="../media/hdphoto3.wdp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1: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to</a:t>
            </a:r>
            <a:r>
              <a:rPr lang="es-CL" sz="2800" b="1" dirty="0">
                <a:latin typeface="CMU Sans Serif" panose="02000603000000000000"/>
              </a:rPr>
              <a:t> Business </a:t>
            </a:r>
            <a:r>
              <a:rPr lang="es-CL" sz="2800" b="1" dirty="0" err="1">
                <a:latin typeface="CMU Sans Serif" panose="02000603000000000000"/>
              </a:rPr>
              <a:t>Intelligence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Fundamentals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D25D4-0293-A64A-531D-E193A853FA0D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Schedule</a:t>
            </a:r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178DAA-D745-4CB4-6050-1E5C10876B6C}"/>
              </a:ext>
            </a:extLst>
          </p:cNvPr>
          <p:cNvSpPr txBox="1"/>
          <p:nvPr/>
        </p:nvSpPr>
        <p:spPr>
          <a:xfrm>
            <a:off x="808264" y="1620679"/>
            <a:ext cx="1091104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effectLst/>
                <a:latin typeface="Helvetica" pitchFamily="2" charset="0"/>
                <a:ea typeface="Arial" panose="020B0604020202020204" pitchFamily="34" charset="0"/>
              </a:rPr>
              <a:t>UNIT I: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Fundamentals </a:t>
            </a:r>
            <a:r>
              <a:rPr lang="es-CL" sz="2400" dirty="0" err="1">
                <a:effectLst/>
                <a:latin typeface="Helvetica" pitchFamily="2" charset="0"/>
                <a:ea typeface="Arial" panose="020B0604020202020204" pitchFamily="34" charset="0"/>
              </a:rPr>
              <a:t>of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Business </a:t>
            </a:r>
            <a:r>
              <a:rPr lang="es-CL" sz="2400" dirty="0" err="1">
                <a:effectLst/>
                <a:latin typeface="Helvetica" pitchFamily="2" charset="0"/>
                <a:ea typeface="Arial" panose="020B0604020202020204" pitchFamily="34" charset="0"/>
              </a:rPr>
              <a:t>Intelligence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(</a:t>
            </a:r>
            <a:r>
              <a:rPr lang="es-CL" sz="2400" dirty="0" err="1">
                <a:effectLst/>
                <a:latin typeface="Helvetica" pitchFamily="2" charset="0"/>
                <a:ea typeface="Arial" panose="020B0604020202020204" pitchFamily="34" charset="0"/>
              </a:rPr>
              <a:t>Classes</a:t>
            </a:r>
            <a:r>
              <a:rPr lang="es-CL" sz="2400" dirty="0">
                <a:effectLst/>
                <a:latin typeface="Helvetica" pitchFamily="2" charset="0"/>
                <a:ea typeface="Arial" panose="020B0604020202020204" pitchFamily="34" charset="0"/>
              </a:rPr>
              <a:t> 1–3)</a:t>
            </a:r>
          </a:p>
          <a:p>
            <a:endParaRPr lang="es-CL" sz="24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latin typeface="Helvetica" pitchFamily="2" charset="0"/>
              </a:rPr>
              <a:t>UNIT II: </a:t>
            </a:r>
            <a:r>
              <a:rPr lang="es-CL" sz="2400" dirty="0">
                <a:latin typeface="Helvetica" pitchFamily="2" charset="0"/>
              </a:rPr>
              <a:t>Data </a:t>
            </a:r>
            <a:r>
              <a:rPr lang="es-CL" sz="2400" dirty="0" err="1">
                <a:latin typeface="Helvetica" pitchFamily="2" charset="0"/>
              </a:rPr>
              <a:t>Preparation</a:t>
            </a:r>
            <a:r>
              <a:rPr lang="es-CL" sz="2400" dirty="0">
                <a:latin typeface="Helvetica" pitchFamily="2" charset="0"/>
              </a:rPr>
              <a:t> and Predictive </a:t>
            </a:r>
            <a:r>
              <a:rPr lang="es-CL" sz="2400" dirty="0" err="1">
                <a:latin typeface="Helvetica" pitchFamily="2" charset="0"/>
              </a:rPr>
              <a:t>Models</a:t>
            </a:r>
            <a:r>
              <a:rPr lang="es-CL" sz="2400" dirty="0">
                <a:latin typeface="Helvetica" pitchFamily="2" charset="0"/>
              </a:rPr>
              <a:t> (</a:t>
            </a:r>
            <a:r>
              <a:rPr lang="es-CL" sz="2400" dirty="0" err="1">
                <a:latin typeface="Helvetica" pitchFamily="2" charset="0"/>
              </a:rPr>
              <a:t>Classes</a:t>
            </a:r>
            <a:r>
              <a:rPr lang="es-CL" sz="2400" dirty="0">
                <a:latin typeface="Helvetica" pitchFamily="2" charset="0"/>
              </a:rPr>
              <a:t> 4–7)</a:t>
            </a:r>
          </a:p>
          <a:p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latin typeface="Helvetica" pitchFamily="2" charset="0"/>
              </a:rPr>
              <a:t>UNIT III: </a:t>
            </a:r>
            <a:r>
              <a:rPr lang="es-CL" sz="2400" dirty="0" err="1">
                <a:latin typeface="Helvetica" pitchFamily="2" charset="0"/>
              </a:rPr>
              <a:t>Advanced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Analytics</a:t>
            </a:r>
            <a:r>
              <a:rPr lang="es-CL" sz="2400" dirty="0">
                <a:latin typeface="Helvetica" pitchFamily="2" charset="0"/>
              </a:rPr>
              <a:t> and Machine </a:t>
            </a:r>
            <a:r>
              <a:rPr lang="es-CL" sz="2400" dirty="0" err="1">
                <a:latin typeface="Helvetica" pitchFamily="2" charset="0"/>
              </a:rPr>
              <a:t>Learning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Models</a:t>
            </a:r>
            <a:r>
              <a:rPr lang="es-CL" sz="2400" dirty="0">
                <a:latin typeface="Helvetica" pitchFamily="2" charset="0"/>
              </a:rPr>
              <a:t> (</a:t>
            </a:r>
            <a:r>
              <a:rPr lang="es-CL" sz="2400" dirty="0" err="1">
                <a:latin typeface="Helvetica" pitchFamily="2" charset="0"/>
              </a:rPr>
              <a:t>Classes</a:t>
            </a:r>
            <a:r>
              <a:rPr lang="es-CL" sz="2400" dirty="0">
                <a:latin typeface="Helvetica" pitchFamily="2" charset="0"/>
              </a:rPr>
              <a:t> 8–12)</a:t>
            </a:r>
          </a:p>
          <a:p>
            <a:r>
              <a:rPr lang="es-CL" sz="4000" dirty="0">
                <a:latin typeface="Helvetica" pitchFamily="2" charset="0"/>
              </a:rPr>
              <a:t> </a:t>
            </a: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endParaRPr lang="es-CL" sz="2400" dirty="0">
              <a:latin typeface="Helvetica" pitchFamily="2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CL" sz="2400" b="1" dirty="0">
                <a:latin typeface="Helvetica" pitchFamily="2" charset="0"/>
              </a:rPr>
              <a:t>UNIT IV: </a:t>
            </a:r>
            <a:r>
              <a:rPr lang="es-CL" sz="2400" dirty="0" err="1">
                <a:latin typeface="Helvetica" pitchFamily="2" charset="0"/>
              </a:rPr>
              <a:t>Ethical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Communication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for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Decision</a:t>
            </a:r>
            <a:r>
              <a:rPr lang="es-CL" sz="2400" dirty="0">
                <a:latin typeface="Helvetica" pitchFamily="2" charset="0"/>
              </a:rPr>
              <a:t> </a:t>
            </a:r>
            <a:r>
              <a:rPr lang="es-CL" sz="2400" dirty="0" err="1">
                <a:latin typeface="Helvetica" pitchFamily="2" charset="0"/>
              </a:rPr>
              <a:t>Making</a:t>
            </a:r>
            <a:r>
              <a:rPr lang="es-CL" sz="2400" dirty="0">
                <a:latin typeface="Helvetica" pitchFamily="2" charset="0"/>
              </a:rPr>
              <a:t> (</a:t>
            </a:r>
            <a:r>
              <a:rPr lang="es-CL" sz="2400" dirty="0" err="1">
                <a:latin typeface="Helvetica" pitchFamily="2" charset="0"/>
              </a:rPr>
              <a:t>Classes</a:t>
            </a:r>
            <a:r>
              <a:rPr lang="es-CL" sz="2400" dirty="0">
                <a:latin typeface="Helvetica" pitchFamily="2" charset="0"/>
              </a:rPr>
              <a:t> 13–16)</a:t>
            </a:r>
            <a:r>
              <a:rPr lang="es-CL" sz="3200" dirty="0">
                <a:latin typeface="Helvetica" pitchFamily="2" charset="0"/>
              </a:rPr>
              <a:t> </a:t>
            </a:r>
            <a:endParaRPr lang="es-CL" sz="4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30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9E38-A477-B0A0-F8E2-A68EA7A7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668048C7-843B-B4AF-E603-0B833B0F8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223B3D-81EB-3F8C-EF95-83F3121CF1C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CC7B7-2EB0-E49E-BEAA-E437FFEA42F1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Evaluation</a:t>
            </a:r>
          </a:p>
        </p:txBody>
      </p:sp>
      <p:pic>
        <p:nvPicPr>
          <p:cNvPr id="1026" name="Picture 2" descr="Exam icon with black design isolated on white background ...">
            <a:extLst>
              <a:ext uri="{FF2B5EF4-FFF2-40B4-BE49-F238E27FC236}">
                <a16:creationId xmlns:a16="http://schemas.microsoft.com/office/drawing/2014/main" id="{0486DF09-BF86-1D31-E03B-793BD2EC9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063" y="1354875"/>
            <a:ext cx="2835729" cy="283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st - Free education icons">
            <a:extLst>
              <a:ext uri="{FF2B5EF4-FFF2-40B4-BE49-F238E27FC236}">
                <a16:creationId xmlns:a16="http://schemas.microsoft.com/office/drawing/2014/main" id="{890C923C-BBC0-FCFC-63D3-9DB781500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392" y="2009096"/>
            <a:ext cx="1667329" cy="166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ssignment - Free education icons">
            <a:extLst>
              <a:ext uri="{FF2B5EF4-FFF2-40B4-BE49-F238E27FC236}">
                <a16:creationId xmlns:a16="http://schemas.microsoft.com/office/drawing/2014/main" id="{4C23D157-6405-F3D3-D902-93F17821A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267" y="1632704"/>
            <a:ext cx="2271486" cy="227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A07EC1F-5D79-3A10-E037-F20CA6FE6EBB}"/>
              </a:ext>
            </a:extLst>
          </p:cNvPr>
          <p:cNvSpPr txBox="1"/>
          <p:nvPr/>
        </p:nvSpPr>
        <p:spPr>
          <a:xfrm>
            <a:off x="1146627" y="3934127"/>
            <a:ext cx="674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Midterm</a:t>
            </a:r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week</a:t>
            </a:r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(2)</a:t>
            </a:r>
            <a:endParaRPr lang="es-CL" sz="2400" dirty="0">
              <a:latin typeface="Helvetica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A0FD24-6B9D-DAA7-5CDF-ECA1D2002CD0}"/>
              </a:ext>
            </a:extLst>
          </p:cNvPr>
          <p:cNvSpPr txBox="1"/>
          <p:nvPr/>
        </p:nvSpPr>
        <p:spPr>
          <a:xfrm>
            <a:off x="4523014" y="3959772"/>
            <a:ext cx="674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Class</a:t>
            </a:r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Assignments</a:t>
            </a:r>
            <a:endParaRPr lang="es-CL" sz="2400" dirty="0">
              <a:latin typeface="Helvetica" pitchFamily="2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AD036C5-0424-9A6C-90A2-EE448A554B9E}"/>
              </a:ext>
            </a:extLst>
          </p:cNvPr>
          <p:cNvSpPr/>
          <p:nvPr/>
        </p:nvSpPr>
        <p:spPr>
          <a:xfrm>
            <a:off x="1146627" y="5074436"/>
            <a:ext cx="6364516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A304A9-81F0-5CE7-39AB-039830899F7A}"/>
              </a:ext>
            </a:extLst>
          </p:cNvPr>
          <p:cNvSpPr txBox="1"/>
          <p:nvPr/>
        </p:nvSpPr>
        <p:spPr>
          <a:xfrm>
            <a:off x="8464750" y="3988823"/>
            <a:ext cx="674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Final </a:t>
            </a:r>
            <a:r>
              <a:rPr lang="es-CL" sz="2400" b="0" i="0" u="none" strike="noStrike" dirty="0" err="1">
                <a:solidFill>
                  <a:srgbClr val="000000"/>
                </a:solidFill>
                <a:effectLst/>
                <a:latin typeface="Helvetica" pitchFamily="2" charset="0"/>
              </a:rPr>
              <a:t>Exam</a:t>
            </a:r>
            <a:endParaRPr lang="es-CL" sz="2400" dirty="0">
              <a:latin typeface="Helvetica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F3FA3C4-1CC8-F7C9-FCBC-FC59F5A46117}"/>
              </a:ext>
            </a:extLst>
          </p:cNvPr>
          <p:cNvSpPr/>
          <p:nvPr/>
        </p:nvSpPr>
        <p:spPr>
          <a:xfrm>
            <a:off x="7511143" y="5056232"/>
            <a:ext cx="3755571" cy="6109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ADB97F-EA12-40AC-CB5A-411CF4718BB9}"/>
              </a:ext>
            </a:extLst>
          </p:cNvPr>
          <p:cNvSpPr txBox="1"/>
          <p:nvPr/>
        </p:nvSpPr>
        <p:spPr>
          <a:xfrm>
            <a:off x="3342515" y="5074436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70%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F985C19-C11C-17B7-D3F2-E3D011487227}"/>
              </a:ext>
            </a:extLst>
          </p:cNvPr>
          <p:cNvSpPr txBox="1"/>
          <p:nvPr/>
        </p:nvSpPr>
        <p:spPr>
          <a:xfrm>
            <a:off x="9079287" y="5082394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30%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D539CF-7396-8B1B-43D6-96876D3F6C1B}"/>
              </a:ext>
            </a:extLst>
          </p:cNvPr>
          <p:cNvSpPr txBox="1"/>
          <p:nvPr/>
        </p:nvSpPr>
        <p:spPr>
          <a:xfrm>
            <a:off x="1745543" y="4456770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70%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4840C2-32CD-C7F6-05A4-39512342390C}"/>
              </a:ext>
            </a:extLst>
          </p:cNvPr>
          <p:cNvSpPr txBox="1"/>
          <p:nvPr/>
        </p:nvSpPr>
        <p:spPr>
          <a:xfrm>
            <a:off x="5441243" y="4459724"/>
            <a:ext cx="2757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30%</a:t>
            </a:r>
          </a:p>
        </p:txBody>
      </p:sp>
      <p:sp>
        <p:nvSpPr>
          <p:cNvPr id="15" name="CuadroTexto 12">
            <a:extLst>
              <a:ext uri="{FF2B5EF4-FFF2-40B4-BE49-F238E27FC236}">
                <a16:creationId xmlns:a16="http://schemas.microsoft.com/office/drawing/2014/main" id="{A9475D36-55F5-CC3E-60F4-B4835EB7F940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30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9963-4777-ED20-2128-F5D06450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B730EC44-1EB0-CA99-12F9-B2CEAEBE3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BE1CCD-B97E-E293-0714-1A5C334F662D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79504-929E-1849-5D79-D79BA23D0574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Core Concept</a:t>
            </a:r>
          </a:p>
        </p:txBody>
      </p:sp>
      <p:pic>
        <p:nvPicPr>
          <p:cNvPr id="3" name="Picture 4" descr="Download Now! Business Intelligence Presentation Template">
            <a:extLst>
              <a:ext uri="{FF2B5EF4-FFF2-40B4-BE49-F238E27FC236}">
                <a16:creationId xmlns:a16="http://schemas.microsoft.com/office/drawing/2014/main" id="{7520E4FE-9ACE-B9B2-682D-46654B037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45" t="12722" r="15651" b="2343"/>
          <a:stretch>
            <a:fillRect/>
          </a:stretch>
        </p:blipFill>
        <p:spPr bwMode="auto">
          <a:xfrm>
            <a:off x="77001" y="1364290"/>
            <a:ext cx="6945122" cy="486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48783B9F-88AD-8D52-E5C7-FD2645204978}"/>
              </a:ext>
            </a:extLst>
          </p:cNvPr>
          <p:cNvSpPr/>
          <p:nvPr/>
        </p:nvSpPr>
        <p:spPr>
          <a:xfrm>
            <a:off x="6368143" y="4000500"/>
            <a:ext cx="5519057" cy="1493210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BBC926-1427-A971-F742-28353E4EC304}"/>
              </a:ext>
            </a:extLst>
          </p:cNvPr>
          <p:cNvSpPr txBox="1"/>
          <p:nvPr/>
        </p:nvSpPr>
        <p:spPr>
          <a:xfrm>
            <a:off x="6588579" y="4131218"/>
            <a:ext cx="49992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Business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(BI)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a data-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DSS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combines data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gathering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, data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storage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,</a:t>
            </a:r>
          </a:p>
          <a:p>
            <a:pPr algn="just"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management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with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analysis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provide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input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5D17BD17-F447-4FA2-16AA-574C61A6BCCE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39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7E50-7323-7987-B96C-FACE5018C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A8689624-56AC-CDCD-3AD5-3EC65495E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4371FF-1668-97A1-F89D-705A62ACDD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EC65E-073E-96B4-1EA6-DD4EB5DA9E02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</a:t>
            </a:r>
            <a:r>
              <a:rPr lang="en-US" sz="3600" b="1" dirty="0">
                <a:latin typeface="CMU Sans Serif" panose="02000603000000000000" pitchFamily="2" charset="0"/>
              </a:rPr>
              <a:t>– </a:t>
            </a:r>
            <a:r>
              <a:rPr lang="es-CL" sz="3600" b="1" dirty="0" err="1">
                <a:latin typeface="CMU Sans Serif" panose="02000603000000000000" pitchFamily="2" charset="0"/>
              </a:rPr>
              <a:t>Why</a:t>
            </a:r>
            <a:r>
              <a:rPr lang="es-CL" sz="3600" b="1" dirty="0">
                <a:latin typeface="CMU Sans Serif" panose="02000603000000000000" pitchFamily="2" charset="0"/>
              </a:rPr>
              <a:t> </a:t>
            </a:r>
            <a:r>
              <a:rPr lang="es-CL" sz="3600" b="1" dirty="0" err="1">
                <a:latin typeface="CMU Sans Serif" panose="02000603000000000000" pitchFamily="2" charset="0"/>
              </a:rPr>
              <a:t>Does</a:t>
            </a:r>
            <a:r>
              <a:rPr lang="es-CL" sz="3600" b="1" dirty="0">
                <a:latin typeface="CMU Sans Serif" panose="02000603000000000000" pitchFamily="2" charset="0"/>
              </a:rPr>
              <a:t> BI </a:t>
            </a:r>
            <a:r>
              <a:rPr lang="es-CL" sz="3600" b="1" dirty="0" err="1">
                <a:latin typeface="CMU Sans Serif" panose="02000603000000000000" pitchFamily="2" charset="0"/>
              </a:rPr>
              <a:t>Matter</a:t>
            </a:r>
            <a:r>
              <a:rPr lang="es-CL" sz="3600" b="1" dirty="0">
                <a:latin typeface="CMU Sans Serif" panose="02000603000000000000" pitchFamily="2" charset="0"/>
              </a:rPr>
              <a:t>?</a:t>
            </a:r>
            <a:endParaRPr lang="en-US" sz="3600" b="1" dirty="0">
              <a:latin typeface="CMU Sans Serif" panose="02000603000000000000" pitchFamily="2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EA3B983-4DF4-BDA7-E378-CDE5F7021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82047"/>
              </p:ext>
            </p:extLst>
          </p:nvPr>
        </p:nvGraphicFramePr>
        <p:xfrm>
          <a:off x="1986535" y="1147026"/>
          <a:ext cx="10108332" cy="5308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369444">
                  <a:extLst>
                    <a:ext uri="{9D8B030D-6E8A-4147-A177-3AD203B41FA5}">
                      <a16:colId xmlns:a16="http://schemas.microsoft.com/office/drawing/2014/main" val="551184579"/>
                    </a:ext>
                  </a:extLst>
                </a:gridCol>
                <a:gridCol w="3369444">
                  <a:extLst>
                    <a:ext uri="{9D8B030D-6E8A-4147-A177-3AD203B41FA5}">
                      <a16:colId xmlns:a16="http://schemas.microsoft.com/office/drawing/2014/main" val="3632666306"/>
                    </a:ext>
                  </a:extLst>
                </a:gridCol>
                <a:gridCol w="3369444">
                  <a:extLst>
                    <a:ext uri="{9D8B030D-6E8A-4147-A177-3AD203B41FA5}">
                      <a16:colId xmlns:a16="http://schemas.microsoft.com/office/drawing/2014/main" val="4215750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The</a:t>
                      </a:r>
                      <a:r>
                        <a:rPr lang="es-CL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</a:t>
                      </a:r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problem</a:t>
                      </a:r>
                      <a:endParaRPr lang="es-CL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The</a:t>
                      </a:r>
                      <a:r>
                        <a:rPr lang="es-CL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BI </a:t>
                      </a:r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Solution</a:t>
                      </a:r>
                      <a:endParaRPr lang="es-CL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Result</a:t>
                      </a:r>
                      <a:endParaRPr lang="es-CL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412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Thousands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of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daily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routes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weather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disruptions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customs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delays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and fuel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costs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—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impossible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to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manage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manually</a:t>
                      </a:r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Real-time data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from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GPS,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weather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APIs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customs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systems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and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customer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demand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fed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into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predictive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models</a:t>
                      </a:r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15 %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reduction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in fuel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costs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fewer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delays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, and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dynamic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L" sz="18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rerouting</a:t>
                      </a:r>
                      <a:r>
                        <a:rPr lang="es-CL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in real time</a:t>
                      </a:r>
                      <a:endParaRPr lang="es-CL" dirty="0"/>
                    </a:p>
                    <a:p>
                      <a:pPr algn="just"/>
                      <a:endParaRPr lang="es-CL" dirty="0">
                        <a:latin typeface="Helvetica" pitchFamily="2" charset="0"/>
                      </a:endParaRPr>
                    </a:p>
                    <a:p>
                      <a:pPr algn="just"/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79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 managers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ordering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inventory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instinct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overstock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stockouts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no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visibility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across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regions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Link: a BI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connecting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centers in real time.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sale,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shelf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truck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—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tracked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algn="just"/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Inventory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20%,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suppliers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their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sales data,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Lider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overtook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Sears as #1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retailer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Chile</a:t>
                      </a:r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09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Hundreds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simultaneous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chemical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extreme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temperatures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pressures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thousands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variables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second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—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impossible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humans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monitor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manuallyS</a:t>
                      </a:r>
                      <a:endParaRPr lang="es-CL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sensor data,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historians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real-time BI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monitor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anomalies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throughput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automatically</a:t>
                      </a:r>
                      <a:endParaRPr lang="es-CL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5-8 %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refinery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30%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reduction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unplanned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shutdowns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real-time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visibility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across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global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operations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es-CL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single control </a:t>
                      </a:r>
                      <a:r>
                        <a:rPr lang="es-CL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room</a:t>
                      </a:r>
                      <a:endParaRPr lang="es-CL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s-CL" sz="1800" b="0" u="none" strike="noStrike" kern="1200" dirty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022"/>
                  </a:ext>
                </a:extLst>
              </a:tr>
            </a:tbl>
          </a:graphicData>
        </a:graphic>
      </p:graphicFrame>
      <p:pic>
        <p:nvPicPr>
          <p:cNvPr id="2053" name="Picture 5" descr="Starken - Apps on Google Play">
            <a:extLst>
              <a:ext uri="{FF2B5EF4-FFF2-40B4-BE49-F238E27FC236}">
                <a16:creationId xmlns:a16="http://schemas.microsoft.com/office/drawing/2014/main" id="{76884006-9FA5-F398-69BD-153C2041B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" y="1386828"/>
            <a:ext cx="1834243" cy="183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Lider.cl Centro Osorno | Osorno">
            <a:extLst>
              <a:ext uri="{FF2B5EF4-FFF2-40B4-BE49-F238E27FC236}">
                <a16:creationId xmlns:a16="http://schemas.microsoft.com/office/drawing/2014/main" id="{40FC1DD8-8531-837A-F3DF-13B4D4CAA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92" y="3221071"/>
            <a:ext cx="1623788" cy="162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enap-logo - Corporación Ciudad Accesible">
            <a:extLst>
              <a:ext uri="{FF2B5EF4-FFF2-40B4-BE49-F238E27FC236}">
                <a16:creationId xmlns:a16="http://schemas.microsoft.com/office/drawing/2014/main" id="{F3DC8D32-F181-D51B-33AF-2BBB05BC8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92" y="5301732"/>
            <a:ext cx="1623789" cy="81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ACEEAC37-8614-7114-2DEF-43E5109A0655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49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8625-7C6A-8A36-C99C-453AA950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BF214921-17BA-3C94-FC12-BC2B09BA7E6D}"/>
              </a:ext>
            </a:extLst>
          </p:cNvPr>
          <p:cNvSpPr/>
          <p:nvPr/>
        </p:nvSpPr>
        <p:spPr>
          <a:xfrm>
            <a:off x="489858" y="3880180"/>
            <a:ext cx="5110842" cy="965532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9DCA829E-3CEF-E7CF-3911-6A47B732A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422700-F26B-88FF-4F7B-A993CCA4B6F4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A64FB-599F-C214-F172-B65E70D549E3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Core Concept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E799C36-7646-4259-4A09-F89C3C695FE7}"/>
              </a:ext>
            </a:extLst>
          </p:cNvPr>
          <p:cNvSpPr txBox="1"/>
          <p:nvPr/>
        </p:nvSpPr>
        <p:spPr>
          <a:xfrm>
            <a:off x="726621" y="4008195"/>
            <a:ext cx="4694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Business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result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of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a series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of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innovations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over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CL" dirty="0" err="1">
                <a:solidFill>
                  <a:srgbClr val="000000"/>
                </a:solidFill>
                <a:effectLst/>
                <a:latin typeface="Helvetica" pitchFamily="2" charset="0"/>
              </a:rPr>
              <a:t>years</a:t>
            </a:r>
            <a:endParaRPr lang="es-CL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CB65406-043C-339F-0880-5744D9FF7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72" y="1359230"/>
            <a:ext cx="5080000" cy="5041900"/>
          </a:xfrm>
          <a:prstGeom prst="rect">
            <a:avLst/>
          </a:prstGeom>
        </p:spPr>
      </p:pic>
      <p:pic>
        <p:nvPicPr>
          <p:cNvPr id="2052" name="Picture 4" descr="Innovation - Free technology icons">
            <a:extLst>
              <a:ext uri="{FF2B5EF4-FFF2-40B4-BE49-F238E27FC236}">
                <a16:creationId xmlns:a16="http://schemas.microsoft.com/office/drawing/2014/main" id="{9CC989AC-0C96-EE51-1498-9A60A6C5D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371" y="1978123"/>
            <a:ext cx="1710871" cy="171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12">
            <a:extLst>
              <a:ext uri="{FF2B5EF4-FFF2-40B4-BE49-F238E27FC236}">
                <a16:creationId xmlns:a16="http://schemas.microsoft.com/office/drawing/2014/main" id="{F4437333-3B0A-B95F-8E8B-42BD48FE2C56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5448-B7DF-F789-1C26-D68ED492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2D2FBB70-BA44-A901-A7E8-054A2090240E}"/>
              </a:ext>
            </a:extLst>
          </p:cNvPr>
          <p:cNvSpPr/>
          <p:nvPr/>
        </p:nvSpPr>
        <p:spPr>
          <a:xfrm>
            <a:off x="2008413" y="5016744"/>
            <a:ext cx="8752115" cy="1323439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E4854F49-C617-DEA0-B6CC-1AC39F5D4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91557D-6233-8B91-50F6-183FB4FFE923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6E94-38F0-4C79-0F32-1652B854DF22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Role of Warehouse Storage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BDB48E7-B037-6A26-C154-45F9FD845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3" y="5166692"/>
            <a:ext cx="787309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CL" sz="2000" dirty="0"/>
              <a:t>A data </a:t>
            </a:r>
            <a:r>
              <a:rPr lang="es-CL" sz="2000" dirty="0" err="1"/>
              <a:t>warehouse</a:t>
            </a:r>
            <a:r>
              <a:rPr lang="es-CL" sz="2000" dirty="0"/>
              <a:t> </a:t>
            </a:r>
            <a:r>
              <a:rPr lang="es-CL" sz="2000" dirty="0" err="1"/>
              <a:t>is</a:t>
            </a:r>
            <a:r>
              <a:rPr lang="es-CL" sz="2000" dirty="0"/>
              <a:t> a </a:t>
            </a:r>
            <a:r>
              <a:rPr lang="es-CL" sz="2000" dirty="0" err="1"/>
              <a:t>large</a:t>
            </a:r>
            <a:r>
              <a:rPr lang="es-CL" sz="2000" dirty="0"/>
              <a:t> </a:t>
            </a:r>
            <a:r>
              <a:rPr lang="es-CL" sz="2000" dirty="0" err="1"/>
              <a:t>database</a:t>
            </a:r>
            <a:r>
              <a:rPr lang="es-CL" sz="2000" dirty="0"/>
              <a:t>. </a:t>
            </a:r>
            <a:r>
              <a:rPr lang="es-CL" sz="2000" dirty="0" err="1"/>
              <a:t>It</a:t>
            </a:r>
            <a:r>
              <a:rPr lang="es-CL" sz="2000" dirty="0"/>
              <a:t> </a:t>
            </a:r>
            <a:r>
              <a:rPr lang="es-CL" sz="2000" dirty="0" err="1"/>
              <a:t>is</a:t>
            </a:r>
            <a:r>
              <a:rPr lang="es-CL" sz="2000" dirty="0"/>
              <a:t> </a:t>
            </a:r>
            <a:r>
              <a:rPr lang="es-CL" sz="2000" dirty="0" err="1"/>
              <a:t>defined</a:t>
            </a:r>
            <a:r>
              <a:rPr lang="es-CL" sz="2000" dirty="0"/>
              <a:t> as a </a:t>
            </a:r>
            <a:r>
              <a:rPr lang="es-CL" sz="2000" dirty="0" err="1"/>
              <a:t>subject</a:t>
            </a:r>
            <a:r>
              <a:rPr lang="es-CL" sz="2000" dirty="0"/>
              <a:t> </a:t>
            </a:r>
            <a:r>
              <a:rPr lang="es-CL" sz="2000" dirty="0" err="1"/>
              <a:t>oriented</a:t>
            </a:r>
            <a:r>
              <a:rPr lang="es-CL" sz="2000" dirty="0"/>
              <a:t>, </a:t>
            </a:r>
            <a:r>
              <a:rPr lang="es-CL" sz="2000" dirty="0" err="1"/>
              <a:t>integrated</a:t>
            </a:r>
            <a:r>
              <a:rPr lang="es-CL" sz="2000" dirty="0"/>
              <a:t>, time </a:t>
            </a:r>
            <a:r>
              <a:rPr lang="es-CL" sz="2000" dirty="0" err="1"/>
              <a:t>variant</a:t>
            </a:r>
            <a:r>
              <a:rPr lang="es-CL" sz="2000" dirty="0"/>
              <a:t>, non-</a:t>
            </a:r>
            <a:r>
              <a:rPr lang="es-CL" sz="2000" dirty="0" err="1"/>
              <a:t>volatile</a:t>
            </a:r>
            <a:r>
              <a:rPr lang="es-CL" sz="2000" dirty="0"/>
              <a:t>, </a:t>
            </a:r>
            <a:r>
              <a:rPr lang="es-CL" sz="2000" dirty="0" err="1"/>
              <a:t>collection</a:t>
            </a:r>
            <a:r>
              <a:rPr lang="es-CL" sz="2000" dirty="0"/>
              <a:t> </a:t>
            </a:r>
            <a:r>
              <a:rPr lang="es-CL" sz="2000" dirty="0" err="1"/>
              <a:t>of</a:t>
            </a:r>
            <a:r>
              <a:rPr lang="es-CL" sz="2000" dirty="0"/>
              <a:t> data in </a:t>
            </a:r>
            <a:r>
              <a:rPr lang="es-CL" sz="2000" dirty="0" err="1"/>
              <a:t>support</a:t>
            </a:r>
            <a:r>
              <a:rPr lang="es-CL" sz="2000" dirty="0"/>
              <a:t> </a:t>
            </a:r>
            <a:r>
              <a:rPr lang="es-CL" sz="2000" dirty="0" err="1"/>
              <a:t>of</a:t>
            </a:r>
            <a:r>
              <a:rPr lang="es-CL" sz="2000" dirty="0"/>
              <a:t> </a:t>
            </a:r>
            <a:r>
              <a:rPr lang="es-CL" sz="2000" dirty="0" err="1"/>
              <a:t>management</a:t>
            </a:r>
            <a:r>
              <a:rPr lang="es-CL" sz="2000" dirty="0"/>
              <a:t> </a:t>
            </a:r>
            <a:r>
              <a:rPr lang="es-CL" sz="2000" dirty="0" err="1"/>
              <a:t>decission</a:t>
            </a:r>
            <a:r>
              <a:rPr lang="es-CL" sz="2000" dirty="0"/>
              <a:t> </a:t>
            </a:r>
            <a:r>
              <a:rPr lang="es-CL" sz="2000" dirty="0" err="1"/>
              <a:t>processes</a:t>
            </a:r>
            <a:endParaRPr lang="es-CL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L" altLang="es-CL" dirty="0">
              <a:solidFill>
                <a:srgbClr val="000000"/>
              </a:solidFill>
              <a:latin typeface="-webkit-standard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550A8AC-9ECE-9738-D9A6-C5EF5819C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864" y="1236086"/>
            <a:ext cx="6743700" cy="3568700"/>
          </a:xfrm>
          <a:prstGeom prst="rect">
            <a:avLst/>
          </a:prstGeom>
        </p:spPr>
      </p:pic>
      <p:sp>
        <p:nvSpPr>
          <p:cNvPr id="3" name="CuadroTexto 12">
            <a:extLst>
              <a:ext uri="{FF2B5EF4-FFF2-40B4-BE49-F238E27FC236}">
                <a16:creationId xmlns:a16="http://schemas.microsoft.com/office/drawing/2014/main" id="{4E1CE021-7A90-823E-6E89-56FE45088FC7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5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6978-2919-E140-63AF-DA1083D4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655FAA06-A3BA-B719-FC3E-755BEB0F9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E0BBA8-1D08-C9E0-8FB3-31AF1347220A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20B10-8A4F-F8E7-7B8B-391B2559CB4C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Data Warehouse Characteristics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9245BFB-491A-1439-C9BB-8CB3A8136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28" y="2004784"/>
            <a:ext cx="7670800" cy="3352800"/>
          </a:xfrm>
          <a:prstGeom prst="rect">
            <a:avLst/>
          </a:prstGeom>
        </p:spPr>
      </p:pic>
      <p:pic>
        <p:nvPicPr>
          <p:cNvPr id="4104" name="Picture 8" descr="Data warehouse Generic gradient fill icon | Freepik">
            <a:extLst>
              <a:ext uri="{FF2B5EF4-FFF2-40B4-BE49-F238E27FC236}">
                <a16:creationId xmlns:a16="http://schemas.microsoft.com/office/drawing/2014/main" id="{BB1B86BF-A514-011E-7F1B-16AE36843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30" y="2229757"/>
            <a:ext cx="3127828" cy="312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0F215DB-69AB-76D0-C5F3-496034ADABED}"/>
              </a:ext>
            </a:extLst>
          </p:cNvPr>
          <p:cNvSpPr txBox="1"/>
          <p:nvPr/>
        </p:nvSpPr>
        <p:spPr>
          <a:xfrm>
            <a:off x="9543595" y="3059668"/>
            <a:ext cx="4694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dirty="0">
                <a:solidFill>
                  <a:srgbClr val="000000"/>
                </a:solidFill>
                <a:effectLst/>
                <a:latin typeface="Helvetica" pitchFamily="2" charset="0"/>
              </a:rPr>
              <a:t>***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72FE955-D794-2DCE-3462-89C476AD6F73}"/>
              </a:ext>
            </a:extLst>
          </p:cNvPr>
          <p:cNvSpPr txBox="1"/>
          <p:nvPr/>
        </p:nvSpPr>
        <p:spPr>
          <a:xfrm>
            <a:off x="9959065" y="3049894"/>
            <a:ext cx="4694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400" dirty="0">
                <a:solidFill>
                  <a:srgbClr val="000000"/>
                </a:solidFill>
                <a:effectLst/>
                <a:latin typeface="Helvetica" pitchFamily="2" charset="0"/>
              </a:rPr>
              <a:t>(</a:t>
            </a:r>
            <a:r>
              <a:rPr lang="es-CL" sz="1400" dirty="0" err="1">
                <a:solidFill>
                  <a:srgbClr val="000000"/>
                </a:solidFill>
                <a:effectLst/>
                <a:latin typeface="Helvetica" pitchFamily="2" charset="0"/>
              </a:rPr>
              <a:t>traditional</a:t>
            </a:r>
            <a:r>
              <a:rPr lang="es-CL" sz="1400" dirty="0">
                <a:solidFill>
                  <a:srgbClr val="000000"/>
                </a:solidFill>
                <a:effectLst/>
                <a:latin typeface="Helvetica" pitchFamily="2" charset="0"/>
              </a:rPr>
              <a:t>)</a:t>
            </a:r>
          </a:p>
        </p:txBody>
      </p:sp>
      <p:sp>
        <p:nvSpPr>
          <p:cNvPr id="3" name="CuadroTexto 12">
            <a:extLst>
              <a:ext uri="{FF2B5EF4-FFF2-40B4-BE49-F238E27FC236}">
                <a16:creationId xmlns:a16="http://schemas.microsoft.com/office/drawing/2014/main" id="{A0A75A4D-7E78-7442-0D80-E8643B9D7186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FD64-2C22-D6DB-76CA-AE0055F1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E75D401B-A337-DA9A-8782-46F619649F85}"/>
              </a:ext>
            </a:extLst>
          </p:cNvPr>
          <p:cNvSpPr/>
          <p:nvPr/>
        </p:nvSpPr>
        <p:spPr>
          <a:xfrm>
            <a:off x="174136" y="3703458"/>
            <a:ext cx="4495836" cy="1599655"/>
          </a:xfrm>
          <a:prstGeom prst="roundRect">
            <a:avLst/>
          </a:prstGeom>
          <a:solidFill>
            <a:srgbClr val="EEEE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2" name="Imagen 11">
            <a:extLst>
              <a:ext uri="{FF2B5EF4-FFF2-40B4-BE49-F238E27FC236}">
                <a16:creationId xmlns:a16="http://schemas.microsoft.com/office/drawing/2014/main" id="{7C895C77-FFED-B6BA-D2EF-FE703570A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F8BC3A-81CD-C093-CDA3-4C0F17C62776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22EED-D58F-3B4E-3580-3D62E090F0D0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Data Analytics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2CF0617-BEF8-A4A7-F25B-653B490BC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30" y="3826568"/>
            <a:ext cx="40821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plays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a central role in Business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Intelligence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(BI)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transforming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raw data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into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actionable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insights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that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support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decision-making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 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1" name="Picture 3" descr="Analytics Generic Blue icon | Freepik">
            <a:extLst>
              <a:ext uri="{FF2B5EF4-FFF2-40B4-BE49-F238E27FC236}">
                <a16:creationId xmlns:a16="http://schemas.microsoft.com/office/drawing/2014/main" id="{D69006E8-E3F5-ECA9-4479-61EE2408A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28" y="1554887"/>
            <a:ext cx="2041738" cy="204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225B1E1-C0BF-C8EB-0D22-6DD44013B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172" y="1354832"/>
            <a:ext cx="40821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Descriptive </a:t>
            </a: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endParaRPr kumimoji="0" lang="es-CL" altLang="es-C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940F733-E0D3-D9C0-EF78-3D10D8CEC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486" y="3105867"/>
            <a:ext cx="40821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Predictive </a:t>
            </a: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endParaRPr kumimoji="0" lang="es-CL" altLang="es-C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AF7A30E-AA1D-4FE3-7B11-DF283F417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172" y="4858692"/>
            <a:ext cx="40821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L" altLang="es-CL" sz="2000" b="1" dirty="0">
                <a:solidFill>
                  <a:srgbClr val="000000"/>
                </a:solidFill>
                <a:latin typeface="-webkit-standard"/>
              </a:rPr>
              <a:t>Prescriptive </a:t>
            </a:r>
            <a:r>
              <a:rPr lang="es-CL" altLang="es-CL" sz="2000" b="1" dirty="0" err="1">
                <a:solidFill>
                  <a:srgbClr val="000000"/>
                </a:solidFill>
                <a:latin typeface="-webkit-standard"/>
              </a:rPr>
              <a:t>analytics</a:t>
            </a:r>
            <a:endParaRPr kumimoji="0" lang="es-CL" altLang="es-C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F93EC7D-F366-41BF-D2EA-AB9C68828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486" y="3450842"/>
            <a:ext cx="65003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L" dirty="0"/>
              <a:t>"</a:t>
            </a:r>
            <a:r>
              <a:rPr lang="es-CL" dirty="0" err="1"/>
              <a:t>What</a:t>
            </a:r>
            <a:r>
              <a:rPr lang="es-CL" dirty="0"/>
              <a:t> </a:t>
            </a:r>
            <a:r>
              <a:rPr lang="es-CL" dirty="0" err="1"/>
              <a:t>will</a:t>
            </a:r>
            <a:r>
              <a:rPr lang="es-CL" dirty="0"/>
              <a:t> </a:t>
            </a:r>
            <a:r>
              <a:rPr lang="es-CL" dirty="0" err="1"/>
              <a:t>happen</a:t>
            </a:r>
            <a:r>
              <a:rPr lang="es-CL" dirty="0"/>
              <a:t>?" Uses </a:t>
            </a:r>
            <a:r>
              <a:rPr lang="es-CL" dirty="0" err="1"/>
              <a:t>statistical</a:t>
            </a:r>
            <a:r>
              <a:rPr lang="es-CL" dirty="0"/>
              <a:t> </a:t>
            </a:r>
            <a:r>
              <a:rPr lang="es-CL" dirty="0" err="1"/>
              <a:t>models</a:t>
            </a:r>
            <a:r>
              <a:rPr lang="es-CL" dirty="0"/>
              <a:t> and machine </a:t>
            </a:r>
            <a:r>
              <a:rPr lang="es-CL" dirty="0" err="1"/>
              <a:t>learning</a:t>
            </a:r>
            <a:r>
              <a:rPr lang="es-CL" dirty="0"/>
              <a:t> </a:t>
            </a:r>
            <a:r>
              <a:rPr lang="es-CL" dirty="0" err="1"/>
              <a:t>to</a:t>
            </a:r>
            <a:r>
              <a:rPr lang="es-CL" dirty="0"/>
              <a:t> </a:t>
            </a:r>
            <a:r>
              <a:rPr lang="es-CL" dirty="0" err="1"/>
              <a:t>forecast</a:t>
            </a:r>
            <a:r>
              <a:rPr lang="es-CL" dirty="0"/>
              <a:t> future </a:t>
            </a:r>
            <a:r>
              <a:rPr lang="es-CL" dirty="0" err="1"/>
              <a:t>outcomes</a:t>
            </a:r>
            <a:r>
              <a:rPr lang="es-CL" dirty="0"/>
              <a:t>, </a:t>
            </a:r>
            <a:r>
              <a:rPr lang="es-CL" dirty="0" err="1"/>
              <a:t>such</a:t>
            </a:r>
            <a:r>
              <a:rPr lang="es-CL" dirty="0"/>
              <a:t> as </a:t>
            </a:r>
            <a:r>
              <a:rPr lang="es-CL" dirty="0" err="1"/>
              <a:t>customer</a:t>
            </a:r>
            <a:r>
              <a:rPr lang="es-CL" dirty="0"/>
              <a:t> </a:t>
            </a:r>
            <a:r>
              <a:rPr lang="es-CL" dirty="0" err="1"/>
              <a:t>churn</a:t>
            </a:r>
            <a:r>
              <a:rPr lang="es-CL" dirty="0"/>
              <a:t> </a:t>
            </a:r>
            <a:r>
              <a:rPr lang="es-CL" dirty="0" err="1"/>
              <a:t>or</a:t>
            </a:r>
            <a:r>
              <a:rPr lang="es-CL" dirty="0"/>
              <a:t> </a:t>
            </a:r>
            <a:r>
              <a:rPr lang="es-CL" dirty="0" err="1"/>
              <a:t>demand</a:t>
            </a:r>
            <a:r>
              <a:rPr lang="es-CL" dirty="0"/>
              <a:t> </a:t>
            </a:r>
            <a:r>
              <a:rPr lang="es-CL" dirty="0" err="1"/>
              <a:t>forecasting</a:t>
            </a:r>
            <a:r>
              <a:rPr lang="es-CL" dirty="0"/>
              <a:t>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059DAB-8F92-9F98-D4BE-70500D62AEC1}"/>
              </a:ext>
            </a:extLst>
          </p:cNvPr>
          <p:cNvSpPr txBox="1"/>
          <p:nvPr/>
        </p:nvSpPr>
        <p:spPr>
          <a:xfrm>
            <a:off x="5517486" y="1753014"/>
            <a:ext cx="6743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"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What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happened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?"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Summarizes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historical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data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through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reports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dashboards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understand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past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performance.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most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common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foundational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type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of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analytics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CL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A0298B2-6221-BFDE-62F0-959554644BD2}"/>
              </a:ext>
            </a:extLst>
          </p:cNvPr>
          <p:cNvSpPr txBox="1"/>
          <p:nvPr/>
        </p:nvSpPr>
        <p:spPr>
          <a:xfrm>
            <a:off x="5517486" y="5248665"/>
            <a:ext cx="6500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"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What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should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do?"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Recommends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specific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actions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achieve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desired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outcomes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using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optimization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models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AI-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driven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decision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tools</a:t>
            </a:r>
            <a:r>
              <a:rPr lang="es-CL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s-CL" dirty="0"/>
          </a:p>
        </p:txBody>
      </p:sp>
      <p:sp>
        <p:nvSpPr>
          <p:cNvPr id="5" name="CuadroTexto 12">
            <a:extLst>
              <a:ext uri="{FF2B5EF4-FFF2-40B4-BE49-F238E27FC236}">
                <a16:creationId xmlns:a16="http://schemas.microsoft.com/office/drawing/2014/main" id="{58C56AEB-238D-922E-B065-58F94BDDC1C7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00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C73E-45AB-5F30-A6D1-D00BC172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A31C6341-3982-B7D3-5221-CE7AF40FB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27C7D6-D489-C08E-A014-993AD541FA53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3AB0A-B120-4FA6-C5B9-192B0DDEA08E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Data Cycle</a:t>
            </a:r>
          </a:p>
        </p:txBody>
      </p:sp>
      <p:pic>
        <p:nvPicPr>
          <p:cNvPr id="9219" name="Picture 3" descr="Data Lifecycle: The 8 stages and Who Is Involved | KNIME">
            <a:extLst>
              <a:ext uri="{FF2B5EF4-FFF2-40B4-BE49-F238E27FC236}">
                <a16:creationId xmlns:a16="http://schemas.microsoft.com/office/drawing/2014/main" id="{7DABD102-05B1-C2AC-2E5D-D3E3F9E6F0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655" b="11250"/>
          <a:stretch>
            <a:fillRect/>
          </a:stretch>
        </p:blipFill>
        <p:spPr bwMode="auto">
          <a:xfrm>
            <a:off x="2046514" y="1161767"/>
            <a:ext cx="7587343" cy="531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12">
            <a:extLst>
              <a:ext uri="{FF2B5EF4-FFF2-40B4-BE49-F238E27FC236}">
                <a16:creationId xmlns:a16="http://schemas.microsoft.com/office/drawing/2014/main" id="{106A9856-168B-A167-AEF2-8B3C2DFF1AEE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22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7EE0-6C75-961E-65DB-1B490203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AB3B87F2-FB52-C8B5-DD92-AB7C34580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56F927-F794-176D-4EB4-08008A021CDF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8DD80-DB98-5DC1-049F-2F28EB13DAC0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Business Intelligence – BI Ecosystem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072222B-D207-4CC4-ED4D-E53231A49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268267"/>
              </p:ext>
            </p:extLst>
          </p:nvPr>
        </p:nvGraphicFramePr>
        <p:xfrm>
          <a:off x="1283748" y="1401925"/>
          <a:ext cx="10212324" cy="4634152"/>
        </p:xfrm>
        <a:graphic>
          <a:graphicData uri="http://schemas.openxmlformats.org/drawingml/2006/table">
            <a:tbl>
              <a:tblPr>
                <a:tableStyleId>{46F890A9-2807-4EBB-B81D-B2AA78EC7F39}</a:tableStyleId>
              </a:tblPr>
              <a:tblGrid>
                <a:gridCol w="3404108">
                  <a:extLst>
                    <a:ext uri="{9D8B030D-6E8A-4147-A177-3AD203B41FA5}">
                      <a16:colId xmlns:a16="http://schemas.microsoft.com/office/drawing/2014/main" val="672312276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806185690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414458689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b="1" dirty="0" err="1"/>
                        <a:t>Layer</a:t>
                      </a:r>
                      <a:endParaRPr lang="es-CL" sz="2000" b="1" dirty="0"/>
                    </a:p>
                  </a:txBody>
                  <a:tcPr marL="88803" marR="88803" marT="44401" marB="4440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b="1"/>
                        <a:t>What It Is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b="1" dirty="0"/>
                        <a:t>Real </a:t>
                      </a:r>
                      <a:r>
                        <a:rPr lang="es-CL" sz="2000" b="1" dirty="0" err="1"/>
                        <a:t>Examples</a:t>
                      </a:r>
                      <a:endParaRPr lang="es-CL" sz="2000" b="1" dirty="0"/>
                    </a:p>
                  </a:txBody>
                  <a:tcPr marL="88803" marR="88803" marT="44401" marB="44401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12119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>
                          <a:latin typeface="Helvetica" pitchFamily="2" charset="0"/>
                        </a:rPr>
                        <a:t>Data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Sources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Helvetica" pitchFamily="2" charset="0"/>
                        </a:rPr>
                        <a:t>Where raw data lives — structured and unstructured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ERP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systems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IoT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sensors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CRM, social media, web logs,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spreadsheets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55068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>
                          <a:latin typeface="Helvetica" pitchFamily="2" charset="0"/>
                        </a:rPr>
                        <a:t>ETL / ELT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Extract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Transform</a:t>
                      </a:r>
                      <a:r>
                        <a:rPr lang="es-CL" sz="1700" dirty="0">
                          <a:latin typeface="Helvetica" pitchFamily="2" charset="0"/>
                        </a:rPr>
                        <a:t>, Load —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cleans</a:t>
                      </a:r>
                      <a:r>
                        <a:rPr lang="es-CL" sz="1700" dirty="0">
                          <a:latin typeface="Helvetica" pitchFamily="2" charset="0"/>
                        </a:rPr>
                        <a:t> and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moves</a:t>
                      </a:r>
                      <a:r>
                        <a:rPr lang="es-CL" sz="1700" dirty="0">
                          <a:latin typeface="Helvetica" pitchFamily="2" charset="0"/>
                        </a:rPr>
                        <a:t> data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into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storage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Helvetica" pitchFamily="2" charset="0"/>
                        </a:rPr>
                        <a:t>Apache Spark, Talend, dbt, AWS Glue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77873519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>
                          <a:latin typeface="Helvetica" pitchFamily="2" charset="0"/>
                        </a:rPr>
                        <a:t>Data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Warehouse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Central,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organized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repository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for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historical</a:t>
                      </a:r>
                      <a:r>
                        <a:rPr lang="es-CL" sz="1700" dirty="0">
                          <a:latin typeface="Helvetica" pitchFamily="2" charset="0"/>
                        </a:rPr>
                        <a:t> and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current</a:t>
                      </a:r>
                      <a:r>
                        <a:rPr lang="es-CL" sz="1700" dirty="0">
                          <a:latin typeface="Helvetica" pitchFamily="2" charset="0"/>
                        </a:rPr>
                        <a:t> data</a:t>
                      </a: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Snowflake</a:t>
                      </a:r>
                      <a:r>
                        <a:rPr lang="es-CL" sz="1700" dirty="0">
                          <a:latin typeface="Helvetica" pitchFamily="2" charset="0"/>
                        </a:rPr>
                        <a:t>, Google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BigQuery</a:t>
                      </a:r>
                      <a:r>
                        <a:rPr lang="es-CL" sz="1700" dirty="0">
                          <a:latin typeface="Helvetica" pitchFamily="2" charset="0"/>
                        </a:rPr>
                        <a:t>, Amazon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Redshift</a:t>
                      </a:r>
                      <a:r>
                        <a:rPr lang="es-CL" sz="1700" dirty="0">
                          <a:latin typeface="Helvetica" pitchFamily="2" charset="0"/>
                        </a:rPr>
                        <a:t>, Azure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Synapse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8732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 err="1">
                          <a:latin typeface="Helvetica" pitchFamily="2" charset="0"/>
                        </a:rPr>
                        <a:t>Analytics</a:t>
                      </a:r>
                      <a:r>
                        <a:rPr lang="es-CL" sz="1700" b="1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Engine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Where</a:t>
                      </a:r>
                      <a:r>
                        <a:rPr lang="es-CL" sz="1700" dirty="0">
                          <a:latin typeface="Helvetica" pitchFamily="2" charset="0"/>
                        </a:rPr>
                        <a:t> data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gets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interrogated</a:t>
                      </a:r>
                      <a:r>
                        <a:rPr lang="es-CL" sz="1700" dirty="0">
                          <a:latin typeface="Helvetica" pitchFamily="2" charset="0"/>
                        </a:rPr>
                        <a:t> —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from</a:t>
                      </a:r>
                      <a:r>
                        <a:rPr lang="es-CL" sz="1700" dirty="0">
                          <a:latin typeface="Helvetica" pitchFamily="2" charset="0"/>
                        </a:rPr>
                        <a:t> SQL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queries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to</a:t>
                      </a:r>
                      <a:r>
                        <a:rPr lang="es-CL" sz="1700" dirty="0">
                          <a:latin typeface="Helvetica" pitchFamily="2" charset="0"/>
                        </a:rPr>
                        <a:t> ML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models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Python, R, SAS,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Databricks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55828433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 err="1">
                          <a:latin typeface="Helvetica" pitchFamily="2" charset="0"/>
                        </a:rPr>
                        <a:t>Visualization</a:t>
                      </a:r>
                      <a:r>
                        <a:rPr lang="es-CL" sz="1700" b="1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b="1" dirty="0" err="1">
                          <a:latin typeface="Helvetica" pitchFamily="2" charset="0"/>
                        </a:rPr>
                        <a:t>Layer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Translates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numbers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into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insight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humans</a:t>
                      </a:r>
                      <a:r>
                        <a:rPr lang="es-CL" sz="1700" dirty="0">
                          <a:latin typeface="Helvetica" pitchFamily="2" charset="0"/>
                        </a:rPr>
                        <a:t> can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act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on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 err="1">
                          <a:latin typeface="Helvetica" pitchFamily="2" charset="0"/>
                        </a:rPr>
                        <a:t>Power</a:t>
                      </a:r>
                      <a:r>
                        <a:rPr lang="es-CL" sz="1700" dirty="0">
                          <a:latin typeface="Helvetica" pitchFamily="2" charset="0"/>
                        </a:rPr>
                        <a:t> BI,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Tableau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Looker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Grafana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61024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b="1" dirty="0" err="1">
                          <a:latin typeface="Helvetica" pitchFamily="2" charset="0"/>
                        </a:rPr>
                        <a:t>Decision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>
                          <a:latin typeface="Helvetica" pitchFamily="2" charset="0"/>
                        </a:rPr>
                        <a:t>The whole point — faster, smarter, evidence-based action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700" dirty="0">
                          <a:latin typeface="Helvetica" pitchFamily="2" charset="0"/>
                        </a:rPr>
                        <a:t>C-suite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dashboards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operational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alerts</a:t>
                      </a:r>
                      <a:r>
                        <a:rPr lang="es-CL" sz="1700" dirty="0">
                          <a:latin typeface="Helvetica" pitchFamily="2" charset="0"/>
                        </a:rPr>
                        <a:t>,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automated</a:t>
                      </a:r>
                      <a:r>
                        <a:rPr lang="es-CL" sz="1700" dirty="0">
                          <a:latin typeface="Helvetica" pitchFamily="2" charset="0"/>
                        </a:rPr>
                        <a:t> </a:t>
                      </a:r>
                      <a:r>
                        <a:rPr lang="es-CL" sz="1700" dirty="0" err="1">
                          <a:latin typeface="Helvetica" pitchFamily="2" charset="0"/>
                        </a:rPr>
                        <a:t>triggers</a:t>
                      </a:r>
                      <a:endParaRPr lang="es-CL" sz="1700" dirty="0">
                        <a:latin typeface="Helvetica" pitchFamily="2" charset="0"/>
                      </a:endParaRP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595681385"/>
                  </a:ext>
                </a:extLst>
              </a:tr>
            </a:tbl>
          </a:graphicData>
        </a:graphic>
      </p:graphicFrame>
      <p:sp>
        <p:nvSpPr>
          <p:cNvPr id="5" name="Flecha abajo 4">
            <a:extLst>
              <a:ext uri="{FF2B5EF4-FFF2-40B4-BE49-F238E27FC236}">
                <a16:creationId xmlns:a16="http://schemas.microsoft.com/office/drawing/2014/main" id="{112998E9-85DD-1786-AF72-AEA236E5726D}"/>
              </a:ext>
            </a:extLst>
          </p:cNvPr>
          <p:cNvSpPr/>
          <p:nvPr/>
        </p:nvSpPr>
        <p:spPr>
          <a:xfrm>
            <a:off x="473529" y="1812471"/>
            <a:ext cx="391885" cy="422360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12">
            <a:extLst>
              <a:ext uri="{FF2B5EF4-FFF2-40B4-BE49-F238E27FC236}">
                <a16:creationId xmlns:a16="http://schemas.microsoft.com/office/drawing/2014/main" id="{4AA680A2-FFA1-A38E-1CCE-3D5F8F7406E3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63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0B53-A5D1-D8AD-F8B7-BE668021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33F8CEC9-5ACD-2FD8-E0A8-B074A8B88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82E971-94F9-8CA5-B30E-FD102A8D9580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1BB5F-E058-68ED-EE72-5F22AEE44218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Some concepts differentiation</a:t>
            </a:r>
          </a:p>
        </p:txBody>
      </p:sp>
      <p:pic>
        <p:nvPicPr>
          <p:cNvPr id="4098" name="Picture 2" descr="Business Intelligence vs BIG Data | LIS Data Solutions">
            <a:extLst>
              <a:ext uri="{FF2B5EF4-FFF2-40B4-BE49-F238E27FC236}">
                <a16:creationId xmlns:a16="http://schemas.microsoft.com/office/drawing/2014/main" id="{F794E057-1567-ED8A-1833-276E0E753D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81" r="5307"/>
          <a:stretch>
            <a:fillRect/>
          </a:stretch>
        </p:blipFill>
        <p:spPr bwMode="auto">
          <a:xfrm>
            <a:off x="174135" y="1613667"/>
            <a:ext cx="6603159" cy="422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Qué es la Inteligencia Artificial? - Datademia">
            <a:extLst>
              <a:ext uri="{FF2B5EF4-FFF2-40B4-BE49-F238E27FC236}">
                <a16:creationId xmlns:a16="http://schemas.microsoft.com/office/drawing/2014/main" id="{7FE5E080-052D-22F3-0E8E-E9A37F47D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87"/>
          <a:stretch>
            <a:fillRect/>
          </a:stretch>
        </p:blipFill>
        <p:spPr bwMode="auto">
          <a:xfrm>
            <a:off x="7099987" y="1825409"/>
            <a:ext cx="5092009" cy="380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12">
            <a:extLst>
              <a:ext uri="{FF2B5EF4-FFF2-40B4-BE49-F238E27FC236}">
                <a16:creationId xmlns:a16="http://schemas.microsoft.com/office/drawing/2014/main" id="{E3FE56C7-B0CB-A7AA-BD4D-1E5EE3B34930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697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2AAC-87BE-8953-1D3D-628E9208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662E756-C86F-CE66-21E3-1F6123EE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2674E1-590E-AEF8-CF47-A192CAE6AC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4BE6E-4083-5F8B-4372-F75DF0C3ED7A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Practical Section</a:t>
            </a:r>
          </a:p>
        </p:txBody>
      </p:sp>
      <p:pic>
        <p:nvPicPr>
          <p:cNvPr id="6146" name="Picture 2" descr="Python logo, icon. Programming language 44600750 Vector Art at Vecteezy">
            <a:extLst>
              <a:ext uri="{FF2B5EF4-FFF2-40B4-BE49-F238E27FC236}">
                <a16:creationId xmlns:a16="http://schemas.microsoft.com/office/drawing/2014/main" id="{997D3BEC-92EB-81C8-CD18-6ACD9F9CB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736750"/>
            <a:ext cx="4753238" cy="140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652A2A-F914-890D-329C-11AC45BFA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71228"/>
              </p:ext>
            </p:extLst>
          </p:nvPr>
        </p:nvGraphicFramePr>
        <p:xfrm>
          <a:off x="2209800" y="3712609"/>
          <a:ext cx="8509000" cy="1619250"/>
        </p:xfrm>
        <a:graphic>
          <a:graphicData uri="http://schemas.openxmlformats.org/drawingml/2006/table">
            <a:tbl>
              <a:tblPr/>
              <a:tblGrid>
                <a:gridCol w="8509000">
                  <a:extLst>
                    <a:ext uri="{9D8B030D-6E8A-4147-A177-3AD203B41FA5}">
                      <a16:colId xmlns:a16="http://schemas.microsoft.com/office/drawing/2014/main" val="2981097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Google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Colab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—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First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steps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4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Variables,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lists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dictionaries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loops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functions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95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Load a CSV, explore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it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filter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it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sort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it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88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One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chart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with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matplotlib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or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seaborn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—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histogram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or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bar chart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Students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modify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the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notebook solo: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change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filter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add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a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column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, re-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plot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50724"/>
                  </a:ext>
                </a:extLst>
              </a:tr>
            </a:tbl>
          </a:graphicData>
        </a:graphic>
      </p:graphicFrame>
      <p:sp>
        <p:nvSpPr>
          <p:cNvPr id="5" name="CuadroTexto 12">
            <a:extLst>
              <a:ext uri="{FF2B5EF4-FFF2-40B4-BE49-F238E27FC236}">
                <a16:creationId xmlns:a16="http://schemas.microsoft.com/office/drawing/2014/main" id="{BDBB5863-274C-24CA-8D66-BA51A8842EBF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37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EEE4-D228-E52A-EDA6-D36D1947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EBDFDDF-599D-F65D-C284-818BD339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BF19555-F0D8-1030-D7F5-C37C4BC567C8}"/>
              </a:ext>
            </a:extLst>
          </p:cNvPr>
          <p:cNvSpPr txBox="1"/>
          <p:nvPr/>
        </p:nvSpPr>
        <p:spPr>
          <a:xfrm>
            <a:off x="805870" y="3245747"/>
            <a:ext cx="106740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1: </a:t>
            </a:r>
            <a:r>
              <a:rPr lang="es-CL" sz="2800" b="1" dirty="0" err="1">
                <a:latin typeface="CMU Sans Serif" panose="02000603000000000000"/>
              </a:rPr>
              <a:t>Introduction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to</a:t>
            </a:r>
            <a:r>
              <a:rPr lang="es-CL" sz="2800" b="1" dirty="0">
                <a:latin typeface="CMU Sans Serif" panose="02000603000000000000"/>
              </a:rPr>
              <a:t> Business </a:t>
            </a:r>
            <a:r>
              <a:rPr lang="es-CL" sz="2800" b="1" dirty="0" err="1">
                <a:latin typeface="CMU Sans Serif" panose="02000603000000000000"/>
              </a:rPr>
              <a:t>Intelligence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I: Fundamentals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24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endParaRPr lang="es-CL" sz="2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2963376-4A67-3291-0467-00C5E376CFB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AB863C-9F64-195E-215D-D525F97BC6C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EBFBC538-54DF-4931-C592-5D09D7D17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D17138F2-F95C-5CFA-F11F-7A51421AC832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41BC2B6A-9892-C522-A54E-41A1C166D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972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50703</TotalTime>
  <Words>2792</Words>
  <Application>Microsoft Macintosh PowerPoint</Application>
  <PresentationFormat>Panorámica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-webkit-standard</vt:lpstr>
      <vt:lpstr>Arial</vt:lpstr>
      <vt:lpstr>Calibri</vt:lpstr>
      <vt:lpstr>Calibri Light</vt:lpstr>
      <vt:lpstr>CMU Sans Serif</vt:lpstr>
      <vt:lpstr>Helvetica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Sebastián Muñoz Herrera</cp:lastModifiedBy>
  <cp:revision>261</cp:revision>
  <cp:lastPrinted>2025-06-20T00:00:54Z</cp:lastPrinted>
  <dcterms:created xsi:type="dcterms:W3CDTF">2020-06-17T02:23:22Z</dcterms:created>
  <dcterms:modified xsi:type="dcterms:W3CDTF">2026-03-02T00:11:26Z</dcterms:modified>
</cp:coreProperties>
</file>
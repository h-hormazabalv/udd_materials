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347" r:id="rId2"/>
    <p:sldId id="386" r:id="rId3"/>
    <p:sldId id="387" r:id="rId4"/>
    <p:sldId id="388" r:id="rId5"/>
    <p:sldId id="389" r:id="rId6"/>
    <p:sldId id="390" r:id="rId7"/>
    <p:sldId id="391" r:id="rId8"/>
    <p:sldId id="392" r:id="rId9"/>
    <p:sldId id="393" r:id="rId10"/>
    <p:sldId id="401" r:id="rId11"/>
    <p:sldId id="394" r:id="rId12"/>
    <p:sldId id="402" r:id="rId13"/>
    <p:sldId id="397" r:id="rId14"/>
    <p:sldId id="398" r:id="rId15"/>
    <p:sldId id="399" r:id="rId16"/>
    <p:sldId id="400" r:id="rId17"/>
  </p:sldIdLst>
  <p:sldSz cx="12192000" cy="6858000"/>
  <p:notesSz cx="7010400" cy="92964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1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EEEEE"/>
    <a:srgbClr val="F2F2F2"/>
    <a:srgbClr val="3E7D13"/>
    <a:srgbClr val="C7621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Estilo me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2833802-FEF1-4C79-8D5D-14CF1EAF98D9}" styleName="Estilo claro 2 - Acento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9D7B26C5-4107-4FEC-AEDC-1716B250A1EF}" styleName="Estilo claro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EB344D84-9AFB-497E-A393-DC336BA19D2E}" styleName="Estilo medio 3 - Énfasis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46F890A9-2807-4EBB-B81D-B2AA78EC7F39}" styleName="Estilo oscuro 2 - Énfasis 5/Énfasis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F5AB1C69-6EDB-4FF4-983F-18BD219EF322}" styleName="Estilo medio 2 - Énfasis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A488322-F2BA-4B5B-9748-0D474271808F}" styleName="Estilo medio 3 - Énfasis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3296810-A885-4BE3-A3E7-6D5BEEA58F35}" styleName="Estilo medio 2 - Énfasis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4C1A8A3-306A-4EB7-A6B1-4F7E0EB9C5D6}" styleName="Estilo medio 3 - Énfasis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2514" autoAdjust="0"/>
    <p:restoredTop sz="93816" autoAdjust="0"/>
  </p:normalViewPr>
  <p:slideViewPr>
    <p:cSldViewPr snapToGrid="0">
      <p:cViewPr varScale="1">
        <p:scale>
          <a:sx n="60" d="100"/>
          <a:sy n="60" d="100"/>
        </p:scale>
        <p:origin x="32" y="40"/>
      </p:cViewPr>
      <p:guideLst>
        <p:guide orient="horz" pos="2160"/>
        <p:guide pos="3817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319" cy="46524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885" y="0"/>
            <a:ext cx="3038319" cy="46524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E4ED5A-871E-4544-8630-E130C4C6C60A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519" y="4473472"/>
            <a:ext cx="5607362" cy="366087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31160"/>
            <a:ext cx="3038319" cy="46524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885" y="8831160"/>
            <a:ext cx="3038319" cy="46524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DDB131-80DD-4B65-AB6A-E7BEF34656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05731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DDB131-80DD-4B65-AB6A-E7BEF34656D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58790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9B7FBC-ECEC-269D-215F-D162FFF9E1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D0AA30F-29AB-99C7-E2BE-399AEECB53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A0A463D-23AF-2853-E6A0-C64FF12940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2B35D8-E4D1-11C6-08FD-9B4D28EB76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DDB131-80DD-4B65-AB6A-E7BEF34656D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67368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DBA6EF-693C-4C88-77E7-25CB4DD8E7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958498-F40C-8108-92AF-F2956F7FD7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47FC56B-A7FF-22C6-FAC2-0C767FA49C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23505E-9432-6993-3C53-DC410F8644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DDB131-80DD-4B65-AB6A-E7BEF34656D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227700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C9CAB3-DA1D-5610-5A28-73BCC36144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3E7B17C-1E12-8A1A-31CE-1BBEA86616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13E94C9-6FF4-BA15-E62C-98D2574172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4B0817-08DB-A154-0E99-630C5C37D5D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DDB131-80DD-4B65-AB6A-E7BEF34656D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402531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91A5B1-3D3D-0B1D-EC76-D5E421FDEC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3458DA0-44F6-CC2F-25BE-FAF6540CD8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8821B54-AF02-04B3-99D1-CA8F667A4A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699C85-2B1C-6C19-F7D4-150C7178DE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DDB131-80DD-4B65-AB6A-E7BEF34656D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920073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E6860A-0C7A-1318-54E3-A4700F4361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BB3B3D-8153-0F61-049E-F69F9016E6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1C2025C-AA01-46D1-4764-755F44BF4C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8C6D47-652F-56C9-C690-2C475933DD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DDB131-80DD-4B65-AB6A-E7BEF34656D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503798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5FD285-CC6B-61CF-EC8E-B19D88C266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9528906-445F-21BE-125E-A807543A43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0CA9BD7-D783-5A38-6F58-BA3204F5C7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82A76D-2D92-9733-93EE-F865E028FAF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DDB131-80DD-4B65-AB6A-E7BEF34656D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323910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4E227E-3E0E-1EA3-34E8-32BCB5AA3F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1E575D5-7425-5843-3CA6-0C48DAF1A5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274ED29-9F24-5AB9-D389-612B127CA9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42BB4E-9C39-E56E-9369-FC681CEDA5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DDB131-80DD-4B65-AB6A-E7BEF34656D8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406634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C1F1FF-6A5D-0CE6-9CAF-AB18255D21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0F4E870-32E8-B7B4-6EDE-5AAEFDF9A2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DCBC1E1-CD67-8C68-3C1B-CCC84EC908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354FEC-B61F-B045-9421-4D122FEBE4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DDB131-80DD-4B65-AB6A-E7BEF34656D8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874574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EF76A8-BA65-65DA-F3DB-D0B058E233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EF16218-CDE5-5C87-2385-A14E0D7145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991096B-FC50-480E-46AE-50DDE5793B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09E365-F470-C5A7-BDF5-967FDF626F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DDB131-80DD-4B65-AB6A-E7BEF34656D8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155950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206194-3BC5-8242-09B8-00658557A9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CEC53FE-E352-46D0-B0A7-6D9198264A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282A05D-287C-BCB4-57FD-60DD0C07EA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72771C-7E87-8A62-64B2-227EED7FF99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DDB131-80DD-4B65-AB6A-E7BEF34656D8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869901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BE6833-B31C-A4B8-459A-EBD698E0F3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D223F6F-04A7-F546-0B56-7682DFD765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5CE79F1-54E2-5186-9594-65CF473E87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98340A-0E73-D6A4-CEC6-C11208F819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DDB131-80DD-4B65-AB6A-E7BEF34656D8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446396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2B5A35-40B5-D3B0-7274-89F73AA75C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B764074-2CCF-2D9B-0B5F-B462113DB6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A66F3D9-1988-E31B-5FCA-2415328759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00DDC1-5EEE-74F5-1E2D-F318934A3A9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DDB131-80DD-4B65-AB6A-E7BEF34656D8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218592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322D5D-119E-7EA2-050A-022588E6B3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33B85C5-C073-30ED-8B88-9E0AD273D7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2060673-E7B4-F037-FD28-F0868623EF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B61F66-2B6C-D978-5E16-656C5BFC009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DDB131-80DD-4B65-AB6A-E7BEF34656D8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170233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5E77B2-F958-9850-1D6F-F647B64980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8B6A983-CD7A-37A4-5BB3-400D0E4BA1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E12BE45-6F42-774F-0B35-E4ABB5F42E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694EB7-30E7-4EDB-A861-A8894C8CA8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DDB131-80DD-4B65-AB6A-E7BEF34656D8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51957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A4D2DB-6A61-8D60-B06A-EA04E1C2CB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AB84F7E-97D5-E723-75D2-BE43FBBE81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77E9213-3DE1-0B84-CBB4-3A2C2EBC3C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23B23E-7FF4-E029-4FDB-69A9BBA0C6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DDB131-80DD-4B65-AB6A-E7BEF34656D8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90628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956C58-2B93-42E6-9CDE-9F837FD256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05C6770-B59D-42DE-8D03-33D589292F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E4CA293-93F0-45BC-AEED-C2C5CACB10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7CACA-0C01-43AF-89B6-7E7D04E651FD}" type="datetimeFigureOut">
              <a:rPr lang="es-CL" smtClean="0"/>
              <a:t>18-03-2026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3C02EBB-1C18-4B40-9E89-BB18202929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43C7F92-FCE0-4C48-9DF2-E3D0BCA148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9E6D1-984B-46DC-8B61-3FBD39AB2AC1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1459508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E9B2EE1-8DA7-40DB-BA2A-E8DDD79516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4232485-33A6-4477-BC7D-3A41A400A8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4A453EC-9D11-420C-908E-46DF2A2805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7CACA-0C01-43AF-89B6-7E7D04E651FD}" type="datetimeFigureOut">
              <a:rPr lang="es-CL" smtClean="0"/>
              <a:t>18-03-2026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04CCEBC-7624-4694-894A-3BCD6F2A6B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66EE914-94B8-4E83-AA9E-2A9AC0EC9F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9E6D1-984B-46DC-8B61-3FBD39AB2AC1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8194238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E0A9B43-2E43-4C05-9059-3E27F939EF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E183005-9C20-4DB8-B2E5-A9486B397C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DE309D7-9A89-444B-887C-88C7421E3A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7CACA-0C01-43AF-89B6-7E7D04E651FD}" type="datetimeFigureOut">
              <a:rPr lang="es-CL" smtClean="0"/>
              <a:t>18-03-2026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5DE2309-E996-4689-B1F7-0824EC51FE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F63F54C-4F3F-4474-AAE9-4B507FEE45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9E6D1-984B-46DC-8B61-3FBD39AB2AC1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0622892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F0BB339-D80E-4259-8368-E6EFD0AB4B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9EC2EC6-7974-418B-8E94-2C518A4F024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17D232C-B60A-4B2F-8B56-6747734AB9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4E33A31-13D4-420A-B839-EFD089C961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7CACA-0C01-43AF-89B6-7E7D04E651FD}" type="datetimeFigureOut">
              <a:rPr lang="es-CL" smtClean="0"/>
              <a:t>18-03-2026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561612D-A82E-47A2-8E5C-246A0EF650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7CA155A-9C12-4DB8-94A5-5C9661D5AD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9E6D1-984B-46DC-8B61-3FBD39AB2AC1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7889362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C5EA5D3-7BFE-4B37-BC15-D96C1E2B99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1778144-4E19-4BAB-8A10-ECBC1024E0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C3E319A-2E77-4649-88E0-0D58E193B3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C6EEE07E-3A95-402D-8661-16201E634CE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A1DF6699-B7FF-4D87-B714-C8250A62B2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ABEE464B-0630-417F-9426-6F41055877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7CACA-0C01-43AF-89B6-7E7D04E651FD}" type="datetimeFigureOut">
              <a:rPr lang="es-CL" smtClean="0"/>
              <a:t>18-03-2026</a:t>
            </a:fld>
            <a:endParaRPr lang="es-CL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C77230FD-F75E-477F-B6BB-A67819A5C9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B13E43BC-990E-47A6-BA74-74A253545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9E6D1-984B-46DC-8B61-3FBD39AB2AC1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6429255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CCAEE56-0FF1-4325-8F11-2786437065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0AB73E8B-CF14-449E-A330-FD4D55ABCF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7CACA-0C01-43AF-89B6-7E7D04E651FD}" type="datetimeFigureOut">
              <a:rPr lang="es-CL" smtClean="0"/>
              <a:t>18-03-2026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8ED6F627-86B9-4779-8970-A1A3CB46AF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E597DC80-FC4F-4153-9057-8BA499A960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9E6D1-984B-46DC-8B61-3FBD39AB2AC1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7473189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CFB130DF-15A9-43A4-A61D-6C64CCDD5E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7CACA-0C01-43AF-89B6-7E7D04E651FD}" type="datetimeFigureOut">
              <a:rPr lang="es-CL" smtClean="0"/>
              <a:t>18-03-2026</a:t>
            </a:fld>
            <a:endParaRPr lang="es-CL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5AD7A77A-394A-45FF-B2EA-21D925C608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0CFBB0A-ED7E-4EAD-88E5-61C84ED0A7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9E6D1-984B-46DC-8B61-3FBD39AB2AC1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3852578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83349D5-CA78-4C19-9EB4-10733F9734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1F21E93-3261-4190-BBB2-63CFFB8F02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B23267E-E1FD-429E-812B-262712FAA4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57308A0-6CCE-4FB6-A66A-8DED7B0BAE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7CACA-0C01-43AF-89B6-7E7D04E651FD}" type="datetimeFigureOut">
              <a:rPr lang="es-CL" smtClean="0"/>
              <a:t>18-03-2026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FB5B204-5199-4782-8ECF-05C4C88E21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9130D90-8BAD-466C-9302-791EC3935E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9E6D1-984B-46DC-8B61-3FBD39AB2AC1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3866561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B59DA58-8A5F-4D02-9DF3-940B8113E0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8BB48E5E-FD10-4615-BCE6-8B9918FFA77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89B308F-814B-41E8-AC24-6DBC51133E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21376FD-A848-4D0E-8F32-EBA087517E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7CACA-0C01-43AF-89B6-7E7D04E651FD}" type="datetimeFigureOut">
              <a:rPr lang="es-CL" smtClean="0"/>
              <a:t>18-03-2026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4D63E9E-AEB2-4506-85D8-EC9CFB6AE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A30EB25-68F2-42CC-82D9-8282F1ABEA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9E6D1-984B-46DC-8B61-3FBD39AB2AC1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3602793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34D939-6827-460F-9BA9-D9EB24C6E1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34BD03BF-8A22-4428-A138-4FA0853833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0C56E2E-05B1-4962-96F4-2CCBE5F221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7CACA-0C01-43AF-89B6-7E7D04E651FD}" type="datetimeFigureOut">
              <a:rPr lang="es-CL" smtClean="0"/>
              <a:t>18-03-2026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8DB0A4B-301D-4744-860C-5B04C061FC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310D734-2B34-4F48-ADFF-283348839D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9E6D1-984B-46DC-8B61-3FBD39AB2AC1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0595938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00B3DBF-385A-45FB-BB2B-D0B84FCC153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6028EC30-4B1B-415C-9768-986A57C776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55CE1D7-8E47-4FD0-97C8-BFECC9B426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7CACA-0C01-43AF-89B6-7E7D04E651FD}" type="datetimeFigureOut">
              <a:rPr lang="es-CL" smtClean="0"/>
              <a:t>18-03-2026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CDB684F-50C6-4F1D-AD98-71083DC9F9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DFC2AFA-2622-46D5-B58E-83EC2B68A7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9E6D1-984B-46DC-8B61-3FBD39AB2AC1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2535826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E168C10C-7047-4062-9ADD-90AB7D69F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FD63B4F-A322-41B5-A16D-346326B6A1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C50213B-12DA-4E71-82AD-59E1E52FDF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47CACA-0C01-43AF-89B6-7E7D04E651FD}" type="datetimeFigureOut">
              <a:rPr lang="es-CL" smtClean="0"/>
              <a:t>18-03-2026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CEC55FC-5C84-4652-A1B2-C47F38EF5BC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7E626A3-7927-4E16-9E65-034576C929C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79E6D1-984B-46DC-8B61-3FBD39AB2AC1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1513566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jpe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microsoft.com/office/2007/relationships/hdphoto" Target="../media/hdphoto2.wdp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4.png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>
            <a:extLst>
              <a:ext uri="{FF2B5EF4-FFF2-40B4-BE49-F238E27FC236}">
                <a16:creationId xmlns:a16="http://schemas.microsoft.com/office/drawing/2014/main" id="{D6F9E438-2579-48BA-85C0-3831D3D026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6128" y="2417899"/>
            <a:ext cx="9980002" cy="2138249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794F2F35-203D-41CB-8506-3752C0BD239E}"/>
              </a:ext>
            </a:extLst>
          </p:cNvPr>
          <p:cNvSpPr txBox="1"/>
          <p:nvPr/>
        </p:nvSpPr>
        <p:spPr>
          <a:xfrm>
            <a:off x="805870" y="3245747"/>
            <a:ext cx="10674059" cy="22365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2800" b="1" dirty="0" err="1">
                <a:latin typeface="CMU Sans Serif" panose="02000603000000000000"/>
              </a:rPr>
              <a:t>Class</a:t>
            </a:r>
            <a:r>
              <a:rPr lang="es-CL" sz="2800" b="1" dirty="0">
                <a:latin typeface="CMU Sans Serif" panose="02000603000000000000"/>
              </a:rPr>
              <a:t> 3: </a:t>
            </a:r>
            <a:r>
              <a:rPr lang="es-CL" sz="2800" b="1" dirty="0" err="1">
                <a:latin typeface="CMU Sans Serif" panose="02000603000000000000"/>
              </a:rPr>
              <a:t>Introduction</a:t>
            </a:r>
            <a:r>
              <a:rPr lang="es-CL" sz="2800" b="1" dirty="0">
                <a:latin typeface="CMU Sans Serif" panose="02000603000000000000"/>
              </a:rPr>
              <a:t> to Business Intelligence</a:t>
            </a:r>
          </a:p>
          <a:p>
            <a:pPr algn="ctr"/>
            <a:r>
              <a:rPr lang="es-CL" sz="2400" dirty="0" err="1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Unit</a:t>
            </a:r>
            <a:r>
              <a:rPr lang="es-CL" sz="2400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I: </a:t>
            </a:r>
            <a:r>
              <a:rPr lang="en-US" sz="1800" b="1" dirty="0">
                <a:solidFill>
                  <a:srgbClr val="21212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Data </a:t>
            </a:r>
            <a:r>
              <a:rPr lang="en-US" b="1" dirty="0">
                <a:solidFill>
                  <a:srgbClr val="212121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Cleaning and Transformation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ctr"/>
            <a:endParaRPr lang="es-CL" sz="2400" dirty="0">
              <a:latin typeface="CMU Sans Serif" panose="02000603000000000000" pitchFamily="2" charset="0"/>
              <a:ea typeface="CMU Sans Serif" panose="02000603000000000000" pitchFamily="2" charset="0"/>
              <a:cs typeface="CMU Sans Serif" panose="02000603000000000000" pitchFamily="2" charset="0"/>
            </a:endParaRPr>
          </a:p>
          <a:p>
            <a:pPr algn="ctr"/>
            <a:endParaRPr lang="es-CL" sz="2000" dirty="0">
              <a:latin typeface="CMU Sans Serif" panose="02000603000000000000" pitchFamily="2" charset="0"/>
              <a:ea typeface="CMU Sans Serif" panose="02000603000000000000" pitchFamily="2" charset="0"/>
              <a:cs typeface="CMU Sans Serif" panose="02000603000000000000" pitchFamily="2" charset="0"/>
            </a:endParaRPr>
          </a:p>
          <a:p>
            <a:pPr algn="ctr"/>
            <a:endParaRPr lang="es-CL" sz="2000" dirty="0">
              <a:latin typeface="CMU Sans Serif" panose="02000603000000000000" pitchFamily="2" charset="0"/>
              <a:ea typeface="CMU Sans Serif" panose="02000603000000000000" pitchFamily="2" charset="0"/>
              <a:cs typeface="CMU Sans Serif" panose="02000603000000000000" pitchFamily="2" charset="0"/>
            </a:endParaRPr>
          </a:p>
          <a:p>
            <a:pPr algn="ctr"/>
            <a:endParaRPr lang="es-CL" sz="2000" dirty="0">
              <a:latin typeface="CMU Sans Serif" panose="02000603000000000000" pitchFamily="2" charset="0"/>
              <a:ea typeface="CMU Sans Serif" panose="02000603000000000000" pitchFamily="2" charset="0"/>
              <a:cs typeface="CMU Sans Serif" panose="02000603000000000000" pitchFamily="2" charset="0"/>
            </a:endParaRP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96B4FB7F-A091-4C02-86D9-92C1AE799E74}"/>
              </a:ext>
            </a:extLst>
          </p:cNvPr>
          <p:cNvPicPr>
            <a:picLocks noChangeAspect="1"/>
          </p:cNvPicPr>
          <p:nvPr/>
        </p:nvPicPr>
        <p:blipFill>
          <a:blip r:embed="rId4">
            <a:grayscl/>
          </a:blip>
          <a:stretch>
            <a:fillRect/>
          </a:stretch>
        </p:blipFill>
        <p:spPr>
          <a:xfrm>
            <a:off x="-4" y="3578"/>
            <a:ext cx="12192000" cy="399042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9D372040-6CA4-4A06-9D54-3777D0D8BBE2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prstClr val="black"/>
              <a:schemeClr val="tx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-4" y="6578525"/>
            <a:ext cx="12192000" cy="288870"/>
          </a:xfrm>
          <a:prstGeom prst="rect">
            <a:avLst/>
          </a:prstGeom>
        </p:spPr>
      </p:pic>
      <p:pic>
        <p:nvPicPr>
          <p:cNvPr id="1026" name="Picture 2" descr="Logos - Imagen UDD">
            <a:extLst>
              <a:ext uri="{FF2B5EF4-FFF2-40B4-BE49-F238E27FC236}">
                <a16:creationId xmlns:a16="http://schemas.microsoft.com/office/drawing/2014/main" id="{076CCFA2-EB6F-8536-54BC-13384D9CF1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84084" y="1324170"/>
            <a:ext cx="4100830" cy="14416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CuadroTexto 6">
            <a:extLst>
              <a:ext uri="{FF2B5EF4-FFF2-40B4-BE49-F238E27FC236}">
                <a16:creationId xmlns:a16="http://schemas.microsoft.com/office/drawing/2014/main" id="{832B43B6-E8D7-9865-7E68-C174319807ED}"/>
              </a:ext>
            </a:extLst>
          </p:cNvPr>
          <p:cNvSpPr txBox="1"/>
          <p:nvPr/>
        </p:nvSpPr>
        <p:spPr>
          <a:xfrm>
            <a:off x="3945218" y="5585882"/>
            <a:ext cx="437856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2000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Sebastián Muñoz-Herrera, PhD.</a:t>
            </a:r>
          </a:p>
          <a:p>
            <a:pPr algn="ctr"/>
            <a:r>
              <a:rPr lang="es-CL" sz="2000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Héctor Hormazábal </a:t>
            </a:r>
          </a:p>
          <a:p>
            <a:pPr algn="ctr"/>
            <a:endParaRPr lang="es-CL" sz="2000" dirty="0">
              <a:latin typeface="CMU Sans Serif" panose="02000603000000000000" pitchFamily="2" charset="0"/>
              <a:ea typeface="CMU Sans Serif" panose="02000603000000000000" pitchFamily="2" charset="0"/>
              <a:cs typeface="CMU Sans Serif" panose="02000603000000000000" pitchFamily="2" charset="0"/>
            </a:endParaRPr>
          </a:p>
        </p:txBody>
      </p:sp>
      <p:pic>
        <p:nvPicPr>
          <p:cNvPr id="6" name="Picture 2" descr="Facultad de Ingeniería UDD - YouTube">
            <a:extLst>
              <a:ext uri="{FF2B5EF4-FFF2-40B4-BE49-F238E27FC236}">
                <a16:creationId xmlns:a16="http://schemas.microsoft.com/office/drawing/2014/main" id="{0C274A01-ACE3-103C-AFB1-CF811B1EA8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90333" y="4778138"/>
            <a:ext cx="1796867" cy="17968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121862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1B42E4-FB51-393E-4F06-6460F1C923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Imagen 11">
            <a:extLst>
              <a:ext uri="{FF2B5EF4-FFF2-40B4-BE49-F238E27FC236}">
                <a16:creationId xmlns:a16="http://schemas.microsoft.com/office/drawing/2014/main" id="{1A3EC42F-03F5-0678-C56C-01A70C6EB6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6587658"/>
            <a:ext cx="12191996" cy="28887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87E7C392-A3D7-2792-D70A-62ED886F6EF7}"/>
              </a:ext>
            </a:extLst>
          </p:cNvPr>
          <p:cNvSpPr/>
          <p:nvPr/>
        </p:nvSpPr>
        <p:spPr>
          <a:xfrm>
            <a:off x="-4" y="0"/>
            <a:ext cx="12192000" cy="102412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6" name="CuadroTexto 12">
            <a:extLst>
              <a:ext uri="{FF2B5EF4-FFF2-40B4-BE49-F238E27FC236}">
                <a16:creationId xmlns:a16="http://schemas.microsoft.com/office/drawing/2014/main" id="{DB013D7C-6910-324A-931E-2860916070EC}"/>
              </a:ext>
            </a:extLst>
          </p:cNvPr>
          <p:cNvSpPr txBox="1"/>
          <p:nvPr/>
        </p:nvSpPr>
        <p:spPr>
          <a:xfrm>
            <a:off x="77001" y="6578525"/>
            <a:ext cx="133838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4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          </a:t>
            </a:r>
            <a:r>
              <a:rPr lang="es-CL" sz="12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Muñoz-Herrera and  Hormazábal	</a:t>
            </a:r>
            <a:r>
              <a:rPr lang="es-CL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                                                </a:t>
            </a:r>
            <a:r>
              <a:rPr lang="en-US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Clase 3: Data </a:t>
            </a:r>
            <a:r>
              <a:rPr lang="es-419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Cleaning and Transformation 		</a:t>
            </a:r>
            <a:r>
              <a:rPr lang="es-CL" sz="1200" b="1" dirty="0" err="1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Unit</a:t>
            </a:r>
            <a:r>
              <a:rPr lang="es-CL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1: Fundamentals of Business Intelligence     	   </a:t>
            </a:r>
            <a:endParaRPr lang="es-CL" sz="1400" dirty="0">
              <a:latin typeface="CMU Sans Serif" panose="02000603000000000000" pitchFamily="2" charset="0"/>
              <a:ea typeface="CMU Sans Serif" panose="02000603000000000000" pitchFamily="2" charset="0"/>
              <a:cs typeface="CMU Sans Serif" panose="02000603000000000000" pitchFamily="2" charset="0"/>
            </a:endParaRPr>
          </a:p>
        </p:txBody>
      </p:sp>
      <p:sp>
        <p:nvSpPr>
          <p:cNvPr id="7" name="TextBox 3">
            <a:extLst>
              <a:ext uri="{FF2B5EF4-FFF2-40B4-BE49-F238E27FC236}">
                <a16:creationId xmlns:a16="http://schemas.microsoft.com/office/drawing/2014/main" id="{1616B852-63A6-4684-9357-AC52515CBAE6}"/>
              </a:ext>
            </a:extLst>
          </p:cNvPr>
          <p:cNvSpPr txBox="1"/>
          <p:nvPr/>
        </p:nvSpPr>
        <p:spPr>
          <a:xfrm>
            <a:off x="174135" y="377797"/>
            <a:ext cx="119207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latin typeface="CMU Sans Serif" panose="02000603000000000000"/>
                <a:ea typeface="CMU Sans Serif" panose="02000603000000000000" pitchFamily="2" charset="0"/>
                <a:cs typeface="CMU Sans Serif" panose="02000603000000000000" pitchFamily="2" charset="0"/>
              </a:rPr>
              <a:t>Imputation</a:t>
            </a:r>
          </a:p>
        </p:txBody>
      </p:sp>
      <p:sp>
        <p:nvSpPr>
          <p:cNvPr id="35" name="Rectángulo redondeado 34">
            <a:extLst>
              <a:ext uri="{FF2B5EF4-FFF2-40B4-BE49-F238E27FC236}">
                <a16:creationId xmlns:a16="http://schemas.microsoft.com/office/drawing/2014/main" id="{66EA8BFD-0DE2-9E32-E8A0-D0B8FC4E1209}"/>
              </a:ext>
            </a:extLst>
          </p:cNvPr>
          <p:cNvSpPr/>
          <p:nvPr/>
        </p:nvSpPr>
        <p:spPr>
          <a:xfrm>
            <a:off x="692646" y="1286473"/>
            <a:ext cx="9970872" cy="984443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1B836A05-2860-CF90-C24E-FDBF2193BDEE}"/>
              </a:ext>
            </a:extLst>
          </p:cNvPr>
          <p:cNvSpPr txBox="1"/>
          <p:nvPr/>
        </p:nvSpPr>
        <p:spPr>
          <a:xfrm>
            <a:off x="919336" y="1405854"/>
            <a:ext cx="943489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just">
              <a:buNone/>
            </a:pPr>
            <a:r>
              <a:rPr lang="en-US" sz="2000" dirty="0">
                <a:solidFill>
                  <a:srgbClr val="1E293B"/>
                </a:solidFill>
                <a:latin typeface="Aptos" panose="020B0004020202020204" pitchFamily="34" charset="0"/>
                <a:cs typeface="Centaur Now Display" pitchFamily="2" charset="77"/>
              </a:rPr>
              <a:t>Imputation is the process of replacing missing values in a dataset with estimated substitutes, allowing analysis to proceed without discarding incomplete records.</a:t>
            </a:r>
            <a:endParaRPr lang="en-US" sz="2000" dirty="0">
              <a:latin typeface="Aptos" panose="020B0004020202020204" pitchFamily="34" charset="0"/>
              <a:cs typeface="Centaur Now Display" pitchFamily="2" charset="77"/>
            </a:endParaRPr>
          </a:p>
        </p:txBody>
      </p:sp>
      <p:pic>
        <p:nvPicPr>
          <p:cNvPr id="1026" name="Picture 2" descr="Pandas fillna() for Data Imputation">
            <a:extLst>
              <a:ext uri="{FF2B5EF4-FFF2-40B4-BE49-F238E27FC236}">
                <a16:creationId xmlns:a16="http://schemas.microsoft.com/office/drawing/2014/main" id="{B9EB6BA7-A9CB-B9C4-5D7D-F76671C7380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12" t="15067"/>
          <a:stretch>
            <a:fillRect/>
          </a:stretch>
        </p:blipFill>
        <p:spPr bwMode="auto">
          <a:xfrm>
            <a:off x="213172" y="2979823"/>
            <a:ext cx="4965786" cy="26984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7" name="Imagen 36">
            <a:extLst>
              <a:ext uri="{FF2B5EF4-FFF2-40B4-BE49-F238E27FC236}">
                <a16:creationId xmlns:a16="http://schemas.microsoft.com/office/drawing/2014/main" id="{A54C76FF-B8D8-484F-8B81-B949F9F22C9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694"/>
          <a:stretch>
            <a:fillRect/>
          </a:stretch>
        </p:blipFill>
        <p:spPr>
          <a:xfrm>
            <a:off x="5678082" y="3122486"/>
            <a:ext cx="6060003" cy="2929197"/>
          </a:xfrm>
          <a:prstGeom prst="rect">
            <a:avLst/>
          </a:prstGeom>
        </p:spPr>
      </p:pic>
      <p:sp>
        <p:nvSpPr>
          <p:cNvPr id="38" name="CuadroTexto 37">
            <a:extLst>
              <a:ext uri="{FF2B5EF4-FFF2-40B4-BE49-F238E27FC236}">
                <a16:creationId xmlns:a16="http://schemas.microsoft.com/office/drawing/2014/main" id="{8B3FC6A5-0945-C13E-59E4-0571CF752831}"/>
              </a:ext>
            </a:extLst>
          </p:cNvPr>
          <p:cNvSpPr txBox="1"/>
          <p:nvPr/>
        </p:nvSpPr>
        <p:spPr>
          <a:xfrm>
            <a:off x="5678082" y="2712602"/>
            <a:ext cx="231939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just">
              <a:buNone/>
            </a:pPr>
            <a:r>
              <a:rPr lang="en-US" sz="2000" dirty="0">
                <a:latin typeface="Aptos" panose="020B0004020202020204" pitchFamily="34" charset="0"/>
                <a:cs typeface="Centaur Now Display" pitchFamily="2" charset="77"/>
              </a:rPr>
              <a:t>Why this matter?</a:t>
            </a:r>
          </a:p>
        </p:txBody>
      </p:sp>
    </p:spTree>
    <p:extLst>
      <p:ext uri="{BB962C8B-B14F-4D97-AF65-F5344CB8AC3E}">
        <p14:creationId xmlns:p14="http://schemas.microsoft.com/office/powerpoint/2010/main" val="22053005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E8DEF4-0353-525B-CC6F-72DA7E0AAE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Imagen 11">
            <a:extLst>
              <a:ext uri="{FF2B5EF4-FFF2-40B4-BE49-F238E27FC236}">
                <a16:creationId xmlns:a16="http://schemas.microsoft.com/office/drawing/2014/main" id="{C060F74F-A9A1-1559-45BE-0CA73F2E011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6587658"/>
            <a:ext cx="12191996" cy="28887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46DC1AC3-5547-1028-10DB-A19CECD79B5D}"/>
              </a:ext>
            </a:extLst>
          </p:cNvPr>
          <p:cNvSpPr/>
          <p:nvPr/>
        </p:nvSpPr>
        <p:spPr>
          <a:xfrm>
            <a:off x="-4" y="0"/>
            <a:ext cx="12192000" cy="102412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7" name="TextBox 3">
            <a:extLst>
              <a:ext uri="{FF2B5EF4-FFF2-40B4-BE49-F238E27FC236}">
                <a16:creationId xmlns:a16="http://schemas.microsoft.com/office/drawing/2014/main" id="{CDDF4AE5-4949-8010-CD44-9AA0870BBA73}"/>
              </a:ext>
            </a:extLst>
          </p:cNvPr>
          <p:cNvSpPr txBox="1"/>
          <p:nvPr/>
        </p:nvSpPr>
        <p:spPr>
          <a:xfrm>
            <a:off x="174135" y="377797"/>
            <a:ext cx="119207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latin typeface="CMU Sans Serif" panose="02000603000000000000"/>
                <a:ea typeface="CMU Sans Serif" panose="02000603000000000000" pitchFamily="2" charset="0"/>
                <a:cs typeface="CMU Sans Serif" panose="02000603000000000000" pitchFamily="2" charset="0"/>
              </a:rPr>
              <a:t>Imputation: KNN Imputer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D0E1D94D-B352-9C56-1538-459B27F155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6516" y="2413337"/>
            <a:ext cx="4316507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L" altLang="es-CL" sz="1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K-</a:t>
            </a:r>
            <a:r>
              <a:rPr kumimoji="0" lang="es-CL" altLang="es-CL" sz="1800" b="1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Nearest</a:t>
            </a:r>
            <a:r>
              <a:rPr kumimoji="0" lang="es-CL" altLang="es-CL" sz="1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 </a:t>
            </a:r>
            <a:r>
              <a:rPr kumimoji="0" lang="es-CL" altLang="es-CL" sz="1800" b="1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Neighbors</a:t>
            </a:r>
            <a:r>
              <a:rPr kumimoji="0" lang="es-CL" altLang="es-CL" sz="1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 (KNN) </a:t>
            </a:r>
            <a:r>
              <a:rPr kumimoji="0" lang="es-CL" altLang="es-CL" sz="1800" b="1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Imputation</a:t>
            </a: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 </a:t>
            </a:r>
            <a:r>
              <a:rPr kumimoji="0" lang="es-CL" altLang="es-CL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fills</a:t>
            </a: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 in </a:t>
            </a:r>
            <a:r>
              <a:rPr kumimoji="0" lang="es-CL" altLang="es-CL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missing</a:t>
            </a: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 </a:t>
            </a:r>
            <a:r>
              <a:rPr kumimoji="0" lang="es-CL" altLang="es-CL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values</a:t>
            </a: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 </a:t>
            </a:r>
            <a:r>
              <a:rPr kumimoji="0" lang="es-CL" altLang="es-CL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by</a:t>
            </a: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 </a:t>
            </a:r>
            <a:r>
              <a:rPr kumimoji="0" lang="es-CL" altLang="es-CL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finding</a:t>
            </a: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 </a:t>
            </a:r>
            <a:r>
              <a:rPr kumimoji="0" lang="es-CL" altLang="es-CL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the</a:t>
            </a: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 </a:t>
            </a:r>
            <a:r>
              <a:rPr kumimoji="0" lang="es-CL" altLang="es-CL" sz="1800" b="0" i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k</a:t>
            </a: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 </a:t>
            </a:r>
            <a:r>
              <a:rPr kumimoji="0" lang="es-CL" altLang="es-CL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most</a:t>
            </a: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 similar </a:t>
            </a:r>
            <a:r>
              <a:rPr kumimoji="0" lang="es-CL" altLang="es-CL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rows</a:t>
            </a: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 (</a:t>
            </a:r>
            <a:r>
              <a:rPr kumimoji="0" lang="es-CL" altLang="es-CL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neighbors</a:t>
            </a: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) </a:t>
            </a:r>
            <a:r>
              <a:rPr kumimoji="0" lang="es-CL" altLang="es-CL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based</a:t>
            </a: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 </a:t>
            </a:r>
            <a:r>
              <a:rPr kumimoji="0" lang="es-CL" altLang="es-CL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on</a:t>
            </a: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 </a:t>
            </a:r>
            <a:r>
              <a:rPr kumimoji="0" lang="es-CL" altLang="es-CL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the</a:t>
            </a: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 </a:t>
            </a:r>
            <a:r>
              <a:rPr kumimoji="0" lang="es-CL" altLang="es-CL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available</a:t>
            </a: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 </a:t>
            </a:r>
            <a:r>
              <a:rPr kumimoji="0" lang="es-CL" altLang="es-CL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features</a:t>
            </a: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, </a:t>
            </a:r>
            <a:r>
              <a:rPr kumimoji="0" lang="es-CL" altLang="es-CL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then</a:t>
            </a: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 </a:t>
            </a:r>
            <a:r>
              <a:rPr kumimoji="0" lang="es-CL" altLang="es-CL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using</a:t>
            </a: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 </a:t>
            </a:r>
            <a:r>
              <a:rPr kumimoji="0" lang="es-CL" altLang="es-CL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their</a:t>
            </a: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 </a:t>
            </a:r>
            <a:r>
              <a:rPr kumimoji="0" lang="es-CL" altLang="es-CL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values</a:t>
            </a: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 </a:t>
            </a:r>
            <a:r>
              <a:rPr kumimoji="0" lang="es-CL" altLang="es-CL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to</a:t>
            </a: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 </a:t>
            </a:r>
            <a:r>
              <a:rPr kumimoji="0" lang="es-CL" altLang="es-CL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estimate</a:t>
            </a: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 </a:t>
            </a:r>
            <a:r>
              <a:rPr kumimoji="0" lang="es-CL" altLang="es-CL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the</a:t>
            </a: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 </a:t>
            </a:r>
            <a:r>
              <a:rPr kumimoji="0" lang="es-CL" altLang="es-CL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missing</a:t>
            </a: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 </a:t>
            </a:r>
            <a:r>
              <a:rPr kumimoji="0" lang="es-CL" altLang="es-CL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one</a:t>
            </a: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 — </a:t>
            </a:r>
            <a:r>
              <a:rPr kumimoji="0" lang="es-CL" altLang="es-CL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typically</a:t>
            </a: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 </a:t>
            </a:r>
            <a:r>
              <a:rPr kumimoji="0" lang="es-CL" altLang="es-CL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via</a:t>
            </a: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 mean (</a:t>
            </a:r>
            <a:r>
              <a:rPr kumimoji="0" lang="es-CL" altLang="es-CL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for</a:t>
            </a: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 </a:t>
            </a:r>
            <a:r>
              <a:rPr kumimoji="0" lang="es-CL" altLang="es-CL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numeric</a:t>
            </a: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) </a:t>
            </a:r>
            <a:r>
              <a:rPr kumimoji="0" lang="es-CL" altLang="es-CL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or</a:t>
            </a: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 </a:t>
            </a:r>
            <a:r>
              <a:rPr kumimoji="0" lang="es-CL" altLang="es-CL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mode</a:t>
            </a: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 (</a:t>
            </a:r>
            <a:r>
              <a:rPr kumimoji="0" lang="es-CL" altLang="es-CL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for</a:t>
            </a: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 </a:t>
            </a:r>
            <a:r>
              <a:rPr kumimoji="0" lang="es-CL" altLang="es-CL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categorical</a:t>
            </a: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).</a:t>
            </a:r>
            <a:endParaRPr kumimoji="0" lang="es-CL" altLang="es-CL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ptos" panose="020B0004020202020204" pitchFamily="34" charset="0"/>
            </a:endParaRPr>
          </a:p>
        </p:txBody>
      </p:sp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9BC18599-D2C2-CFAD-D6C0-5653B182EE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6431228"/>
              </p:ext>
            </p:extLst>
          </p:nvPr>
        </p:nvGraphicFramePr>
        <p:xfrm>
          <a:off x="5555130" y="2209837"/>
          <a:ext cx="5995896" cy="2438323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498974">
                  <a:extLst>
                    <a:ext uri="{9D8B030D-6E8A-4147-A177-3AD203B41FA5}">
                      <a16:colId xmlns:a16="http://schemas.microsoft.com/office/drawing/2014/main" val="3361277615"/>
                    </a:ext>
                  </a:extLst>
                </a:gridCol>
                <a:gridCol w="1498974">
                  <a:extLst>
                    <a:ext uri="{9D8B030D-6E8A-4147-A177-3AD203B41FA5}">
                      <a16:colId xmlns:a16="http://schemas.microsoft.com/office/drawing/2014/main" val="2697124124"/>
                    </a:ext>
                  </a:extLst>
                </a:gridCol>
                <a:gridCol w="1498974">
                  <a:extLst>
                    <a:ext uri="{9D8B030D-6E8A-4147-A177-3AD203B41FA5}">
                      <a16:colId xmlns:a16="http://schemas.microsoft.com/office/drawing/2014/main" val="3357270325"/>
                    </a:ext>
                  </a:extLst>
                </a:gridCol>
                <a:gridCol w="1498974">
                  <a:extLst>
                    <a:ext uri="{9D8B030D-6E8A-4147-A177-3AD203B41FA5}">
                      <a16:colId xmlns:a16="http://schemas.microsoft.com/office/drawing/2014/main" val="773271271"/>
                    </a:ext>
                  </a:extLst>
                </a:gridCol>
              </a:tblGrid>
              <a:tr h="39043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b="0" dirty="0" err="1">
                          <a:effectLst/>
                        </a:rPr>
                        <a:t>Person</a:t>
                      </a:r>
                      <a:endParaRPr lang="es-CL" b="0" dirty="0">
                        <a:effectLst/>
                      </a:endParaRPr>
                    </a:p>
                  </a:txBody>
                  <a:tcPr marL="95250" marR="95250" marT="57150" marB="571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b="0" dirty="0">
                          <a:effectLst/>
                        </a:rPr>
                        <a:t>Age</a:t>
                      </a:r>
                    </a:p>
                  </a:txBody>
                  <a:tcPr marL="95250" marR="95250" marT="57150" marB="571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b="0">
                          <a:effectLst/>
                        </a:rPr>
                        <a:t>Hours studied</a:t>
                      </a:r>
                    </a:p>
                  </a:txBody>
                  <a:tcPr marL="95250" marR="95250" marT="57150" marB="571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b="0">
                          <a:effectLst/>
                        </a:rPr>
                        <a:t>Score</a:t>
                      </a:r>
                    </a:p>
                  </a:txBody>
                  <a:tcPr marL="95250" marR="95250" marT="57150" marB="57150" anchor="ctr"/>
                </a:tc>
                <a:extLst>
                  <a:ext uri="{0D108BD9-81ED-4DB2-BD59-A6C34878D82A}">
                    <a16:rowId xmlns:a16="http://schemas.microsoft.com/office/drawing/2014/main" val="1045568132"/>
                  </a:ext>
                </a:extLst>
              </a:tr>
              <a:tr h="40957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>
                          <a:effectLst/>
                        </a:rPr>
                        <a:t>A</a:t>
                      </a:r>
                    </a:p>
                  </a:txBody>
                  <a:tcPr marL="95250" marR="95250" marT="66675" marB="66675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>
                          <a:effectLst/>
                        </a:rPr>
                        <a:t>20</a:t>
                      </a:r>
                    </a:p>
                  </a:txBody>
                  <a:tcPr marL="95250" marR="95250" marT="66675" marB="66675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>
                          <a:effectLst/>
                        </a:rPr>
                        <a:t>5</a:t>
                      </a:r>
                    </a:p>
                  </a:txBody>
                  <a:tcPr marL="95250" marR="95250" marT="66675" marB="66675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>
                          <a:effectLst/>
                        </a:rPr>
                        <a:t>70</a:t>
                      </a:r>
                    </a:p>
                  </a:txBody>
                  <a:tcPr marL="95250" marR="95250" marT="66675" marB="66675" anchor="ctr"/>
                </a:tc>
                <a:extLst>
                  <a:ext uri="{0D108BD9-81ED-4DB2-BD59-A6C34878D82A}">
                    <a16:rowId xmlns:a16="http://schemas.microsoft.com/office/drawing/2014/main" val="3657931983"/>
                  </a:ext>
                </a:extLst>
              </a:tr>
              <a:tr h="40957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dirty="0">
                          <a:effectLst/>
                        </a:rPr>
                        <a:t>B</a:t>
                      </a:r>
                    </a:p>
                  </a:txBody>
                  <a:tcPr marL="95250" marR="95250" marT="66675" marB="66675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>
                          <a:effectLst/>
                        </a:rPr>
                        <a:t>22</a:t>
                      </a:r>
                    </a:p>
                  </a:txBody>
                  <a:tcPr marL="95250" marR="95250" marT="66675" marB="66675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>
                          <a:effectLst/>
                        </a:rPr>
                        <a:t>3</a:t>
                      </a:r>
                    </a:p>
                  </a:txBody>
                  <a:tcPr marL="95250" marR="95250" marT="66675" marB="66675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>
                          <a:effectLst/>
                        </a:rPr>
                        <a:t>60</a:t>
                      </a:r>
                    </a:p>
                  </a:txBody>
                  <a:tcPr marL="95250" marR="95250" marT="66675" marB="66675" anchor="ctr"/>
                </a:tc>
                <a:extLst>
                  <a:ext uri="{0D108BD9-81ED-4DB2-BD59-A6C34878D82A}">
                    <a16:rowId xmlns:a16="http://schemas.microsoft.com/office/drawing/2014/main" val="2720343047"/>
                  </a:ext>
                </a:extLst>
              </a:tr>
              <a:tr h="40957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b="1" dirty="0">
                          <a:effectLst/>
                        </a:rPr>
                        <a:t>C</a:t>
                      </a:r>
                      <a:endParaRPr lang="es-CL" dirty="0">
                        <a:effectLst/>
                      </a:endParaRPr>
                    </a:p>
                  </a:txBody>
                  <a:tcPr marL="95250" marR="95250" marT="66675" marB="66675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>
                          <a:effectLst/>
                        </a:rPr>
                        <a:t>21</a:t>
                      </a:r>
                    </a:p>
                  </a:txBody>
                  <a:tcPr marL="95250" marR="95250" marT="66675" marB="66675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>
                          <a:effectLst/>
                        </a:rPr>
                        <a:t>4</a:t>
                      </a:r>
                    </a:p>
                  </a:txBody>
                  <a:tcPr marL="95250" marR="95250" marT="66675" marB="66675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b="0">
                          <a:solidFill>
                            <a:srgbClr val="993C1D"/>
                          </a:solidFill>
                          <a:effectLst/>
                        </a:rPr>
                        <a:t>?</a:t>
                      </a:r>
                      <a:endParaRPr lang="es-CL">
                        <a:effectLst/>
                      </a:endParaRPr>
                    </a:p>
                  </a:txBody>
                  <a:tcPr marL="95250" marR="95250" marT="66675" marB="66675" anchor="ctr"/>
                </a:tc>
                <a:extLst>
                  <a:ext uri="{0D108BD9-81ED-4DB2-BD59-A6C34878D82A}">
                    <a16:rowId xmlns:a16="http://schemas.microsoft.com/office/drawing/2014/main" val="1406371087"/>
                  </a:ext>
                </a:extLst>
              </a:tr>
              <a:tr h="40957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>
                          <a:effectLst/>
                        </a:rPr>
                        <a:t>D</a:t>
                      </a:r>
                    </a:p>
                  </a:txBody>
                  <a:tcPr marL="95250" marR="95250" marT="66675" marB="66675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>
                          <a:effectLst/>
                        </a:rPr>
                        <a:t>25</a:t>
                      </a:r>
                    </a:p>
                  </a:txBody>
                  <a:tcPr marL="95250" marR="95250" marT="66675" marB="66675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>
                          <a:effectLst/>
                        </a:rPr>
                        <a:t>2</a:t>
                      </a:r>
                    </a:p>
                  </a:txBody>
                  <a:tcPr marL="95250" marR="95250" marT="66675" marB="66675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dirty="0">
                          <a:effectLst/>
                        </a:rPr>
                        <a:t>50</a:t>
                      </a:r>
                    </a:p>
                  </a:txBody>
                  <a:tcPr marL="95250" marR="95250" marT="66675" marB="66675" anchor="ctr"/>
                </a:tc>
                <a:extLst>
                  <a:ext uri="{0D108BD9-81ED-4DB2-BD59-A6C34878D82A}">
                    <a16:rowId xmlns:a16="http://schemas.microsoft.com/office/drawing/2014/main" val="1081836138"/>
                  </a:ext>
                </a:extLst>
              </a:tr>
              <a:tr h="40957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>
                          <a:effectLst/>
                        </a:rPr>
                        <a:t>E</a:t>
                      </a:r>
                    </a:p>
                  </a:txBody>
                  <a:tcPr marL="95250" marR="95250" marT="66675" marB="66675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>
                          <a:effectLst/>
                        </a:rPr>
                        <a:t>19</a:t>
                      </a:r>
                    </a:p>
                  </a:txBody>
                  <a:tcPr marL="95250" marR="95250" marT="66675" marB="66675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>
                          <a:effectLst/>
                        </a:rPr>
                        <a:t>6</a:t>
                      </a:r>
                    </a:p>
                  </a:txBody>
                  <a:tcPr marL="95250" marR="95250" marT="66675" marB="66675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dirty="0">
                          <a:effectLst/>
                        </a:rPr>
                        <a:t>80</a:t>
                      </a:r>
                    </a:p>
                  </a:txBody>
                  <a:tcPr marL="95250" marR="95250" marT="66675" marB="66675" anchor="ctr"/>
                </a:tc>
                <a:extLst>
                  <a:ext uri="{0D108BD9-81ED-4DB2-BD59-A6C34878D82A}">
                    <a16:rowId xmlns:a16="http://schemas.microsoft.com/office/drawing/2014/main" val="3386977336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1037ECD5-E83A-6CD6-7876-0E3008AC6C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55130" y="1672565"/>
            <a:ext cx="4316507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L" altLang="es-CL" sz="1800" b="1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Example</a:t>
            </a:r>
            <a:r>
              <a:rPr kumimoji="0" lang="es-CL" altLang="es-CL" sz="1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:</a:t>
            </a:r>
            <a:endParaRPr kumimoji="0" lang="es-CL" altLang="es-CL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ptos" panose="020B0004020202020204" pitchFamily="34" charset="0"/>
            </a:endParaRP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66C307C4-4714-E22A-8798-B6B6BC1D534F}"/>
              </a:ext>
            </a:extLst>
          </p:cNvPr>
          <p:cNvSpPr/>
          <p:nvPr/>
        </p:nvSpPr>
        <p:spPr>
          <a:xfrm>
            <a:off x="10058400" y="3428998"/>
            <a:ext cx="1492626" cy="403414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0" name="CuadroTexto 12">
            <a:extLst>
              <a:ext uri="{FF2B5EF4-FFF2-40B4-BE49-F238E27FC236}">
                <a16:creationId xmlns:a16="http://schemas.microsoft.com/office/drawing/2014/main" id="{AF64CA55-292E-ECB3-A141-C1B4074439D2}"/>
              </a:ext>
            </a:extLst>
          </p:cNvPr>
          <p:cNvSpPr txBox="1"/>
          <p:nvPr/>
        </p:nvSpPr>
        <p:spPr>
          <a:xfrm>
            <a:off x="77001" y="6578525"/>
            <a:ext cx="133838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4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          </a:t>
            </a:r>
            <a:r>
              <a:rPr lang="es-CL" sz="12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Muñoz-Herrera and  Hormazábal	</a:t>
            </a:r>
            <a:r>
              <a:rPr lang="es-CL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                                                </a:t>
            </a:r>
            <a:r>
              <a:rPr lang="en-US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Clase 3: Data </a:t>
            </a:r>
            <a:r>
              <a:rPr lang="es-419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Cleaning and Transformation 		</a:t>
            </a:r>
            <a:r>
              <a:rPr lang="es-CL" sz="1200" b="1" dirty="0" err="1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Unit</a:t>
            </a:r>
            <a:r>
              <a:rPr lang="es-CL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1: Fundamentals of Business Intelligence     	   </a:t>
            </a:r>
            <a:endParaRPr lang="es-CL" sz="1400" dirty="0">
              <a:latin typeface="CMU Sans Serif" panose="02000603000000000000" pitchFamily="2" charset="0"/>
              <a:ea typeface="CMU Sans Serif" panose="02000603000000000000" pitchFamily="2" charset="0"/>
              <a:cs typeface="CMU Sans Serif" panose="02000603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44337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B1442D-A362-EE69-35B3-2C5EDC72E4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Imagen 11">
            <a:extLst>
              <a:ext uri="{FF2B5EF4-FFF2-40B4-BE49-F238E27FC236}">
                <a16:creationId xmlns:a16="http://schemas.microsoft.com/office/drawing/2014/main" id="{4EB8F4C4-1FF4-D93B-776C-DD97684369A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6587658"/>
            <a:ext cx="12191996" cy="28887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C4426639-4C4C-1578-C4E0-D18E56941036}"/>
              </a:ext>
            </a:extLst>
          </p:cNvPr>
          <p:cNvSpPr/>
          <p:nvPr/>
        </p:nvSpPr>
        <p:spPr>
          <a:xfrm>
            <a:off x="-4" y="0"/>
            <a:ext cx="12192000" cy="102412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7" name="TextBox 3">
            <a:extLst>
              <a:ext uri="{FF2B5EF4-FFF2-40B4-BE49-F238E27FC236}">
                <a16:creationId xmlns:a16="http://schemas.microsoft.com/office/drawing/2014/main" id="{6916D7D6-AD61-382F-3F3F-0B1844246BFF}"/>
              </a:ext>
            </a:extLst>
          </p:cNvPr>
          <p:cNvSpPr txBox="1"/>
          <p:nvPr/>
        </p:nvSpPr>
        <p:spPr>
          <a:xfrm>
            <a:off x="174135" y="377797"/>
            <a:ext cx="119207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latin typeface="CMU Sans Serif" panose="02000603000000000000"/>
                <a:ea typeface="CMU Sans Serif" panose="02000603000000000000" pitchFamily="2" charset="0"/>
                <a:cs typeface="CMU Sans Serif" panose="02000603000000000000" pitchFamily="2" charset="0"/>
              </a:rPr>
              <a:t>Imputation: KNN Imputer</a:t>
            </a:r>
          </a:p>
        </p:txBody>
      </p:sp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FEA145BC-E994-6B1E-8319-67F32A6DE2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6331125"/>
              </p:ext>
            </p:extLst>
          </p:nvPr>
        </p:nvGraphicFramePr>
        <p:xfrm>
          <a:off x="5555129" y="2209837"/>
          <a:ext cx="6399304" cy="2028746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599826">
                  <a:extLst>
                    <a:ext uri="{9D8B030D-6E8A-4147-A177-3AD203B41FA5}">
                      <a16:colId xmlns:a16="http://schemas.microsoft.com/office/drawing/2014/main" val="3361277615"/>
                    </a:ext>
                  </a:extLst>
                </a:gridCol>
                <a:gridCol w="1599826">
                  <a:extLst>
                    <a:ext uri="{9D8B030D-6E8A-4147-A177-3AD203B41FA5}">
                      <a16:colId xmlns:a16="http://schemas.microsoft.com/office/drawing/2014/main" val="2697124124"/>
                    </a:ext>
                  </a:extLst>
                </a:gridCol>
                <a:gridCol w="1599826">
                  <a:extLst>
                    <a:ext uri="{9D8B030D-6E8A-4147-A177-3AD203B41FA5}">
                      <a16:colId xmlns:a16="http://schemas.microsoft.com/office/drawing/2014/main" val="3357270325"/>
                    </a:ext>
                  </a:extLst>
                </a:gridCol>
                <a:gridCol w="1599826">
                  <a:extLst>
                    <a:ext uri="{9D8B030D-6E8A-4147-A177-3AD203B41FA5}">
                      <a16:colId xmlns:a16="http://schemas.microsoft.com/office/drawing/2014/main" val="773271271"/>
                    </a:ext>
                  </a:extLst>
                </a:gridCol>
              </a:tblGrid>
              <a:tr h="39043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b="0">
                          <a:effectLst/>
                        </a:rPr>
                        <a:t>Person</a:t>
                      </a:r>
                    </a:p>
                  </a:txBody>
                  <a:tcPr marL="95250" marR="95250" marT="57150" marB="571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b="0">
                          <a:effectLst/>
                        </a:rPr>
                        <a:t>Age diff²</a:t>
                      </a:r>
                    </a:p>
                  </a:txBody>
                  <a:tcPr marL="95250" marR="95250" marT="57150" marB="571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b="0">
                          <a:effectLst/>
                        </a:rPr>
                        <a:t>Hours diff²</a:t>
                      </a:r>
                    </a:p>
                  </a:txBody>
                  <a:tcPr marL="95250" marR="95250" marT="57150" marB="571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b="0">
                          <a:effectLst/>
                        </a:rPr>
                        <a:t>Distance</a:t>
                      </a:r>
                    </a:p>
                  </a:txBody>
                  <a:tcPr marL="95250" marR="95250" marT="57150" marB="57150" anchor="ctr"/>
                </a:tc>
                <a:extLst>
                  <a:ext uri="{0D108BD9-81ED-4DB2-BD59-A6C34878D82A}">
                    <a16:rowId xmlns:a16="http://schemas.microsoft.com/office/drawing/2014/main" val="1045568132"/>
                  </a:ext>
                </a:extLst>
              </a:tr>
              <a:tr h="40957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>
                          <a:effectLst/>
                        </a:rPr>
                        <a:t>A</a:t>
                      </a:r>
                    </a:p>
                  </a:txBody>
                  <a:tcPr marL="95250" marR="95250" marT="66675" marB="66675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>
                          <a:effectLst/>
                        </a:rPr>
                        <a:t>(20−21)² = 1</a:t>
                      </a:r>
                    </a:p>
                  </a:txBody>
                  <a:tcPr marL="95250" marR="95250" marT="66675" marB="66675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>
                          <a:effectLst/>
                        </a:rPr>
                        <a:t>(5−4)² = 1</a:t>
                      </a:r>
                    </a:p>
                  </a:txBody>
                  <a:tcPr marL="95250" marR="95250" marT="66675" marB="66675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>
                          <a:effectLst/>
                        </a:rPr>
                        <a:t>√(1+1) ≈ </a:t>
                      </a:r>
                      <a:r>
                        <a:rPr lang="es-CL" b="1">
                          <a:effectLst/>
                        </a:rPr>
                        <a:t>1.41</a:t>
                      </a:r>
                      <a:endParaRPr lang="es-CL">
                        <a:effectLst/>
                      </a:endParaRPr>
                    </a:p>
                  </a:txBody>
                  <a:tcPr marL="95250" marR="95250" marT="66675" marB="66675" anchor="ctr"/>
                </a:tc>
                <a:extLst>
                  <a:ext uri="{0D108BD9-81ED-4DB2-BD59-A6C34878D82A}">
                    <a16:rowId xmlns:a16="http://schemas.microsoft.com/office/drawing/2014/main" val="3657931983"/>
                  </a:ext>
                </a:extLst>
              </a:tr>
              <a:tr h="40957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>
                          <a:effectLst/>
                        </a:rPr>
                        <a:t>B</a:t>
                      </a:r>
                    </a:p>
                  </a:txBody>
                  <a:tcPr marL="95250" marR="95250" marT="66675" marB="66675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>
                          <a:effectLst/>
                        </a:rPr>
                        <a:t>(22−21)² = 1</a:t>
                      </a:r>
                    </a:p>
                  </a:txBody>
                  <a:tcPr marL="95250" marR="95250" marT="66675" marB="66675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>
                          <a:effectLst/>
                        </a:rPr>
                        <a:t>(3−4)² = 1</a:t>
                      </a:r>
                    </a:p>
                  </a:txBody>
                  <a:tcPr marL="95250" marR="95250" marT="66675" marB="66675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>
                          <a:effectLst/>
                        </a:rPr>
                        <a:t>√(1+1) ≈ </a:t>
                      </a:r>
                      <a:r>
                        <a:rPr lang="es-CL" b="1">
                          <a:effectLst/>
                        </a:rPr>
                        <a:t>1.41</a:t>
                      </a:r>
                      <a:endParaRPr lang="es-CL">
                        <a:effectLst/>
                      </a:endParaRPr>
                    </a:p>
                  </a:txBody>
                  <a:tcPr marL="95250" marR="95250" marT="66675" marB="66675" anchor="ctr"/>
                </a:tc>
                <a:extLst>
                  <a:ext uri="{0D108BD9-81ED-4DB2-BD59-A6C34878D82A}">
                    <a16:rowId xmlns:a16="http://schemas.microsoft.com/office/drawing/2014/main" val="2720343047"/>
                  </a:ext>
                </a:extLst>
              </a:tr>
              <a:tr h="40957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>
                          <a:effectLst/>
                        </a:rPr>
                        <a:t>D</a:t>
                      </a:r>
                    </a:p>
                  </a:txBody>
                  <a:tcPr marL="95250" marR="95250" marT="66675" marB="66675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>
                          <a:effectLst/>
                        </a:rPr>
                        <a:t>(25−21)² = 16</a:t>
                      </a:r>
                    </a:p>
                  </a:txBody>
                  <a:tcPr marL="95250" marR="95250" marT="66675" marB="66675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dirty="0">
                          <a:effectLst/>
                        </a:rPr>
                        <a:t>(2−4)² = 4</a:t>
                      </a:r>
                    </a:p>
                  </a:txBody>
                  <a:tcPr marL="95250" marR="95250" marT="66675" marB="66675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>
                          <a:effectLst/>
                        </a:rPr>
                        <a:t>√(16+4) ≈ </a:t>
                      </a:r>
                      <a:r>
                        <a:rPr lang="es-CL" b="1">
                          <a:effectLst/>
                        </a:rPr>
                        <a:t>4.47</a:t>
                      </a:r>
                      <a:endParaRPr lang="es-CL">
                        <a:effectLst/>
                      </a:endParaRPr>
                    </a:p>
                  </a:txBody>
                  <a:tcPr marL="95250" marR="95250" marT="66675" marB="66675" anchor="ctr"/>
                </a:tc>
                <a:extLst>
                  <a:ext uri="{0D108BD9-81ED-4DB2-BD59-A6C34878D82A}">
                    <a16:rowId xmlns:a16="http://schemas.microsoft.com/office/drawing/2014/main" val="1406371087"/>
                  </a:ext>
                </a:extLst>
              </a:tr>
              <a:tr h="40957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>
                          <a:effectLst/>
                        </a:rPr>
                        <a:t>E</a:t>
                      </a:r>
                    </a:p>
                  </a:txBody>
                  <a:tcPr marL="95250" marR="95250" marT="66675" marB="66675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>
                          <a:effectLst/>
                        </a:rPr>
                        <a:t>(19−21)² = 4</a:t>
                      </a:r>
                    </a:p>
                  </a:txBody>
                  <a:tcPr marL="95250" marR="95250" marT="66675" marB="66675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>
                          <a:effectLst/>
                        </a:rPr>
                        <a:t>(6−4)² = 4</a:t>
                      </a:r>
                    </a:p>
                  </a:txBody>
                  <a:tcPr marL="95250" marR="95250" marT="66675" marB="66675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dirty="0">
                          <a:effectLst/>
                        </a:rPr>
                        <a:t>√(4+4) ≈ </a:t>
                      </a:r>
                      <a:r>
                        <a:rPr lang="es-CL" b="1" dirty="0">
                          <a:effectLst/>
                        </a:rPr>
                        <a:t>2.83</a:t>
                      </a:r>
                      <a:endParaRPr lang="es-CL" dirty="0">
                        <a:effectLst/>
                      </a:endParaRPr>
                    </a:p>
                  </a:txBody>
                  <a:tcPr marL="95250" marR="95250" marT="66675" marB="66675" anchor="ctr"/>
                </a:tc>
                <a:extLst>
                  <a:ext uri="{0D108BD9-81ED-4DB2-BD59-A6C34878D82A}">
                    <a16:rowId xmlns:a16="http://schemas.microsoft.com/office/drawing/2014/main" val="1081836138"/>
                  </a:ext>
                </a:extLst>
              </a:tr>
            </a:tbl>
          </a:graphicData>
        </a:graphic>
      </p:graphicFrame>
      <p:sp>
        <p:nvSpPr>
          <p:cNvPr id="9" name="Rectangle 1">
            <a:extLst>
              <a:ext uri="{FF2B5EF4-FFF2-40B4-BE49-F238E27FC236}">
                <a16:creationId xmlns:a16="http://schemas.microsoft.com/office/drawing/2014/main" id="{EB1579E4-7CCC-B9F3-C181-0D86860942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4907" y="2400495"/>
            <a:ext cx="4610846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L" altLang="es-CL" b="1" i="0" u="none" strike="noStrike" cap="none" normalizeH="0" baseline="0" dirty="0">
                <a:ln>
                  <a:noFill/>
                </a:ln>
                <a:effectLst/>
                <a:latin typeface="Aptos" panose="020B0004020202020204" pitchFamily="34" charset="0"/>
              </a:rPr>
              <a:t>Step 1: </a:t>
            </a:r>
            <a:r>
              <a:rPr kumimoji="0" lang="es-CL" altLang="es-CL" b="0" i="0" u="none" strike="noStrike" cap="none" normalizeH="0" baseline="0" dirty="0" err="1">
                <a:ln>
                  <a:noFill/>
                </a:ln>
                <a:effectLst/>
                <a:latin typeface="Aptos" panose="020B0004020202020204" pitchFamily="34" charset="0"/>
              </a:rPr>
              <a:t>Calculate</a:t>
            </a:r>
            <a:r>
              <a:rPr kumimoji="0" lang="es-CL" altLang="es-CL" b="0" i="0" u="none" strike="noStrike" cap="none" normalizeH="0" baseline="0" dirty="0">
                <a:ln>
                  <a:noFill/>
                </a:ln>
                <a:effectLst/>
                <a:latin typeface="Aptos" panose="020B0004020202020204" pitchFamily="34" charset="0"/>
              </a:rPr>
              <a:t> </a:t>
            </a:r>
            <a:r>
              <a:rPr kumimoji="0" lang="es-CL" altLang="es-CL" b="0" i="0" u="none" strike="noStrike" cap="none" normalizeH="0" baseline="0" dirty="0" err="1">
                <a:ln>
                  <a:noFill/>
                </a:ln>
                <a:effectLst/>
                <a:latin typeface="Aptos" panose="020B0004020202020204" pitchFamily="34" charset="0"/>
              </a:rPr>
              <a:t>the</a:t>
            </a:r>
            <a:r>
              <a:rPr kumimoji="0" lang="es-CL" altLang="es-CL" b="0" i="0" u="none" strike="noStrike" cap="none" normalizeH="0" baseline="0" dirty="0">
                <a:ln>
                  <a:noFill/>
                </a:ln>
                <a:effectLst/>
                <a:latin typeface="Aptos" panose="020B0004020202020204" pitchFamily="34" charset="0"/>
              </a:rPr>
              <a:t> </a:t>
            </a:r>
            <a:r>
              <a:rPr kumimoji="0" lang="es-CL" altLang="es-CL" b="0" i="0" u="none" strike="noStrike" cap="none" normalizeH="0" baseline="0" dirty="0" err="1">
                <a:ln>
                  <a:noFill/>
                </a:ln>
                <a:effectLst/>
                <a:latin typeface="Aptos" panose="020B0004020202020204" pitchFamily="34" charset="0"/>
              </a:rPr>
              <a:t>euclidean</a:t>
            </a:r>
            <a:r>
              <a:rPr kumimoji="0" lang="es-CL" altLang="es-CL" b="0" i="0" u="none" strike="noStrike" cap="none" normalizeH="0" baseline="0" dirty="0">
                <a:ln>
                  <a:noFill/>
                </a:ln>
                <a:effectLst/>
                <a:latin typeface="Aptos" panose="020B0004020202020204" pitchFamily="34" charset="0"/>
              </a:rPr>
              <a:t> </a:t>
            </a:r>
            <a:r>
              <a:rPr kumimoji="0" lang="es-CL" altLang="es-CL" b="0" i="0" u="none" strike="noStrike" cap="none" normalizeH="0" baseline="0" dirty="0" err="1">
                <a:ln>
                  <a:noFill/>
                </a:ln>
                <a:effectLst/>
                <a:latin typeface="Aptos" panose="020B0004020202020204" pitchFamily="34" charset="0"/>
              </a:rPr>
              <a:t>distance</a:t>
            </a:r>
            <a:r>
              <a:rPr kumimoji="0" lang="es-CL" altLang="es-CL" b="0" i="0" u="none" strike="noStrike" cap="none" normalizeH="0" baseline="0" dirty="0">
                <a:ln>
                  <a:noFill/>
                </a:ln>
                <a:effectLst/>
                <a:latin typeface="Aptos" panose="020B0004020202020204" pitchFamily="34" charset="0"/>
              </a:rPr>
              <a:t> </a:t>
            </a:r>
            <a:r>
              <a:rPr kumimoji="0" lang="es-CL" altLang="es-CL" b="0" i="0" u="none" strike="noStrike" cap="none" normalizeH="0" baseline="0" dirty="0" err="1">
                <a:ln>
                  <a:noFill/>
                </a:ln>
                <a:effectLst/>
                <a:latin typeface="Aptos" panose="020B0004020202020204" pitchFamily="34" charset="0"/>
              </a:rPr>
              <a:t>between</a:t>
            </a:r>
            <a:r>
              <a:rPr kumimoji="0" lang="es-CL" altLang="es-CL" b="0" i="0" u="none" strike="noStrike" cap="none" normalizeH="0" baseline="0" dirty="0">
                <a:ln>
                  <a:noFill/>
                </a:ln>
                <a:effectLst/>
                <a:latin typeface="Aptos" panose="020B0004020202020204" pitchFamily="34" charset="0"/>
              </a:rPr>
              <a:t> C </a:t>
            </a:r>
            <a:r>
              <a:rPr kumimoji="0" lang="es-CL" altLang="es-CL" b="0" i="0" u="none" strike="noStrike" cap="none" normalizeH="0" baseline="0" dirty="0" err="1">
                <a:ln>
                  <a:noFill/>
                </a:ln>
                <a:effectLst/>
                <a:latin typeface="Aptos" panose="020B0004020202020204" pitchFamily="34" charset="0"/>
              </a:rPr>
              <a:t>to</a:t>
            </a:r>
            <a:r>
              <a:rPr kumimoji="0" lang="es-CL" altLang="es-CL" b="0" i="0" u="none" strike="noStrike" cap="none" normalizeH="0" baseline="0" dirty="0">
                <a:ln>
                  <a:noFill/>
                </a:ln>
                <a:effectLst/>
                <a:latin typeface="Aptos" panose="020B0004020202020204" pitchFamily="34" charset="0"/>
              </a:rPr>
              <a:t> </a:t>
            </a:r>
            <a:r>
              <a:rPr kumimoji="0" lang="es-CL" altLang="es-CL" b="0" i="0" u="none" strike="noStrike" cap="none" normalizeH="0" baseline="0" dirty="0" err="1">
                <a:ln>
                  <a:noFill/>
                </a:ln>
                <a:effectLst/>
                <a:latin typeface="Aptos" panose="020B0004020202020204" pitchFamily="34" charset="0"/>
              </a:rPr>
              <a:t>every</a:t>
            </a:r>
            <a:r>
              <a:rPr kumimoji="0" lang="es-CL" altLang="es-CL" b="0" i="0" u="none" strike="noStrike" cap="none" normalizeH="0" baseline="0" dirty="0">
                <a:ln>
                  <a:noFill/>
                </a:ln>
                <a:effectLst/>
                <a:latin typeface="Aptos" panose="020B0004020202020204" pitchFamily="34" charset="0"/>
              </a:rPr>
              <a:t> </a:t>
            </a:r>
            <a:r>
              <a:rPr kumimoji="0" lang="es-CL" altLang="es-CL" b="0" i="0" u="none" strike="noStrike" cap="none" normalizeH="0" baseline="0" dirty="0" err="1">
                <a:ln>
                  <a:noFill/>
                </a:ln>
                <a:effectLst/>
                <a:latin typeface="Aptos" panose="020B0004020202020204" pitchFamily="34" charset="0"/>
              </a:rPr>
              <a:t>other</a:t>
            </a:r>
            <a:r>
              <a:rPr kumimoji="0" lang="es-CL" altLang="es-CL" b="0" i="0" u="none" strike="noStrike" cap="none" normalizeH="0" baseline="0" dirty="0">
                <a:ln>
                  <a:noFill/>
                </a:ln>
                <a:effectLst/>
                <a:latin typeface="Aptos" panose="020B0004020202020204" pitchFamily="34" charset="0"/>
              </a:rPr>
              <a:t> </a:t>
            </a:r>
            <a:r>
              <a:rPr kumimoji="0" lang="es-CL" altLang="es-CL" b="0" i="0" u="none" strike="noStrike" cap="none" normalizeH="0" baseline="0" dirty="0" err="1">
                <a:ln>
                  <a:noFill/>
                </a:ln>
                <a:effectLst/>
                <a:latin typeface="Aptos" panose="020B0004020202020204" pitchFamily="34" charset="0"/>
              </a:rPr>
              <a:t>point</a:t>
            </a:r>
            <a:r>
              <a:rPr kumimoji="0" lang="es-CL" altLang="es-CL" b="0" i="0" u="none" strike="noStrike" cap="none" normalizeH="0" baseline="0" dirty="0">
                <a:ln>
                  <a:noFill/>
                </a:ln>
                <a:effectLst/>
                <a:latin typeface="Aptos" panose="020B0004020202020204" pitchFamily="34" charset="0"/>
              </a:rPr>
              <a:t> </a:t>
            </a:r>
            <a:r>
              <a:rPr kumimoji="0" lang="es-CL" altLang="es-CL" b="0" i="0" u="none" strike="noStrike" cap="none" normalizeH="0" baseline="0" dirty="0" err="1">
                <a:ln>
                  <a:noFill/>
                </a:ln>
                <a:effectLst/>
                <a:latin typeface="Aptos" panose="020B0004020202020204" pitchFamily="34" charset="0"/>
              </a:rPr>
              <a:t>using</a:t>
            </a:r>
            <a:r>
              <a:rPr kumimoji="0" lang="es-CL" altLang="es-CL" b="0" i="0" u="none" strike="noStrike" cap="none" normalizeH="0" baseline="0" dirty="0">
                <a:ln>
                  <a:noFill/>
                </a:ln>
                <a:effectLst/>
                <a:latin typeface="Aptos" panose="020B0004020202020204" pitchFamily="34" charset="0"/>
              </a:rPr>
              <a:t>:</a:t>
            </a:r>
            <a:endParaRPr kumimoji="0" lang="es-CL" altLang="es-CL" sz="4400" b="0" i="0" u="none" strike="noStrike" cap="none" normalizeH="0" baseline="0" dirty="0">
              <a:ln>
                <a:noFill/>
              </a:ln>
              <a:effectLst/>
              <a:latin typeface="Aptos" panose="020B00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uadroTexto 13">
                <a:extLst>
                  <a:ext uri="{FF2B5EF4-FFF2-40B4-BE49-F238E27FC236}">
                    <a16:creationId xmlns:a16="http://schemas.microsoft.com/office/drawing/2014/main" id="{86C16D3A-983C-A9C0-472C-C279C3B3A41A}"/>
                  </a:ext>
                </a:extLst>
              </p:cNvPr>
              <p:cNvSpPr txBox="1"/>
              <p:nvPr/>
            </p:nvSpPr>
            <p:spPr>
              <a:xfrm>
                <a:off x="632011" y="3261293"/>
                <a:ext cx="3762761" cy="33541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419" b="0" i="1" smtClean="0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s-419" b="0" i="1" smtClean="0">
                          <a:latin typeface="Cambria Math" panose="02040503050406030204" pitchFamily="18" charset="0"/>
                        </a:rPr>
                        <m:t>= </m:t>
                      </m:r>
                      <m:rad>
                        <m:radPr>
                          <m:degHide m:val="on"/>
                          <m:ctrlPr>
                            <a:rPr lang="es-419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s-419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419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s-419" i="1">
                                  <a:latin typeface="Cambria Math" panose="02040503050406030204" pitchFamily="18" charset="0"/>
                                </a:rPr>
                                <m:t>𝐴𝑔</m:t>
                              </m:r>
                              <m:sSub>
                                <m:sSubPr>
                                  <m:ctrlPr>
                                    <a:rPr lang="es-419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419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b>
                                  <m:r>
                                    <a:rPr lang="es-419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s-419" i="1">
                                  <a:latin typeface="Cambria Math" panose="02040503050406030204" pitchFamily="18" charset="0"/>
                                </a:rPr>
                                <m:t> −21</m:t>
                              </m:r>
                              <m:r>
                                <a:rPr lang="es-419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s-419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s-419" b="0" i="1" smtClean="0">
                              <a:latin typeface="Cambria Math" panose="02040503050406030204" pitchFamily="18" charset="0"/>
                            </a:rPr>
                            <m:t>+ </m:t>
                          </m:r>
                          <m:sSup>
                            <m:sSupPr>
                              <m:ctrlPr>
                                <a:rPr lang="es-419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419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s-419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419" b="0" i="1" smtClean="0">
                                      <a:latin typeface="Cambria Math" panose="02040503050406030204" pitchFamily="18" charset="0"/>
                                    </a:rPr>
                                    <m:t>𝐻𝑜𝑢𝑟𝑠</m:t>
                                  </m:r>
                                </m:e>
                                <m:sub>
                                  <m:r>
                                    <a:rPr lang="es-419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s-419" i="1">
                                  <a:latin typeface="Cambria Math" panose="02040503050406030204" pitchFamily="18" charset="0"/>
                                </a:rPr>
                                <m:t> −</m:t>
                              </m:r>
                              <m:r>
                                <a:rPr lang="es-419" b="0" i="1" smtClean="0">
                                  <a:latin typeface="Cambria Math" panose="02040503050406030204" pitchFamily="18" charset="0"/>
                                </a:rPr>
                                <m:t>4)</m:t>
                              </m:r>
                            </m:e>
                            <m:sup>
                              <m:r>
                                <a:rPr lang="es-419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es-CL" dirty="0"/>
              </a:p>
            </p:txBody>
          </p:sp>
        </mc:Choice>
        <mc:Fallback xmlns="">
          <p:sp>
            <p:nvSpPr>
              <p:cNvPr id="14" name="CuadroTexto 13">
                <a:extLst>
                  <a:ext uri="{FF2B5EF4-FFF2-40B4-BE49-F238E27FC236}">
                    <a16:creationId xmlns:a16="http://schemas.microsoft.com/office/drawing/2014/main" id="{86C16D3A-983C-A9C0-472C-C279C3B3A4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2011" y="3261293"/>
                <a:ext cx="3762761" cy="335413"/>
              </a:xfrm>
              <a:prstGeom prst="rect">
                <a:avLst/>
              </a:prstGeom>
              <a:blipFill>
                <a:blip r:embed="rId4"/>
                <a:stretch>
                  <a:fillRect l="-1007" b="-25000"/>
                </a:stretch>
              </a:blipFill>
            </p:spPr>
            <p:txBody>
              <a:bodyPr/>
              <a:lstStyle/>
              <a:p>
                <a:r>
                  <a:rPr lang="es-C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CuadroTexto 12">
            <a:extLst>
              <a:ext uri="{FF2B5EF4-FFF2-40B4-BE49-F238E27FC236}">
                <a16:creationId xmlns:a16="http://schemas.microsoft.com/office/drawing/2014/main" id="{44B8658F-AE61-4CD7-8CF8-045ADD53ECDE}"/>
              </a:ext>
            </a:extLst>
          </p:cNvPr>
          <p:cNvSpPr txBox="1"/>
          <p:nvPr/>
        </p:nvSpPr>
        <p:spPr>
          <a:xfrm>
            <a:off x="77001" y="6578525"/>
            <a:ext cx="133838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4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          </a:t>
            </a:r>
            <a:r>
              <a:rPr lang="es-CL" sz="12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Muñoz-Herrera and  Hormazábal	</a:t>
            </a:r>
            <a:r>
              <a:rPr lang="es-CL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                                                </a:t>
            </a:r>
            <a:r>
              <a:rPr lang="en-US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Clase 3: Data </a:t>
            </a:r>
            <a:r>
              <a:rPr lang="es-419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Cleaning and Transformation 		</a:t>
            </a:r>
            <a:r>
              <a:rPr lang="es-CL" sz="1200" b="1" dirty="0" err="1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Unit</a:t>
            </a:r>
            <a:r>
              <a:rPr lang="es-CL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1: Fundamentals of Business Intelligence     	   </a:t>
            </a:r>
            <a:endParaRPr lang="es-CL" sz="1400" dirty="0">
              <a:latin typeface="CMU Sans Serif" panose="02000603000000000000" pitchFamily="2" charset="0"/>
              <a:ea typeface="CMU Sans Serif" panose="02000603000000000000" pitchFamily="2" charset="0"/>
              <a:cs typeface="CMU Sans Serif" panose="02000603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61765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43969B-7506-22FD-B846-FA26E9E804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Imagen 11">
            <a:extLst>
              <a:ext uri="{FF2B5EF4-FFF2-40B4-BE49-F238E27FC236}">
                <a16:creationId xmlns:a16="http://schemas.microsoft.com/office/drawing/2014/main" id="{F8373A1B-D9C6-DC69-69AC-39E04DF8A83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6587658"/>
            <a:ext cx="12191996" cy="28887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16CFA069-3FAD-5BE8-0D6D-07F02F4AC525}"/>
              </a:ext>
            </a:extLst>
          </p:cNvPr>
          <p:cNvSpPr/>
          <p:nvPr/>
        </p:nvSpPr>
        <p:spPr>
          <a:xfrm>
            <a:off x="-4" y="0"/>
            <a:ext cx="12192000" cy="102412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7" name="TextBox 3">
            <a:extLst>
              <a:ext uri="{FF2B5EF4-FFF2-40B4-BE49-F238E27FC236}">
                <a16:creationId xmlns:a16="http://schemas.microsoft.com/office/drawing/2014/main" id="{4D36F916-F9BF-AAE0-042A-2A72BFD43EFC}"/>
              </a:ext>
            </a:extLst>
          </p:cNvPr>
          <p:cNvSpPr txBox="1"/>
          <p:nvPr/>
        </p:nvSpPr>
        <p:spPr>
          <a:xfrm>
            <a:off x="174135" y="377797"/>
            <a:ext cx="119207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latin typeface="CMU Sans Serif" panose="02000603000000000000"/>
                <a:ea typeface="CMU Sans Serif" panose="02000603000000000000" pitchFamily="2" charset="0"/>
                <a:cs typeface="CMU Sans Serif" panose="02000603000000000000" pitchFamily="2" charset="0"/>
              </a:rPr>
              <a:t>Imputation: KNN Imputer</a:t>
            </a:r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56CA69BF-52CF-23F2-A9A4-B7EFF95F05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4907" y="2200440"/>
            <a:ext cx="4610846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L" altLang="es-CL" b="1" i="0" u="none" strike="noStrike" cap="none" normalizeH="0" baseline="0" dirty="0">
                <a:ln>
                  <a:noFill/>
                </a:ln>
                <a:effectLst/>
                <a:latin typeface="Aptos" panose="020B0004020202020204" pitchFamily="34" charset="0"/>
              </a:rPr>
              <a:t>Step 2: </a:t>
            </a:r>
            <a:r>
              <a:rPr lang="es-CL" altLang="es-CL" dirty="0">
                <a:latin typeface="Aptos" panose="020B0004020202020204" pitchFamily="34" charset="0"/>
              </a:rPr>
              <a:t>Pick up </a:t>
            </a:r>
            <a:r>
              <a:rPr lang="es-CL" altLang="es-CL" dirty="0" err="1">
                <a:latin typeface="Aptos" panose="020B0004020202020204" pitchFamily="34" charset="0"/>
              </a:rPr>
              <a:t>the</a:t>
            </a:r>
            <a:r>
              <a:rPr lang="es-CL" altLang="es-CL" dirty="0">
                <a:latin typeface="Aptos" panose="020B0004020202020204" pitchFamily="34" charset="0"/>
              </a:rPr>
              <a:t> 2-nearest </a:t>
            </a:r>
            <a:r>
              <a:rPr lang="es-CL" altLang="es-CL" dirty="0" err="1">
                <a:latin typeface="Aptos" panose="020B0004020202020204" pitchFamily="34" charset="0"/>
              </a:rPr>
              <a:t>neighbors</a:t>
            </a:r>
            <a:r>
              <a:rPr lang="es-CL" altLang="es-CL" dirty="0">
                <a:latin typeface="Aptos" panose="020B0004020202020204" pitchFamily="34" charset="0"/>
              </a:rPr>
              <a:t>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CL" altLang="es-CL" sz="4400" b="0" i="0" u="none" strike="noStrike" cap="none" normalizeH="0" baseline="0" dirty="0">
              <a:ln>
                <a:noFill/>
              </a:ln>
              <a:effectLst/>
              <a:latin typeface="Aptos" panose="020B0004020202020204" pitchFamily="34" charset="0"/>
            </a:endParaRPr>
          </a:p>
        </p:txBody>
      </p:sp>
      <p:sp>
        <p:nvSpPr>
          <p:cNvPr id="11" name="Rectangle 4">
            <a:extLst>
              <a:ext uri="{FF2B5EF4-FFF2-40B4-BE49-F238E27FC236}">
                <a16:creationId xmlns:a16="http://schemas.microsoft.com/office/drawing/2014/main" id="{B60A5BAF-65CF-1C06-D9FF-1E05119128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5405" y="2777065"/>
            <a:ext cx="8036859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s-CL" altLang="es-CL" sz="1600" b="0" i="0" u="none" strike="noStrike" cap="none" normalizeH="0" baseline="0" dirty="0" err="1">
                <a:ln>
                  <a:noFill/>
                </a:ln>
                <a:effectLst/>
                <a:latin typeface="Aptos" panose="020B0004020202020204" pitchFamily="34" charset="0"/>
              </a:rPr>
              <a:t>Sorted</a:t>
            </a:r>
            <a:r>
              <a:rPr kumimoji="0" lang="es-CL" altLang="es-CL" sz="1600" b="0" i="0" u="none" strike="noStrike" cap="none" normalizeH="0" baseline="0" dirty="0">
                <a:ln>
                  <a:noFill/>
                </a:ln>
                <a:effectLst/>
                <a:latin typeface="Aptos" panose="020B0004020202020204" pitchFamily="34" charset="0"/>
              </a:rPr>
              <a:t> </a:t>
            </a:r>
            <a:r>
              <a:rPr kumimoji="0" lang="es-CL" altLang="es-CL" sz="1600" b="0" i="0" u="none" strike="noStrike" cap="none" normalizeH="0" baseline="0" dirty="0" err="1">
                <a:ln>
                  <a:noFill/>
                </a:ln>
                <a:effectLst/>
                <a:latin typeface="Aptos" panose="020B0004020202020204" pitchFamily="34" charset="0"/>
              </a:rPr>
              <a:t>by</a:t>
            </a:r>
            <a:r>
              <a:rPr kumimoji="0" lang="es-CL" altLang="es-CL" sz="1600" b="0" i="0" u="none" strike="noStrike" cap="none" normalizeH="0" baseline="0" dirty="0">
                <a:ln>
                  <a:noFill/>
                </a:ln>
                <a:effectLst/>
                <a:latin typeface="Aptos" panose="020B0004020202020204" pitchFamily="34" charset="0"/>
              </a:rPr>
              <a:t> </a:t>
            </a:r>
            <a:r>
              <a:rPr kumimoji="0" lang="es-CL" altLang="es-CL" sz="1600" b="0" i="0" u="none" strike="noStrike" cap="none" normalizeH="0" baseline="0" dirty="0" err="1">
                <a:ln>
                  <a:noFill/>
                </a:ln>
                <a:effectLst/>
                <a:latin typeface="Aptos" panose="020B0004020202020204" pitchFamily="34" charset="0"/>
              </a:rPr>
              <a:t>distance</a:t>
            </a:r>
            <a:r>
              <a:rPr kumimoji="0" lang="es-CL" altLang="es-CL" sz="1600" b="0" i="0" u="none" strike="noStrike" cap="none" normalizeH="0" baseline="0" dirty="0">
                <a:ln>
                  <a:noFill/>
                </a:ln>
                <a:effectLst/>
                <a:latin typeface="Aptos" panose="020B0004020202020204" pitchFamily="34" charset="0"/>
              </a:rPr>
              <a:t>: 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kumimoji="0" lang="es-CL" altLang="es-CL" sz="1600" b="1" i="0" u="none" strike="noStrike" cap="none" normalizeH="0" baseline="0" dirty="0">
                <a:ln>
                  <a:noFill/>
                </a:ln>
                <a:effectLst/>
                <a:latin typeface="Aptos" panose="020B0004020202020204" pitchFamily="34" charset="0"/>
              </a:rPr>
              <a:t>A (1.41)</a:t>
            </a:r>
            <a:endParaRPr lang="es-CL" altLang="es-CL" sz="1600" dirty="0">
              <a:latin typeface="Aptos" panose="020B0004020202020204" pitchFamily="34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kumimoji="0" lang="es-CL" altLang="es-CL" sz="1600" b="1" i="0" u="none" strike="noStrike" cap="none" normalizeH="0" baseline="0" dirty="0">
                <a:ln>
                  <a:noFill/>
                </a:ln>
                <a:effectLst/>
                <a:latin typeface="Aptos" panose="020B0004020202020204" pitchFamily="34" charset="0"/>
              </a:rPr>
              <a:t>B (1.41)</a:t>
            </a:r>
            <a:endParaRPr lang="es-CL" altLang="es-CL" sz="1600" dirty="0">
              <a:latin typeface="Aptos" panose="020B0004020202020204" pitchFamily="34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kumimoji="0" lang="es-CL" altLang="es-CL" sz="1600" b="0" i="0" u="none" strike="noStrike" cap="none" normalizeH="0" baseline="0" dirty="0">
                <a:ln>
                  <a:noFill/>
                </a:ln>
                <a:effectLst/>
                <a:latin typeface="Aptos" panose="020B0004020202020204" pitchFamily="34" charset="0"/>
              </a:rPr>
              <a:t>E (2.83)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kumimoji="0" lang="es-CL" altLang="es-CL" sz="1600" b="0" i="0" u="none" strike="noStrike" cap="none" normalizeH="0" baseline="0" dirty="0">
                <a:ln>
                  <a:noFill/>
                </a:ln>
                <a:effectLst/>
                <a:latin typeface="Aptos" panose="020B0004020202020204" pitchFamily="34" charset="0"/>
              </a:rPr>
              <a:t>D (4.47)</a:t>
            </a:r>
            <a:endParaRPr lang="es-CL" altLang="es-CL" sz="1600" dirty="0">
              <a:latin typeface="Aptos" panose="020B00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s-CL" altLang="es-CL" sz="1600" b="0" i="0" u="none" strike="noStrike" cap="none" normalizeH="0" baseline="0" dirty="0">
              <a:ln>
                <a:noFill/>
              </a:ln>
              <a:effectLst/>
              <a:latin typeface="Aptos" panose="020B00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s-CL" altLang="es-CL" sz="1600" b="0" i="0" u="none" strike="noStrike" cap="none" normalizeH="0" baseline="0" dirty="0">
                <a:ln>
                  <a:noFill/>
                </a:ln>
                <a:effectLst/>
                <a:latin typeface="Aptos" panose="020B0004020202020204" pitchFamily="34" charset="0"/>
              </a:rPr>
              <a:t> 2 </a:t>
            </a:r>
            <a:r>
              <a:rPr kumimoji="0" lang="es-CL" altLang="es-CL" sz="1600" b="0" i="0" u="none" strike="noStrike" cap="none" normalizeH="0" baseline="0" dirty="0" err="1">
                <a:ln>
                  <a:noFill/>
                </a:ln>
                <a:effectLst/>
                <a:latin typeface="Aptos" panose="020B0004020202020204" pitchFamily="34" charset="0"/>
              </a:rPr>
              <a:t>nearest</a:t>
            </a:r>
            <a:r>
              <a:rPr kumimoji="0" lang="es-CL" altLang="es-CL" sz="1600" b="0" i="0" u="none" strike="noStrike" cap="none" normalizeH="0" baseline="0" dirty="0">
                <a:ln>
                  <a:noFill/>
                </a:ln>
                <a:effectLst/>
                <a:latin typeface="Aptos" panose="020B0004020202020204" pitchFamily="34" charset="0"/>
              </a:rPr>
              <a:t> </a:t>
            </a:r>
            <a:r>
              <a:rPr kumimoji="0" lang="es-CL" altLang="es-CL" sz="1600" b="0" i="0" u="none" strike="noStrike" cap="none" normalizeH="0" baseline="0" dirty="0" err="1">
                <a:ln>
                  <a:noFill/>
                </a:ln>
                <a:effectLst/>
                <a:latin typeface="Aptos" panose="020B0004020202020204" pitchFamily="34" charset="0"/>
              </a:rPr>
              <a:t>neighbors</a:t>
            </a:r>
            <a:r>
              <a:rPr kumimoji="0" lang="es-CL" altLang="es-CL" sz="1600" b="0" i="0" u="none" strike="noStrike" cap="none" normalizeH="0" baseline="0" dirty="0">
                <a:ln>
                  <a:noFill/>
                </a:ln>
                <a:effectLst/>
                <a:latin typeface="Aptos" panose="020B0004020202020204" pitchFamily="34" charset="0"/>
              </a:rPr>
              <a:t> are </a:t>
            </a:r>
            <a:r>
              <a:rPr kumimoji="0" lang="es-CL" altLang="es-CL" sz="1600" b="1" i="0" u="none" strike="noStrike" cap="none" normalizeH="0" baseline="0" dirty="0">
                <a:ln>
                  <a:noFill/>
                </a:ln>
                <a:effectLst/>
                <a:latin typeface="Aptos" panose="020B0004020202020204" pitchFamily="34" charset="0"/>
              </a:rPr>
              <a:t>A</a:t>
            </a:r>
            <a:r>
              <a:rPr kumimoji="0" lang="es-CL" altLang="es-CL" sz="1600" b="0" i="0" u="none" strike="noStrike" cap="none" normalizeH="0" baseline="0" dirty="0">
                <a:ln>
                  <a:noFill/>
                </a:ln>
                <a:effectLst/>
                <a:latin typeface="Aptos" panose="020B0004020202020204" pitchFamily="34" charset="0"/>
              </a:rPr>
              <a:t> and </a:t>
            </a:r>
            <a:r>
              <a:rPr kumimoji="0" lang="es-CL" altLang="es-CL" sz="1600" b="1" i="0" u="none" strike="noStrike" cap="none" normalizeH="0" baseline="0" dirty="0">
                <a:ln>
                  <a:noFill/>
                </a:ln>
                <a:effectLst/>
                <a:latin typeface="Aptos" panose="020B0004020202020204" pitchFamily="34" charset="0"/>
              </a:rPr>
              <a:t>B</a:t>
            </a:r>
            <a:endParaRPr kumimoji="0" lang="es-CL" altLang="es-CL" sz="3600" b="0" i="0" u="none" strike="noStrike" cap="none" normalizeH="0" baseline="0" dirty="0">
              <a:ln>
                <a:noFill/>
              </a:ln>
              <a:effectLst/>
              <a:latin typeface="Aptos" panose="020B0004020202020204" pitchFamily="34" charset="0"/>
            </a:endParaRPr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01DE34E0-949F-669F-59BF-A9287065A89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5255" y="1302706"/>
            <a:ext cx="6771340" cy="4801496"/>
          </a:xfrm>
          <a:prstGeom prst="rect">
            <a:avLst/>
          </a:prstGeom>
        </p:spPr>
      </p:pic>
      <p:sp>
        <p:nvSpPr>
          <p:cNvPr id="16" name="CuadroTexto 12">
            <a:extLst>
              <a:ext uri="{FF2B5EF4-FFF2-40B4-BE49-F238E27FC236}">
                <a16:creationId xmlns:a16="http://schemas.microsoft.com/office/drawing/2014/main" id="{050068FE-ECF7-E0A1-E546-230BBC91A3D4}"/>
              </a:ext>
            </a:extLst>
          </p:cNvPr>
          <p:cNvSpPr txBox="1"/>
          <p:nvPr/>
        </p:nvSpPr>
        <p:spPr>
          <a:xfrm>
            <a:off x="77001" y="6578525"/>
            <a:ext cx="133838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4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          </a:t>
            </a:r>
            <a:r>
              <a:rPr lang="es-CL" sz="12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Muñoz-Herrera and  Hormazábal	</a:t>
            </a:r>
            <a:r>
              <a:rPr lang="es-CL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                                                </a:t>
            </a:r>
            <a:r>
              <a:rPr lang="en-US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Clase 3: Data </a:t>
            </a:r>
            <a:r>
              <a:rPr lang="es-419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Cleaning and Transformation 		</a:t>
            </a:r>
            <a:r>
              <a:rPr lang="es-CL" sz="1200" b="1" dirty="0" err="1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Unit</a:t>
            </a:r>
            <a:r>
              <a:rPr lang="es-CL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1: Fundamentals of Business Intelligence     	   </a:t>
            </a:r>
            <a:endParaRPr lang="es-CL" sz="1400" dirty="0">
              <a:latin typeface="CMU Sans Serif" panose="02000603000000000000" pitchFamily="2" charset="0"/>
              <a:ea typeface="CMU Sans Serif" panose="02000603000000000000" pitchFamily="2" charset="0"/>
              <a:cs typeface="CMU Sans Serif" panose="02000603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24117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E9B5CE-5CEB-3F5C-9189-26C6E244A1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Imagen 11">
            <a:extLst>
              <a:ext uri="{FF2B5EF4-FFF2-40B4-BE49-F238E27FC236}">
                <a16:creationId xmlns:a16="http://schemas.microsoft.com/office/drawing/2014/main" id="{3144DB2D-0614-403A-E9DD-1C8872F4928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6587658"/>
            <a:ext cx="12191996" cy="28887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96F83667-A24A-A5A0-7C5E-99C26EAEF9C5}"/>
              </a:ext>
            </a:extLst>
          </p:cNvPr>
          <p:cNvSpPr/>
          <p:nvPr/>
        </p:nvSpPr>
        <p:spPr>
          <a:xfrm>
            <a:off x="-4" y="0"/>
            <a:ext cx="12192000" cy="102412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7" name="TextBox 3">
            <a:extLst>
              <a:ext uri="{FF2B5EF4-FFF2-40B4-BE49-F238E27FC236}">
                <a16:creationId xmlns:a16="http://schemas.microsoft.com/office/drawing/2014/main" id="{B9F53A3B-7E63-8798-10AE-EB54A3E17F16}"/>
              </a:ext>
            </a:extLst>
          </p:cNvPr>
          <p:cNvSpPr txBox="1"/>
          <p:nvPr/>
        </p:nvSpPr>
        <p:spPr>
          <a:xfrm>
            <a:off x="174135" y="377797"/>
            <a:ext cx="119207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latin typeface="CMU Sans Serif" panose="02000603000000000000"/>
                <a:ea typeface="CMU Sans Serif" panose="02000603000000000000" pitchFamily="2" charset="0"/>
                <a:cs typeface="CMU Sans Serif" panose="02000603000000000000" pitchFamily="2" charset="0"/>
              </a:rPr>
              <a:t>Imputation: KNN Imputer</a:t>
            </a:r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BBFCEBEA-C945-3D4D-7B18-B94781E6C8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4565" y="2547641"/>
            <a:ext cx="4610846" cy="12311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L" altLang="es-CL" b="1" i="0" u="none" strike="noStrike" cap="none" normalizeH="0" baseline="0" dirty="0">
                <a:ln>
                  <a:noFill/>
                </a:ln>
                <a:effectLst/>
                <a:latin typeface="Aptos" panose="020B0004020202020204" pitchFamily="34" charset="0"/>
              </a:rPr>
              <a:t>Step 3: </a:t>
            </a:r>
            <a:r>
              <a:rPr lang="es-CL" altLang="es-CL" dirty="0" err="1">
                <a:latin typeface="Aptos" panose="020B0004020202020204" pitchFamily="34" charset="0"/>
              </a:rPr>
              <a:t>Calculate</a:t>
            </a:r>
            <a:r>
              <a:rPr lang="es-CL" altLang="es-CL" dirty="0">
                <a:latin typeface="Aptos" panose="020B0004020202020204" pitchFamily="34" charset="0"/>
              </a:rPr>
              <a:t> </a:t>
            </a:r>
            <a:r>
              <a:rPr lang="es-CL" altLang="es-CL" dirty="0" err="1">
                <a:latin typeface="Aptos" panose="020B0004020202020204" pitchFamily="34" charset="0"/>
              </a:rPr>
              <a:t>the</a:t>
            </a:r>
            <a:r>
              <a:rPr lang="es-CL" altLang="es-CL" dirty="0">
                <a:latin typeface="Aptos" panose="020B0004020202020204" pitchFamily="34" charset="0"/>
              </a:rPr>
              <a:t> </a:t>
            </a:r>
            <a:r>
              <a:rPr lang="es-CL" altLang="es-CL" dirty="0" err="1">
                <a:latin typeface="Aptos" panose="020B0004020202020204" pitchFamily="34" charset="0"/>
              </a:rPr>
              <a:t>average</a:t>
            </a:r>
            <a:r>
              <a:rPr lang="es-CL" altLang="es-CL" dirty="0">
                <a:latin typeface="Aptos" panose="020B0004020202020204" pitchFamily="34" charset="0"/>
              </a:rPr>
              <a:t> score </a:t>
            </a:r>
            <a:r>
              <a:rPr lang="es-CL" altLang="es-CL" dirty="0" err="1">
                <a:latin typeface="Aptos" panose="020B0004020202020204" pitchFamily="34" charset="0"/>
              </a:rPr>
              <a:t>with</a:t>
            </a:r>
            <a:r>
              <a:rPr lang="es-CL" altLang="es-CL" dirty="0">
                <a:latin typeface="Aptos" panose="020B0004020202020204" pitchFamily="34" charset="0"/>
              </a:rPr>
              <a:t> </a:t>
            </a:r>
            <a:r>
              <a:rPr lang="es-CL" altLang="es-CL" dirty="0" err="1">
                <a:latin typeface="Aptos" panose="020B0004020202020204" pitchFamily="34" charset="0"/>
              </a:rPr>
              <a:t>the</a:t>
            </a:r>
            <a:r>
              <a:rPr lang="es-CL" altLang="es-CL" dirty="0">
                <a:latin typeface="Aptos" panose="020B0004020202020204" pitchFamily="34" charset="0"/>
              </a:rPr>
              <a:t> </a:t>
            </a:r>
            <a:r>
              <a:rPr lang="es-CL" altLang="es-CL" dirty="0" err="1">
                <a:latin typeface="Aptos" panose="020B0004020202020204" pitchFamily="34" charset="0"/>
              </a:rPr>
              <a:t>selected</a:t>
            </a:r>
            <a:r>
              <a:rPr lang="es-CL" altLang="es-CL" dirty="0">
                <a:latin typeface="Aptos" panose="020B0004020202020204" pitchFamily="34" charset="0"/>
              </a:rPr>
              <a:t> </a:t>
            </a:r>
            <a:r>
              <a:rPr lang="es-CL" altLang="es-CL" dirty="0" err="1">
                <a:latin typeface="Aptos" panose="020B0004020202020204" pitchFamily="34" charset="0"/>
              </a:rPr>
              <a:t>neighbors</a:t>
            </a:r>
            <a:r>
              <a:rPr lang="es-CL" altLang="es-CL" dirty="0">
                <a:latin typeface="Aptos" panose="020B0004020202020204" pitchFamily="34" charset="0"/>
              </a:rPr>
              <a:t>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CL" altLang="es-CL" sz="4400" b="0" i="0" u="none" strike="noStrike" cap="none" normalizeH="0" baseline="0" dirty="0">
              <a:ln>
                <a:noFill/>
              </a:ln>
              <a:effectLst/>
              <a:latin typeface="Aptos" panose="020B00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uadroTexto 9">
                <a:extLst>
                  <a:ext uri="{FF2B5EF4-FFF2-40B4-BE49-F238E27FC236}">
                    <a16:creationId xmlns:a16="http://schemas.microsoft.com/office/drawing/2014/main" id="{E1D5D2C4-34B6-5C50-BDA7-A5E7AAA770BF}"/>
                  </a:ext>
                </a:extLst>
              </p:cNvPr>
              <p:cNvSpPr txBox="1"/>
              <p:nvPr/>
            </p:nvSpPr>
            <p:spPr>
              <a:xfrm>
                <a:off x="1210234" y="3421333"/>
                <a:ext cx="2698816" cy="39344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s-419" b="0" i="1" smtClean="0">
                        <a:latin typeface="Cambria Math" panose="02040503050406030204" pitchFamily="18" charset="0"/>
                      </a:rPr>
                      <m:t>𝑆𝑐𝑜𝑟</m:t>
                    </m:r>
                    <m:sSub>
                      <m:sSubPr>
                        <m:ctrlPr>
                          <a:rPr lang="es-419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419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s-419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es-419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419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419" b="0" i="1" smtClean="0">
                            <a:latin typeface="Cambria Math" panose="02040503050406030204" pitchFamily="18" charset="0"/>
                          </a:rPr>
                          <m:t>𝑆𝑐𝑜𝑟</m:t>
                        </m:r>
                        <m:sSub>
                          <m:sSubPr>
                            <m:ctrlPr>
                              <a:rPr lang="es-419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419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b>
                            <m:r>
                              <a:rPr lang="es-419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sub>
                        </m:sSub>
                        <m:r>
                          <a:rPr lang="es-419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s-419" b="0" i="1" smtClean="0">
                            <a:latin typeface="Cambria Math" panose="02040503050406030204" pitchFamily="18" charset="0"/>
                          </a:rPr>
                          <m:t>𝑆𝑐𝑜𝑟</m:t>
                        </m:r>
                        <m:sSub>
                          <m:sSubPr>
                            <m:ctrlPr>
                              <a:rPr lang="es-419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419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b>
                            <m:r>
                              <a:rPr lang="es-419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</m:num>
                      <m:den>
                        <m:r>
                          <a:rPr lang="es-419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s-CL" dirty="0"/>
                  <a:t> = 65</a:t>
                </a:r>
              </a:p>
            </p:txBody>
          </p:sp>
        </mc:Choice>
        <mc:Fallback xmlns="">
          <p:sp>
            <p:nvSpPr>
              <p:cNvPr id="10" name="CuadroTexto 9">
                <a:extLst>
                  <a:ext uri="{FF2B5EF4-FFF2-40B4-BE49-F238E27FC236}">
                    <a16:creationId xmlns:a16="http://schemas.microsoft.com/office/drawing/2014/main" id="{E1D5D2C4-34B6-5C50-BDA7-A5E7AAA770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0234" y="3421333"/>
                <a:ext cx="2698816" cy="393441"/>
              </a:xfrm>
              <a:prstGeom prst="rect">
                <a:avLst/>
              </a:prstGeom>
              <a:blipFill>
                <a:blip r:embed="rId4"/>
                <a:stretch>
                  <a:fillRect l="-2817" t="-3125" r="-4225" b="-21875"/>
                </a:stretch>
              </a:blipFill>
            </p:spPr>
            <p:txBody>
              <a:bodyPr/>
              <a:lstStyle/>
              <a:p>
                <a:r>
                  <a:rPr lang="es-CL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2" name="Tabla 11">
            <a:extLst>
              <a:ext uri="{FF2B5EF4-FFF2-40B4-BE49-F238E27FC236}">
                <a16:creationId xmlns:a16="http://schemas.microsoft.com/office/drawing/2014/main" id="{E0F99A81-A31D-8189-D3E3-70E1788457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2108315"/>
              </p:ext>
            </p:extLst>
          </p:nvPr>
        </p:nvGraphicFramePr>
        <p:xfrm>
          <a:off x="5555130" y="2209837"/>
          <a:ext cx="5995896" cy="2466896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498974">
                  <a:extLst>
                    <a:ext uri="{9D8B030D-6E8A-4147-A177-3AD203B41FA5}">
                      <a16:colId xmlns:a16="http://schemas.microsoft.com/office/drawing/2014/main" val="3361277615"/>
                    </a:ext>
                  </a:extLst>
                </a:gridCol>
                <a:gridCol w="1498974">
                  <a:extLst>
                    <a:ext uri="{9D8B030D-6E8A-4147-A177-3AD203B41FA5}">
                      <a16:colId xmlns:a16="http://schemas.microsoft.com/office/drawing/2014/main" val="2697124124"/>
                    </a:ext>
                  </a:extLst>
                </a:gridCol>
                <a:gridCol w="1498974">
                  <a:extLst>
                    <a:ext uri="{9D8B030D-6E8A-4147-A177-3AD203B41FA5}">
                      <a16:colId xmlns:a16="http://schemas.microsoft.com/office/drawing/2014/main" val="3357270325"/>
                    </a:ext>
                  </a:extLst>
                </a:gridCol>
                <a:gridCol w="1498974">
                  <a:extLst>
                    <a:ext uri="{9D8B030D-6E8A-4147-A177-3AD203B41FA5}">
                      <a16:colId xmlns:a16="http://schemas.microsoft.com/office/drawing/2014/main" val="773271271"/>
                    </a:ext>
                  </a:extLst>
                </a:gridCol>
              </a:tblGrid>
              <a:tr h="39043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b="0" dirty="0" err="1">
                          <a:effectLst/>
                        </a:rPr>
                        <a:t>Person</a:t>
                      </a:r>
                      <a:endParaRPr lang="es-CL" b="0" dirty="0">
                        <a:effectLst/>
                      </a:endParaRPr>
                    </a:p>
                  </a:txBody>
                  <a:tcPr marL="95250" marR="95250" marT="57150" marB="571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b="0" dirty="0">
                          <a:effectLst/>
                        </a:rPr>
                        <a:t>Age</a:t>
                      </a:r>
                    </a:p>
                  </a:txBody>
                  <a:tcPr marL="95250" marR="95250" marT="57150" marB="571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b="0">
                          <a:effectLst/>
                        </a:rPr>
                        <a:t>Hours studied</a:t>
                      </a:r>
                    </a:p>
                  </a:txBody>
                  <a:tcPr marL="95250" marR="95250" marT="57150" marB="571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b="0">
                          <a:effectLst/>
                        </a:rPr>
                        <a:t>Score</a:t>
                      </a:r>
                    </a:p>
                  </a:txBody>
                  <a:tcPr marL="95250" marR="95250" marT="57150" marB="57150" anchor="ctr"/>
                </a:tc>
                <a:extLst>
                  <a:ext uri="{0D108BD9-81ED-4DB2-BD59-A6C34878D82A}">
                    <a16:rowId xmlns:a16="http://schemas.microsoft.com/office/drawing/2014/main" val="1045568132"/>
                  </a:ext>
                </a:extLst>
              </a:tr>
              <a:tr h="40957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>
                          <a:effectLst/>
                        </a:rPr>
                        <a:t>A</a:t>
                      </a:r>
                    </a:p>
                  </a:txBody>
                  <a:tcPr marL="95250" marR="95250" marT="66675" marB="66675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>
                          <a:effectLst/>
                        </a:rPr>
                        <a:t>20</a:t>
                      </a:r>
                    </a:p>
                  </a:txBody>
                  <a:tcPr marL="95250" marR="95250" marT="66675" marB="66675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>
                          <a:effectLst/>
                        </a:rPr>
                        <a:t>5</a:t>
                      </a:r>
                    </a:p>
                  </a:txBody>
                  <a:tcPr marL="95250" marR="95250" marT="66675" marB="66675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>
                          <a:effectLst/>
                        </a:rPr>
                        <a:t>70</a:t>
                      </a:r>
                    </a:p>
                  </a:txBody>
                  <a:tcPr marL="95250" marR="95250" marT="66675" marB="66675" anchor="ctr"/>
                </a:tc>
                <a:extLst>
                  <a:ext uri="{0D108BD9-81ED-4DB2-BD59-A6C34878D82A}">
                    <a16:rowId xmlns:a16="http://schemas.microsoft.com/office/drawing/2014/main" val="3657931983"/>
                  </a:ext>
                </a:extLst>
              </a:tr>
              <a:tr h="40957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dirty="0">
                          <a:effectLst/>
                        </a:rPr>
                        <a:t>B</a:t>
                      </a:r>
                    </a:p>
                  </a:txBody>
                  <a:tcPr marL="95250" marR="95250" marT="66675" marB="66675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>
                          <a:effectLst/>
                        </a:rPr>
                        <a:t>22</a:t>
                      </a:r>
                    </a:p>
                  </a:txBody>
                  <a:tcPr marL="95250" marR="95250" marT="66675" marB="66675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>
                          <a:effectLst/>
                        </a:rPr>
                        <a:t>3</a:t>
                      </a:r>
                    </a:p>
                  </a:txBody>
                  <a:tcPr marL="95250" marR="95250" marT="66675" marB="66675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>
                          <a:effectLst/>
                        </a:rPr>
                        <a:t>60</a:t>
                      </a:r>
                    </a:p>
                  </a:txBody>
                  <a:tcPr marL="95250" marR="95250" marT="66675" marB="66675" anchor="ctr"/>
                </a:tc>
                <a:extLst>
                  <a:ext uri="{0D108BD9-81ED-4DB2-BD59-A6C34878D82A}">
                    <a16:rowId xmlns:a16="http://schemas.microsoft.com/office/drawing/2014/main" val="2720343047"/>
                  </a:ext>
                </a:extLst>
              </a:tr>
              <a:tr h="40957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b="1" dirty="0">
                          <a:effectLst/>
                        </a:rPr>
                        <a:t>C</a:t>
                      </a:r>
                      <a:endParaRPr lang="es-CL" dirty="0">
                        <a:effectLst/>
                      </a:endParaRPr>
                    </a:p>
                  </a:txBody>
                  <a:tcPr marL="95250" marR="95250" marT="66675" marB="66675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>
                          <a:effectLst/>
                        </a:rPr>
                        <a:t>21</a:t>
                      </a:r>
                    </a:p>
                  </a:txBody>
                  <a:tcPr marL="95250" marR="95250" marT="66675" marB="66675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>
                          <a:effectLst/>
                        </a:rPr>
                        <a:t>4</a:t>
                      </a:r>
                    </a:p>
                  </a:txBody>
                  <a:tcPr marL="95250" marR="95250" marT="66675" marB="66675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2000" b="0" dirty="0">
                          <a:solidFill>
                            <a:schemeClr val="tx1"/>
                          </a:solidFill>
                          <a:effectLst/>
                        </a:rPr>
                        <a:t>65</a:t>
                      </a:r>
                      <a:endParaRPr lang="es-CL" sz="20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95250" marR="95250" marT="66675" marB="66675" anchor="ctr"/>
                </a:tc>
                <a:extLst>
                  <a:ext uri="{0D108BD9-81ED-4DB2-BD59-A6C34878D82A}">
                    <a16:rowId xmlns:a16="http://schemas.microsoft.com/office/drawing/2014/main" val="1406371087"/>
                  </a:ext>
                </a:extLst>
              </a:tr>
              <a:tr h="40957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>
                          <a:effectLst/>
                        </a:rPr>
                        <a:t>D</a:t>
                      </a:r>
                    </a:p>
                  </a:txBody>
                  <a:tcPr marL="95250" marR="95250" marT="66675" marB="66675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>
                          <a:effectLst/>
                        </a:rPr>
                        <a:t>25</a:t>
                      </a:r>
                    </a:p>
                  </a:txBody>
                  <a:tcPr marL="95250" marR="95250" marT="66675" marB="66675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>
                          <a:effectLst/>
                        </a:rPr>
                        <a:t>2</a:t>
                      </a:r>
                    </a:p>
                  </a:txBody>
                  <a:tcPr marL="95250" marR="95250" marT="66675" marB="66675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dirty="0">
                          <a:effectLst/>
                        </a:rPr>
                        <a:t>50</a:t>
                      </a:r>
                    </a:p>
                  </a:txBody>
                  <a:tcPr marL="95250" marR="95250" marT="66675" marB="66675" anchor="ctr"/>
                </a:tc>
                <a:extLst>
                  <a:ext uri="{0D108BD9-81ED-4DB2-BD59-A6C34878D82A}">
                    <a16:rowId xmlns:a16="http://schemas.microsoft.com/office/drawing/2014/main" val="1081836138"/>
                  </a:ext>
                </a:extLst>
              </a:tr>
              <a:tr h="40957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>
                          <a:effectLst/>
                        </a:rPr>
                        <a:t>E</a:t>
                      </a:r>
                    </a:p>
                  </a:txBody>
                  <a:tcPr marL="95250" marR="95250" marT="66675" marB="66675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dirty="0">
                          <a:effectLst/>
                        </a:rPr>
                        <a:t>19</a:t>
                      </a:r>
                    </a:p>
                  </a:txBody>
                  <a:tcPr marL="95250" marR="95250" marT="66675" marB="66675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>
                          <a:effectLst/>
                        </a:rPr>
                        <a:t>6</a:t>
                      </a:r>
                    </a:p>
                  </a:txBody>
                  <a:tcPr marL="95250" marR="95250" marT="66675" marB="66675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dirty="0">
                          <a:effectLst/>
                        </a:rPr>
                        <a:t>80</a:t>
                      </a:r>
                    </a:p>
                  </a:txBody>
                  <a:tcPr marL="95250" marR="95250" marT="66675" marB="66675" anchor="ctr"/>
                </a:tc>
                <a:extLst>
                  <a:ext uri="{0D108BD9-81ED-4DB2-BD59-A6C34878D82A}">
                    <a16:rowId xmlns:a16="http://schemas.microsoft.com/office/drawing/2014/main" val="3386977336"/>
                  </a:ext>
                </a:extLst>
              </a:tr>
            </a:tbl>
          </a:graphicData>
        </a:graphic>
      </p:graphicFrame>
      <p:sp>
        <p:nvSpPr>
          <p:cNvPr id="14" name="Rectángulo 13">
            <a:extLst>
              <a:ext uri="{FF2B5EF4-FFF2-40B4-BE49-F238E27FC236}">
                <a16:creationId xmlns:a16="http://schemas.microsoft.com/office/drawing/2014/main" id="{B7A7CF4E-BBCA-796D-81A9-821FE7BC69B8}"/>
              </a:ext>
            </a:extLst>
          </p:cNvPr>
          <p:cNvSpPr/>
          <p:nvPr/>
        </p:nvSpPr>
        <p:spPr>
          <a:xfrm>
            <a:off x="10058400" y="3428998"/>
            <a:ext cx="1492626" cy="403414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7" name="CuadroTexto 12">
            <a:extLst>
              <a:ext uri="{FF2B5EF4-FFF2-40B4-BE49-F238E27FC236}">
                <a16:creationId xmlns:a16="http://schemas.microsoft.com/office/drawing/2014/main" id="{7DA5E0BD-AB76-F1CA-6C87-8AA2F1784FEF}"/>
              </a:ext>
            </a:extLst>
          </p:cNvPr>
          <p:cNvSpPr txBox="1"/>
          <p:nvPr/>
        </p:nvSpPr>
        <p:spPr>
          <a:xfrm>
            <a:off x="77001" y="6578525"/>
            <a:ext cx="133838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4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          </a:t>
            </a:r>
            <a:r>
              <a:rPr lang="es-CL" sz="12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Muñoz-Herrera and  Hormazábal	</a:t>
            </a:r>
            <a:r>
              <a:rPr lang="es-CL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                                                </a:t>
            </a:r>
            <a:r>
              <a:rPr lang="en-US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Clase 3: Data </a:t>
            </a:r>
            <a:r>
              <a:rPr lang="es-419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Cleaning and Transformation 		</a:t>
            </a:r>
            <a:r>
              <a:rPr lang="es-CL" sz="1200" b="1" dirty="0" err="1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Unit</a:t>
            </a:r>
            <a:r>
              <a:rPr lang="es-CL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1: Fundamentals of Business Intelligence     	   </a:t>
            </a:r>
            <a:endParaRPr lang="es-CL" sz="1400" dirty="0">
              <a:latin typeface="CMU Sans Serif" panose="02000603000000000000" pitchFamily="2" charset="0"/>
              <a:ea typeface="CMU Sans Serif" panose="02000603000000000000" pitchFamily="2" charset="0"/>
              <a:cs typeface="CMU Sans Serif" panose="02000603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18423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132B8E-B3D5-5843-EC32-52C459C091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Imagen 11">
            <a:extLst>
              <a:ext uri="{FF2B5EF4-FFF2-40B4-BE49-F238E27FC236}">
                <a16:creationId xmlns:a16="http://schemas.microsoft.com/office/drawing/2014/main" id="{20A35C20-4BBA-5B9C-73D9-5EE040A9F97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6587658"/>
            <a:ext cx="12191996" cy="28887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034DEBEE-00DD-0D70-2B22-259EDFAF6C6C}"/>
              </a:ext>
            </a:extLst>
          </p:cNvPr>
          <p:cNvSpPr/>
          <p:nvPr/>
        </p:nvSpPr>
        <p:spPr>
          <a:xfrm>
            <a:off x="-4" y="0"/>
            <a:ext cx="12192000" cy="102412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7" name="TextBox 3">
            <a:extLst>
              <a:ext uri="{FF2B5EF4-FFF2-40B4-BE49-F238E27FC236}">
                <a16:creationId xmlns:a16="http://schemas.microsoft.com/office/drawing/2014/main" id="{A505BCE7-1996-9459-242B-E332204A1CFA}"/>
              </a:ext>
            </a:extLst>
          </p:cNvPr>
          <p:cNvSpPr txBox="1"/>
          <p:nvPr/>
        </p:nvSpPr>
        <p:spPr>
          <a:xfrm>
            <a:off x="174135" y="377797"/>
            <a:ext cx="119207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latin typeface="CMU Sans Serif" panose="02000603000000000000"/>
                <a:ea typeface="CMU Sans Serif" panose="02000603000000000000" pitchFamily="2" charset="0"/>
                <a:cs typeface="CMU Sans Serif" panose="02000603000000000000" pitchFamily="2" charset="0"/>
              </a:rPr>
              <a:t>Deduplication: Exact and logical duplications</a:t>
            </a:r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E688CD7F-56AA-70B9-A09B-D1827B4168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961" y="1580769"/>
            <a:ext cx="4244040" cy="44319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/>
            <a:r>
              <a:rPr kumimoji="0" lang="es-CL" altLang="es-CL" b="1" i="0" u="none" strike="noStrike" cap="none" normalizeH="0" baseline="0" dirty="0" err="1">
                <a:ln>
                  <a:noFill/>
                </a:ln>
                <a:effectLst/>
                <a:latin typeface="Aptos" panose="020B0004020202020204" pitchFamily="34" charset="0"/>
              </a:rPr>
              <a:t>Exact</a:t>
            </a:r>
            <a:r>
              <a:rPr kumimoji="0" lang="es-CL" altLang="es-CL" b="1" i="0" u="none" strike="noStrike" cap="none" normalizeH="0" baseline="0" dirty="0">
                <a:ln>
                  <a:noFill/>
                </a:ln>
                <a:effectLst/>
                <a:latin typeface="Aptos" panose="020B0004020202020204" pitchFamily="34" charset="0"/>
              </a:rPr>
              <a:t> </a:t>
            </a:r>
            <a:r>
              <a:rPr kumimoji="0" lang="es-CL" altLang="es-CL" b="1" i="0" u="none" strike="noStrike" cap="none" normalizeH="0" baseline="0" dirty="0" err="1">
                <a:ln>
                  <a:noFill/>
                </a:ln>
                <a:effectLst/>
                <a:latin typeface="Aptos" panose="020B0004020202020204" pitchFamily="34" charset="0"/>
              </a:rPr>
              <a:t>duplications</a:t>
            </a:r>
            <a:r>
              <a:rPr kumimoji="0" lang="es-CL" altLang="es-CL" b="1" i="0" u="none" strike="noStrike" cap="none" normalizeH="0" baseline="0" dirty="0">
                <a:ln>
                  <a:noFill/>
                </a:ln>
                <a:effectLst/>
                <a:latin typeface="Aptos" panose="020B0004020202020204" pitchFamily="34" charset="0"/>
              </a:rPr>
              <a:t>: </a:t>
            </a:r>
            <a:r>
              <a:rPr lang="es-CL" altLang="es-CL" dirty="0" err="1">
                <a:solidFill>
                  <a:srgbClr val="000000"/>
                </a:solidFill>
                <a:latin typeface="-webkit-standard"/>
              </a:rPr>
              <a:t>Rows</a:t>
            </a:r>
            <a:r>
              <a:rPr lang="es-CL" altLang="es-CL" dirty="0">
                <a:solidFill>
                  <a:srgbClr val="000000"/>
                </a:solidFill>
                <a:latin typeface="-webkit-standard"/>
              </a:rPr>
              <a:t> </a:t>
            </a:r>
            <a:r>
              <a:rPr lang="es-CL" altLang="es-CL" dirty="0" err="1">
                <a:solidFill>
                  <a:srgbClr val="000000"/>
                </a:solidFill>
                <a:latin typeface="-webkit-standard"/>
              </a:rPr>
              <a:t>that</a:t>
            </a:r>
            <a:r>
              <a:rPr lang="es-CL" altLang="es-CL" dirty="0">
                <a:solidFill>
                  <a:srgbClr val="000000"/>
                </a:solidFill>
                <a:latin typeface="-webkit-standard"/>
              </a:rPr>
              <a:t> are </a:t>
            </a:r>
            <a:r>
              <a:rPr lang="es-CL" altLang="es-CL" dirty="0" err="1">
                <a:solidFill>
                  <a:srgbClr val="000000"/>
                </a:solidFill>
                <a:latin typeface="-webkit-standard"/>
              </a:rPr>
              <a:t>completely</a:t>
            </a:r>
            <a:r>
              <a:rPr lang="es-CL" altLang="es-CL" dirty="0">
                <a:solidFill>
                  <a:srgbClr val="000000"/>
                </a:solidFill>
                <a:latin typeface="-webkit-standard"/>
              </a:rPr>
              <a:t> </a:t>
            </a:r>
            <a:r>
              <a:rPr lang="es-CL" altLang="es-CL" dirty="0" err="1">
                <a:solidFill>
                  <a:srgbClr val="000000"/>
                </a:solidFill>
                <a:latin typeface="-webkit-standard"/>
              </a:rPr>
              <a:t>identical</a:t>
            </a:r>
            <a:r>
              <a:rPr lang="es-CL" altLang="es-CL" dirty="0">
                <a:solidFill>
                  <a:srgbClr val="000000"/>
                </a:solidFill>
                <a:latin typeface="-webkit-standard"/>
              </a:rPr>
              <a:t> </a:t>
            </a:r>
            <a:r>
              <a:rPr lang="es-CL" altLang="es-CL" dirty="0" err="1">
                <a:solidFill>
                  <a:srgbClr val="000000"/>
                </a:solidFill>
                <a:latin typeface="-webkit-standard"/>
              </a:rPr>
              <a:t>across</a:t>
            </a:r>
            <a:r>
              <a:rPr lang="es-CL" altLang="es-CL" dirty="0">
                <a:solidFill>
                  <a:srgbClr val="000000"/>
                </a:solidFill>
                <a:latin typeface="-webkit-standard"/>
              </a:rPr>
              <a:t> </a:t>
            </a:r>
            <a:r>
              <a:rPr lang="es-CL" altLang="es-CL" dirty="0" err="1">
                <a:solidFill>
                  <a:srgbClr val="000000"/>
                </a:solidFill>
                <a:latin typeface="-webkit-standard"/>
              </a:rPr>
              <a:t>all</a:t>
            </a:r>
            <a:r>
              <a:rPr lang="es-CL" altLang="es-CL" dirty="0">
                <a:solidFill>
                  <a:srgbClr val="000000"/>
                </a:solidFill>
                <a:latin typeface="-webkit-standard"/>
              </a:rPr>
              <a:t> </a:t>
            </a:r>
            <a:r>
              <a:rPr lang="es-CL" altLang="es-CL" dirty="0" err="1">
                <a:solidFill>
                  <a:srgbClr val="000000"/>
                </a:solidFill>
                <a:latin typeface="-webkit-standard"/>
              </a:rPr>
              <a:t>columns</a:t>
            </a:r>
            <a:r>
              <a:rPr lang="es-CL" altLang="es-CL" dirty="0">
                <a:solidFill>
                  <a:srgbClr val="000000"/>
                </a:solidFill>
                <a:latin typeface="-webkit-standard"/>
              </a:rPr>
              <a:t> — </a:t>
            </a:r>
            <a:r>
              <a:rPr lang="es-CL" altLang="es-CL" dirty="0" err="1">
                <a:solidFill>
                  <a:srgbClr val="000000"/>
                </a:solidFill>
                <a:latin typeface="-webkit-standard"/>
              </a:rPr>
              <a:t>every</a:t>
            </a:r>
            <a:r>
              <a:rPr lang="es-CL" altLang="es-CL" dirty="0">
                <a:solidFill>
                  <a:srgbClr val="000000"/>
                </a:solidFill>
                <a:latin typeface="-webkit-standard"/>
              </a:rPr>
              <a:t> </a:t>
            </a:r>
            <a:r>
              <a:rPr lang="es-CL" altLang="es-CL" dirty="0" err="1">
                <a:solidFill>
                  <a:srgbClr val="000000"/>
                </a:solidFill>
                <a:latin typeface="-webkit-standard"/>
              </a:rPr>
              <a:t>field</a:t>
            </a:r>
            <a:r>
              <a:rPr lang="es-CL" altLang="es-CL" dirty="0">
                <a:solidFill>
                  <a:srgbClr val="000000"/>
                </a:solidFill>
                <a:latin typeface="-webkit-standard"/>
              </a:rPr>
              <a:t> </a:t>
            </a:r>
            <a:r>
              <a:rPr lang="es-CL" altLang="es-CL" dirty="0" err="1">
                <a:solidFill>
                  <a:srgbClr val="000000"/>
                </a:solidFill>
                <a:latin typeface="-webkit-standard"/>
              </a:rPr>
              <a:t>matches</a:t>
            </a:r>
            <a:r>
              <a:rPr lang="es-CL" altLang="es-CL" dirty="0">
                <a:solidFill>
                  <a:srgbClr val="000000"/>
                </a:solidFill>
                <a:latin typeface="-webkit-standard"/>
              </a:rPr>
              <a:t> </a:t>
            </a:r>
            <a:r>
              <a:rPr lang="es-CL" altLang="es-CL" dirty="0" err="1">
                <a:solidFill>
                  <a:srgbClr val="000000"/>
                </a:solidFill>
                <a:latin typeface="-webkit-standard"/>
              </a:rPr>
              <a:t>perfectly</a:t>
            </a:r>
            <a:r>
              <a:rPr lang="es-CL" altLang="es-CL" dirty="0">
                <a:solidFill>
                  <a:srgbClr val="000000"/>
                </a:solidFill>
                <a:latin typeface="-webkit-standard"/>
              </a:rPr>
              <a:t>.</a:t>
            </a:r>
          </a:p>
          <a:p>
            <a:pPr algn="just"/>
            <a:endParaRPr lang="es-CL" altLang="es-CL" dirty="0">
              <a:solidFill>
                <a:srgbClr val="000000"/>
              </a:solidFill>
              <a:latin typeface="-webkit-standard"/>
            </a:endParaRPr>
          </a:p>
          <a:p>
            <a:pPr algn="just"/>
            <a:r>
              <a:rPr lang="es-CL" altLang="es-CL" dirty="0" err="1">
                <a:solidFill>
                  <a:srgbClr val="000000"/>
                </a:solidFill>
                <a:latin typeface="-webkit-standard"/>
              </a:rPr>
              <a:t>Fix</a:t>
            </a:r>
            <a:r>
              <a:rPr lang="es-CL" altLang="es-CL" dirty="0">
                <a:solidFill>
                  <a:srgbClr val="000000"/>
                </a:solidFill>
                <a:latin typeface="-webkit-standard"/>
              </a:rPr>
              <a:t> </a:t>
            </a:r>
            <a:r>
              <a:rPr lang="es-CL" altLang="es-CL" dirty="0" err="1">
                <a:solidFill>
                  <a:srgbClr val="000000"/>
                </a:solidFill>
                <a:latin typeface="-webkit-standard"/>
              </a:rPr>
              <a:t>using</a:t>
            </a:r>
            <a:r>
              <a:rPr lang="es-CL" altLang="es-CL" dirty="0">
                <a:solidFill>
                  <a:srgbClr val="000000"/>
                </a:solidFill>
                <a:latin typeface="-webkit-standard"/>
              </a:rPr>
              <a:t> : </a:t>
            </a:r>
            <a:r>
              <a:rPr lang="es-CL" altLang="es-CL" dirty="0" err="1">
                <a:latin typeface="Arial Unicode MS" panose="020B0604020202020204" pitchFamily="34" charset="-128"/>
              </a:rPr>
              <a:t>df.drop_duplicates</a:t>
            </a:r>
            <a:r>
              <a:rPr lang="es-CL" altLang="es-CL" dirty="0">
                <a:latin typeface="Arial Unicode MS" panose="020B0604020202020204" pitchFamily="34" charset="-128"/>
              </a:rPr>
              <a:t>()</a:t>
            </a:r>
          </a:p>
          <a:p>
            <a:pPr algn="just"/>
            <a:endParaRPr lang="es-CL" altLang="es-CL" dirty="0">
              <a:latin typeface="Arial Unicode MS" panose="020B0604020202020204" pitchFamily="34" charset="-128"/>
            </a:endParaRPr>
          </a:p>
          <a:p>
            <a:pPr algn="just"/>
            <a:endParaRPr lang="es-CL" altLang="es-CL" dirty="0">
              <a:latin typeface="Arial Unicode MS" panose="020B0604020202020204" pitchFamily="34" charset="-128"/>
            </a:endParaRPr>
          </a:p>
          <a:p>
            <a:pPr algn="just"/>
            <a:endParaRPr lang="es-CL" altLang="es-CL" dirty="0">
              <a:latin typeface="Arial Unicode MS" panose="020B0604020202020204" pitchFamily="34" charset="-128"/>
            </a:endParaRPr>
          </a:p>
          <a:p>
            <a:pPr algn="just"/>
            <a:r>
              <a:rPr lang="es-CL" altLang="es-CL" b="1" dirty="0" err="1">
                <a:latin typeface="Aptos" panose="020B0004020202020204" pitchFamily="34" charset="0"/>
              </a:rPr>
              <a:t>Logical</a:t>
            </a:r>
            <a:r>
              <a:rPr lang="es-CL" altLang="es-CL" b="1" dirty="0">
                <a:latin typeface="Aptos" panose="020B0004020202020204" pitchFamily="34" charset="0"/>
              </a:rPr>
              <a:t> </a:t>
            </a:r>
            <a:r>
              <a:rPr lang="es-CL" altLang="es-CL" b="1" dirty="0" err="1">
                <a:latin typeface="Aptos" panose="020B0004020202020204" pitchFamily="34" charset="0"/>
              </a:rPr>
              <a:t>duplicates</a:t>
            </a:r>
            <a:r>
              <a:rPr lang="es-CL" altLang="es-CL" b="1" dirty="0">
                <a:latin typeface="Aptos" panose="020B0004020202020204" pitchFamily="34" charset="0"/>
              </a:rPr>
              <a:t> </a:t>
            </a:r>
            <a:r>
              <a:rPr lang="es-CL" altLang="es-CL" dirty="0" err="1">
                <a:latin typeface="Aptos" panose="020B0004020202020204" pitchFamily="34" charset="0"/>
              </a:rPr>
              <a:t>Rows</a:t>
            </a:r>
            <a:r>
              <a:rPr lang="es-CL" altLang="es-CL" dirty="0">
                <a:latin typeface="Aptos" panose="020B0004020202020204" pitchFamily="34" charset="0"/>
              </a:rPr>
              <a:t> </a:t>
            </a:r>
            <a:r>
              <a:rPr lang="es-CL" altLang="es-CL" dirty="0" err="1">
                <a:latin typeface="Aptos" panose="020B0004020202020204" pitchFamily="34" charset="0"/>
              </a:rPr>
              <a:t>that</a:t>
            </a:r>
            <a:r>
              <a:rPr lang="es-CL" altLang="es-CL" dirty="0">
                <a:latin typeface="Aptos" panose="020B0004020202020204" pitchFamily="34" charset="0"/>
              </a:rPr>
              <a:t> </a:t>
            </a:r>
            <a:r>
              <a:rPr lang="es-CL" altLang="es-CL" dirty="0" err="1">
                <a:latin typeface="Aptos" panose="020B0004020202020204" pitchFamily="34" charset="0"/>
              </a:rPr>
              <a:t>represent</a:t>
            </a:r>
            <a:r>
              <a:rPr lang="es-CL" altLang="es-CL" dirty="0">
                <a:latin typeface="Aptos" panose="020B0004020202020204" pitchFamily="34" charset="0"/>
              </a:rPr>
              <a:t> </a:t>
            </a:r>
            <a:r>
              <a:rPr lang="es-CL" altLang="es-CL" dirty="0" err="1">
                <a:latin typeface="Aptos" panose="020B0004020202020204" pitchFamily="34" charset="0"/>
              </a:rPr>
              <a:t>the</a:t>
            </a:r>
            <a:r>
              <a:rPr lang="es-CL" altLang="es-CL" dirty="0">
                <a:latin typeface="Aptos" panose="020B0004020202020204" pitchFamily="34" charset="0"/>
              </a:rPr>
              <a:t> </a:t>
            </a:r>
            <a:r>
              <a:rPr lang="es-CL" altLang="es-CL" dirty="0" err="1">
                <a:latin typeface="Aptos" panose="020B0004020202020204" pitchFamily="34" charset="0"/>
              </a:rPr>
              <a:t>same</a:t>
            </a:r>
            <a:r>
              <a:rPr lang="es-CL" altLang="es-CL" dirty="0">
                <a:latin typeface="Aptos" panose="020B0004020202020204" pitchFamily="34" charset="0"/>
              </a:rPr>
              <a:t> real-</a:t>
            </a:r>
            <a:r>
              <a:rPr lang="es-CL" altLang="es-CL" dirty="0" err="1">
                <a:latin typeface="Aptos" panose="020B0004020202020204" pitchFamily="34" charset="0"/>
              </a:rPr>
              <a:t>world</a:t>
            </a:r>
            <a:r>
              <a:rPr lang="es-CL" altLang="es-CL" dirty="0">
                <a:latin typeface="Aptos" panose="020B0004020202020204" pitchFamily="34" charset="0"/>
              </a:rPr>
              <a:t> </a:t>
            </a:r>
            <a:r>
              <a:rPr lang="es-CL" altLang="es-CL" dirty="0" err="1">
                <a:latin typeface="Aptos" panose="020B0004020202020204" pitchFamily="34" charset="0"/>
              </a:rPr>
              <a:t>entity</a:t>
            </a:r>
            <a:r>
              <a:rPr lang="es-CL" altLang="es-CL" dirty="0">
                <a:latin typeface="Aptos" panose="020B0004020202020204" pitchFamily="34" charset="0"/>
              </a:rPr>
              <a:t> </a:t>
            </a:r>
            <a:r>
              <a:rPr lang="es-CL" altLang="es-CL" dirty="0" err="1">
                <a:latin typeface="Aptos" panose="020B0004020202020204" pitchFamily="34" charset="0"/>
              </a:rPr>
              <a:t>but</a:t>
            </a:r>
            <a:r>
              <a:rPr lang="es-CL" altLang="es-CL" dirty="0">
                <a:latin typeface="Aptos" panose="020B0004020202020204" pitchFamily="34" charset="0"/>
              </a:rPr>
              <a:t> </a:t>
            </a:r>
            <a:r>
              <a:rPr lang="es-CL" altLang="es-CL" dirty="0" err="1">
                <a:latin typeface="Aptos" panose="020B0004020202020204" pitchFamily="34" charset="0"/>
              </a:rPr>
              <a:t>differ</a:t>
            </a:r>
            <a:r>
              <a:rPr lang="es-CL" altLang="es-CL" dirty="0">
                <a:latin typeface="Aptos" panose="020B0004020202020204" pitchFamily="34" charset="0"/>
              </a:rPr>
              <a:t> in </a:t>
            </a:r>
            <a:r>
              <a:rPr lang="es-CL" altLang="es-CL" dirty="0" err="1">
                <a:latin typeface="Aptos" panose="020B0004020202020204" pitchFamily="34" charset="0"/>
              </a:rPr>
              <a:t>formatting</a:t>
            </a:r>
            <a:r>
              <a:rPr lang="es-CL" altLang="es-CL" dirty="0">
                <a:latin typeface="Aptos" panose="020B0004020202020204" pitchFamily="34" charset="0"/>
              </a:rPr>
              <a:t>, </a:t>
            </a:r>
            <a:r>
              <a:rPr lang="es-CL" altLang="es-CL" dirty="0" err="1">
                <a:latin typeface="Aptos" panose="020B0004020202020204" pitchFamily="34" charset="0"/>
              </a:rPr>
              <a:t>spelling</a:t>
            </a:r>
            <a:r>
              <a:rPr lang="es-CL" altLang="es-CL" dirty="0">
                <a:latin typeface="Aptos" panose="020B0004020202020204" pitchFamily="34" charset="0"/>
              </a:rPr>
              <a:t>, </a:t>
            </a:r>
            <a:r>
              <a:rPr lang="es-CL" altLang="es-CL" dirty="0" err="1">
                <a:latin typeface="Aptos" panose="020B0004020202020204" pitchFamily="34" charset="0"/>
              </a:rPr>
              <a:t>or</a:t>
            </a:r>
            <a:r>
              <a:rPr lang="es-CL" altLang="es-CL" dirty="0">
                <a:latin typeface="Aptos" panose="020B0004020202020204" pitchFamily="34" charset="0"/>
              </a:rPr>
              <a:t> </a:t>
            </a:r>
            <a:r>
              <a:rPr lang="es-CL" altLang="es-CL" dirty="0" err="1">
                <a:latin typeface="Aptos" panose="020B0004020202020204" pitchFamily="34" charset="0"/>
              </a:rPr>
              <a:t>values</a:t>
            </a:r>
            <a:r>
              <a:rPr lang="es-CL" altLang="es-CL" dirty="0">
                <a:latin typeface="Aptos" panose="020B0004020202020204" pitchFamily="34" charset="0"/>
              </a:rPr>
              <a:t>.</a:t>
            </a:r>
          </a:p>
          <a:p>
            <a:pPr algn="just"/>
            <a:endParaRPr lang="es-CL" altLang="es-CL" b="1" dirty="0">
              <a:latin typeface="Aptos" panose="020B0004020202020204" pitchFamily="34" charset="0"/>
            </a:endParaRPr>
          </a:p>
          <a:p>
            <a:pPr algn="just"/>
            <a:r>
              <a:rPr lang="es-CL" altLang="es-CL" b="1" dirty="0" err="1">
                <a:latin typeface="Aptos" panose="020B0004020202020204" pitchFamily="34" charset="0"/>
              </a:rPr>
              <a:t>Fix</a:t>
            </a:r>
            <a:r>
              <a:rPr lang="es-CL" altLang="es-CL" b="1" dirty="0">
                <a:latin typeface="Aptos" panose="020B0004020202020204" pitchFamily="34" charset="0"/>
              </a:rPr>
              <a:t>: </a:t>
            </a:r>
            <a:r>
              <a:rPr lang="es-CL" altLang="es-CL" dirty="0" err="1">
                <a:latin typeface="Aptos" panose="020B0004020202020204" pitchFamily="34" charset="0"/>
              </a:rPr>
              <a:t>Needs</a:t>
            </a:r>
            <a:r>
              <a:rPr lang="es-CL" altLang="es-CL" dirty="0">
                <a:latin typeface="Aptos" panose="020B0004020202020204" pitchFamily="34" charset="0"/>
              </a:rPr>
              <a:t> a </a:t>
            </a:r>
            <a:r>
              <a:rPr lang="es-CL" altLang="es-CL" dirty="0" err="1">
                <a:latin typeface="Aptos" panose="020B0004020202020204" pitchFamily="34" charset="0"/>
              </a:rPr>
              <a:t>business</a:t>
            </a:r>
            <a:r>
              <a:rPr lang="es-CL" altLang="es-CL" dirty="0">
                <a:latin typeface="Aptos" panose="020B0004020202020204" pitchFamily="34" charset="0"/>
              </a:rPr>
              <a:t> </a:t>
            </a:r>
            <a:r>
              <a:rPr lang="es-CL" altLang="es-CL" dirty="0" err="1">
                <a:latin typeface="Aptos" panose="020B0004020202020204" pitchFamily="34" charset="0"/>
              </a:rPr>
              <a:t>logic</a:t>
            </a:r>
            <a:r>
              <a:rPr lang="es-CL" altLang="es-CL" dirty="0">
                <a:latin typeface="Aptos" panose="020B0004020202020204" pitchFamily="34" charset="0"/>
              </a:rPr>
              <a:t>. </a:t>
            </a:r>
            <a:r>
              <a:rPr lang="es-CL" altLang="es-CL" dirty="0" err="1">
                <a:latin typeface="Aptos" panose="020B0004020202020204" pitchFamily="34" charset="0"/>
              </a:rPr>
              <a:t>normalize</a:t>
            </a:r>
            <a:r>
              <a:rPr lang="es-CL" altLang="es-CL" dirty="0">
                <a:latin typeface="Aptos" panose="020B0004020202020204" pitchFamily="34" charset="0"/>
              </a:rPr>
              <a:t> </a:t>
            </a:r>
            <a:r>
              <a:rPr lang="es-CL" altLang="es-CL" dirty="0" err="1">
                <a:latin typeface="Aptos" panose="020B0004020202020204" pitchFamily="34" charset="0"/>
              </a:rPr>
              <a:t>text</a:t>
            </a:r>
            <a:r>
              <a:rPr lang="es-CL" altLang="es-CL" dirty="0">
                <a:latin typeface="Aptos" panose="020B0004020202020204" pitchFamily="34" charset="0"/>
              </a:rPr>
              <a:t>, match </a:t>
            </a:r>
            <a:r>
              <a:rPr lang="es-CL" altLang="es-CL" dirty="0" err="1">
                <a:latin typeface="Aptos" panose="020B0004020202020204" pitchFamily="34" charset="0"/>
              </a:rPr>
              <a:t>on</a:t>
            </a:r>
            <a:r>
              <a:rPr lang="es-CL" altLang="es-CL" dirty="0">
                <a:latin typeface="Aptos" panose="020B0004020202020204" pitchFamily="34" charset="0"/>
              </a:rPr>
              <a:t> </a:t>
            </a:r>
            <a:r>
              <a:rPr lang="es-CL" altLang="es-CL" dirty="0" err="1">
                <a:latin typeface="Aptos" panose="020B0004020202020204" pitchFamily="34" charset="0"/>
              </a:rPr>
              <a:t>key</a:t>
            </a:r>
            <a:r>
              <a:rPr lang="es-CL" altLang="es-CL" dirty="0">
                <a:latin typeface="Aptos" panose="020B0004020202020204" pitchFamily="34" charset="0"/>
              </a:rPr>
              <a:t> </a:t>
            </a:r>
            <a:r>
              <a:rPr lang="es-CL" altLang="es-CL" dirty="0" err="1">
                <a:latin typeface="Aptos" panose="020B0004020202020204" pitchFamily="34" charset="0"/>
              </a:rPr>
              <a:t>fields</a:t>
            </a:r>
            <a:r>
              <a:rPr lang="es-CL" altLang="es-CL" dirty="0">
                <a:latin typeface="Aptos" panose="020B0004020202020204" pitchFamily="34" charset="0"/>
              </a:rPr>
              <a:t>, use </a:t>
            </a:r>
            <a:r>
              <a:rPr lang="es-CL" altLang="es-CL" dirty="0" err="1">
                <a:latin typeface="Aptos" panose="020B0004020202020204" pitchFamily="34" charset="0"/>
              </a:rPr>
              <a:t>fuzzy</a:t>
            </a:r>
            <a:r>
              <a:rPr lang="es-CL" altLang="es-CL" dirty="0">
                <a:latin typeface="Aptos" panose="020B0004020202020204" pitchFamily="34" charset="0"/>
              </a:rPr>
              <a:t> </a:t>
            </a:r>
            <a:r>
              <a:rPr lang="es-CL" altLang="es-CL" dirty="0" err="1">
                <a:latin typeface="Aptos" panose="020B0004020202020204" pitchFamily="34" charset="0"/>
              </a:rPr>
              <a:t>matching</a:t>
            </a:r>
            <a:endParaRPr lang="es-CL" altLang="es-CL" dirty="0">
              <a:latin typeface="Aptos" panose="020B0004020202020204" pitchFamily="34" charset="0"/>
            </a:endParaRPr>
          </a:p>
          <a:p>
            <a:pPr algn="just"/>
            <a:endParaRPr lang="es-CL" altLang="es-CL" dirty="0"/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L" altLang="es-CL" b="1" i="0" u="none" strike="noStrike" cap="none" normalizeH="0" baseline="0" dirty="0">
                <a:ln>
                  <a:noFill/>
                </a:ln>
                <a:effectLst/>
                <a:latin typeface="Aptos" panose="020B0004020202020204" pitchFamily="34" charset="0"/>
              </a:rPr>
              <a:t> </a:t>
            </a:r>
            <a:endParaRPr kumimoji="0" lang="es-CL" altLang="es-CL" sz="4400" b="0" i="0" u="none" strike="noStrike" cap="none" normalizeH="0" baseline="0" dirty="0">
              <a:ln>
                <a:noFill/>
              </a:ln>
              <a:effectLst/>
              <a:latin typeface="Aptos" panose="020B0004020202020204" pitchFamily="34" charset="0"/>
            </a:endParaRPr>
          </a:p>
        </p:txBody>
      </p:sp>
      <p:graphicFrame>
        <p:nvGraphicFramePr>
          <p:cNvPr id="12" name="Tabla 11">
            <a:extLst>
              <a:ext uri="{FF2B5EF4-FFF2-40B4-BE49-F238E27FC236}">
                <a16:creationId xmlns:a16="http://schemas.microsoft.com/office/drawing/2014/main" id="{C644CD5B-31FF-0D1D-D04B-2405CE50AE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0817178"/>
              </p:ext>
            </p:extLst>
          </p:nvPr>
        </p:nvGraphicFramePr>
        <p:xfrm>
          <a:off x="5455771" y="1580769"/>
          <a:ext cx="5995896" cy="1209592"/>
        </p:xfrm>
        <a:graphic>
          <a:graphicData uri="http://schemas.openxmlformats.org/drawingml/2006/table">
            <a:tbl>
              <a:tblPr firstRow="1" bandRow="1">
                <a:tableStyleId>{2A488322-F2BA-4B5B-9748-0D474271808F}</a:tableStyleId>
              </a:tblPr>
              <a:tblGrid>
                <a:gridCol w="1498974">
                  <a:extLst>
                    <a:ext uri="{9D8B030D-6E8A-4147-A177-3AD203B41FA5}">
                      <a16:colId xmlns:a16="http://schemas.microsoft.com/office/drawing/2014/main" val="3361277615"/>
                    </a:ext>
                  </a:extLst>
                </a:gridCol>
                <a:gridCol w="1498974">
                  <a:extLst>
                    <a:ext uri="{9D8B030D-6E8A-4147-A177-3AD203B41FA5}">
                      <a16:colId xmlns:a16="http://schemas.microsoft.com/office/drawing/2014/main" val="2697124124"/>
                    </a:ext>
                  </a:extLst>
                </a:gridCol>
                <a:gridCol w="1498974">
                  <a:extLst>
                    <a:ext uri="{9D8B030D-6E8A-4147-A177-3AD203B41FA5}">
                      <a16:colId xmlns:a16="http://schemas.microsoft.com/office/drawing/2014/main" val="3357270325"/>
                    </a:ext>
                  </a:extLst>
                </a:gridCol>
                <a:gridCol w="1498974">
                  <a:extLst>
                    <a:ext uri="{9D8B030D-6E8A-4147-A177-3AD203B41FA5}">
                      <a16:colId xmlns:a16="http://schemas.microsoft.com/office/drawing/2014/main" val="773271271"/>
                    </a:ext>
                  </a:extLst>
                </a:gridCol>
              </a:tblGrid>
              <a:tr h="390438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s-CL" sz="1800" b="1" kern="1200" dirty="0">
                          <a:solidFill>
                            <a:schemeClr val="lt1"/>
                          </a:solidFill>
                        </a:rPr>
                        <a:t>ID</a:t>
                      </a:r>
                      <a:endParaRPr lang="es-CL" sz="1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s-CL" sz="1800" b="1" kern="1200">
                          <a:solidFill>
                            <a:schemeClr val="lt1"/>
                          </a:solidFill>
                        </a:rPr>
                        <a:t>Name</a:t>
                      </a:r>
                      <a:endParaRPr lang="es-CL" sz="1800" b="1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s-CL" sz="1800" b="1" kern="1200" dirty="0">
                          <a:solidFill>
                            <a:schemeClr val="lt1"/>
                          </a:solidFill>
                        </a:rPr>
                        <a:t>Age</a:t>
                      </a:r>
                      <a:endParaRPr lang="es-CL" sz="1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s-CL" sz="1800" b="1" kern="1200">
                          <a:solidFill>
                            <a:schemeClr val="lt1"/>
                          </a:solidFill>
                        </a:rPr>
                        <a:t>Score</a:t>
                      </a:r>
                      <a:endParaRPr lang="es-CL" sz="1800" b="1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45568132"/>
                  </a:ext>
                </a:extLst>
              </a:tr>
              <a:tr h="409577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s-CL" sz="1800" b="0" kern="12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s-CL" sz="18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s-CL" sz="1800" b="0" kern="1200" dirty="0">
                          <a:solidFill>
                            <a:schemeClr val="tx1"/>
                          </a:solidFill>
                        </a:rPr>
                        <a:t>Ana</a:t>
                      </a:r>
                      <a:endParaRPr lang="es-CL" sz="18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s-CL" sz="1800" b="0" kern="1200" dirty="0">
                          <a:solidFill>
                            <a:schemeClr val="tx1"/>
                          </a:solidFill>
                        </a:rPr>
                        <a:t>22</a:t>
                      </a:r>
                      <a:endParaRPr lang="es-CL" sz="18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s-CL" sz="1800" b="0" kern="1200" dirty="0">
                          <a:solidFill>
                            <a:schemeClr val="tx1"/>
                          </a:solidFill>
                        </a:rPr>
                        <a:t>85</a:t>
                      </a:r>
                      <a:endParaRPr lang="es-CL" sz="18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57931983"/>
                  </a:ext>
                </a:extLst>
              </a:tr>
              <a:tr h="409577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s-CL" sz="1800" b="0" kern="120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s-CL" sz="1800" b="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s-CL" sz="1800" b="0" kern="1200" dirty="0">
                          <a:solidFill>
                            <a:schemeClr val="tx1"/>
                          </a:solidFill>
                        </a:rPr>
                        <a:t>Ana</a:t>
                      </a:r>
                      <a:endParaRPr lang="es-CL" sz="18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s-CL" sz="1800" b="0" kern="1200" dirty="0">
                          <a:solidFill>
                            <a:schemeClr val="tx1"/>
                          </a:solidFill>
                        </a:rPr>
                        <a:t>22</a:t>
                      </a:r>
                      <a:endParaRPr lang="es-CL" sz="18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s-CL" sz="1800" b="0" kern="1200" dirty="0">
                          <a:solidFill>
                            <a:schemeClr val="tx1"/>
                          </a:solidFill>
                        </a:rPr>
                        <a:t>85</a:t>
                      </a:r>
                      <a:endParaRPr lang="es-CL" sz="18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20343047"/>
                  </a:ext>
                </a:extLst>
              </a:tr>
            </a:tbl>
          </a:graphicData>
        </a:graphic>
      </p:graphicFrame>
      <p:graphicFrame>
        <p:nvGraphicFramePr>
          <p:cNvPr id="17" name="Tabla 16">
            <a:extLst>
              <a:ext uri="{FF2B5EF4-FFF2-40B4-BE49-F238E27FC236}">
                <a16:creationId xmlns:a16="http://schemas.microsoft.com/office/drawing/2014/main" id="{C0789A5D-E44F-DF7C-9566-51FAD09C8A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9299097"/>
              </p:ext>
            </p:extLst>
          </p:nvPr>
        </p:nvGraphicFramePr>
        <p:xfrm>
          <a:off x="5455771" y="3578844"/>
          <a:ext cx="5995896" cy="2028746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498974">
                  <a:extLst>
                    <a:ext uri="{9D8B030D-6E8A-4147-A177-3AD203B41FA5}">
                      <a16:colId xmlns:a16="http://schemas.microsoft.com/office/drawing/2014/main" val="3361277615"/>
                    </a:ext>
                  </a:extLst>
                </a:gridCol>
                <a:gridCol w="1498974">
                  <a:extLst>
                    <a:ext uri="{9D8B030D-6E8A-4147-A177-3AD203B41FA5}">
                      <a16:colId xmlns:a16="http://schemas.microsoft.com/office/drawing/2014/main" val="2697124124"/>
                    </a:ext>
                  </a:extLst>
                </a:gridCol>
                <a:gridCol w="1498974">
                  <a:extLst>
                    <a:ext uri="{9D8B030D-6E8A-4147-A177-3AD203B41FA5}">
                      <a16:colId xmlns:a16="http://schemas.microsoft.com/office/drawing/2014/main" val="3357270325"/>
                    </a:ext>
                  </a:extLst>
                </a:gridCol>
                <a:gridCol w="1498974">
                  <a:extLst>
                    <a:ext uri="{9D8B030D-6E8A-4147-A177-3AD203B41FA5}">
                      <a16:colId xmlns:a16="http://schemas.microsoft.com/office/drawing/2014/main" val="773271271"/>
                    </a:ext>
                  </a:extLst>
                </a:gridCol>
              </a:tblGrid>
              <a:tr h="3904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dirty="0"/>
                        <a:t>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/>
                        <a:t>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/>
                        <a:t>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/>
                        <a:t>Score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45568132"/>
                  </a:ext>
                </a:extLst>
              </a:tr>
              <a:tr h="4095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/>
                        <a:t>Ana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/>
                        <a:t>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/>
                        <a:t>85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57931983"/>
                  </a:ext>
                </a:extLst>
              </a:tr>
              <a:tr h="4095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/>
                        <a:t>ANA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/>
                        <a:t>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/>
                        <a:t>85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20343047"/>
                  </a:ext>
                </a:extLst>
              </a:tr>
              <a:tr h="4095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/>
                        <a:t>Ana García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/>
                        <a:t>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/>
                        <a:t>85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06371087"/>
                  </a:ext>
                </a:extLst>
              </a:tr>
              <a:tr h="4095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dirty="0"/>
                        <a:t>Ana Bernales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dirty="0"/>
                        <a:t>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dirty="0"/>
                        <a:t>87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81836138"/>
                  </a:ext>
                </a:extLst>
              </a:tr>
            </a:tbl>
          </a:graphicData>
        </a:graphic>
      </p:graphicFrame>
      <p:sp>
        <p:nvSpPr>
          <p:cNvPr id="18" name="CuadroTexto 12">
            <a:extLst>
              <a:ext uri="{FF2B5EF4-FFF2-40B4-BE49-F238E27FC236}">
                <a16:creationId xmlns:a16="http://schemas.microsoft.com/office/drawing/2014/main" id="{48BC8F98-16BE-33FF-D552-CDB1E5044D80}"/>
              </a:ext>
            </a:extLst>
          </p:cNvPr>
          <p:cNvSpPr txBox="1"/>
          <p:nvPr/>
        </p:nvSpPr>
        <p:spPr>
          <a:xfrm>
            <a:off x="77001" y="6578525"/>
            <a:ext cx="133838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4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          </a:t>
            </a:r>
            <a:r>
              <a:rPr lang="es-CL" sz="12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Muñoz-Herrera and  Hormazábal	</a:t>
            </a:r>
            <a:r>
              <a:rPr lang="es-CL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                                                </a:t>
            </a:r>
            <a:r>
              <a:rPr lang="en-US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Clase 3: Data </a:t>
            </a:r>
            <a:r>
              <a:rPr lang="es-419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Cleaning and Transformation 		</a:t>
            </a:r>
            <a:r>
              <a:rPr lang="es-CL" sz="1200" b="1" dirty="0" err="1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Unit</a:t>
            </a:r>
            <a:r>
              <a:rPr lang="es-CL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1: Fundamentals of Business Intelligence     	   </a:t>
            </a:r>
            <a:endParaRPr lang="es-CL" sz="1400" dirty="0">
              <a:latin typeface="CMU Sans Serif" panose="02000603000000000000" pitchFamily="2" charset="0"/>
              <a:ea typeface="CMU Sans Serif" panose="02000603000000000000" pitchFamily="2" charset="0"/>
              <a:cs typeface="CMU Sans Serif" panose="02000603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3722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2809DA-9A2A-7FE9-A42A-81DF9FAD28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ángulo redondeado 12">
            <a:extLst>
              <a:ext uri="{FF2B5EF4-FFF2-40B4-BE49-F238E27FC236}">
                <a16:creationId xmlns:a16="http://schemas.microsoft.com/office/drawing/2014/main" id="{513D1F6C-C76E-431E-CBC1-0CCE07D25372}"/>
              </a:ext>
            </a:extLst>
          </p:cNvPr>
          <p:cNvSpPr/>
          <p:nvPr/>
        </p:nvSpPr>
        <p:spPr>
          <a:xfrm>
            <a:off x="800100" y="1336913"/>
            <a:ext cx="10556567" cy="984443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pic>
        <p:nvPicPr>
          <p:cNvPr id="32" name="Imagen 11">
            <a:extLst>
              <a:ext uri="{FF2B5EF4-FFF2-40B4-BE49-F238E27FC236}">
                <a16:creationId xmlns:a16="http://schemas.microsoft.com/office/drawing/2014/main" id="{0B476D3F-99ED-603C-0C78-8C5AA49D68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6587658"/>
            <a:ext cx="12191996" cy="28887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976E1012-A219-9FC4-C141-329B33159968}"/>
              </a:ext>
            </a:extLst>
          </p:cNvPr>
          <p:cNvSpPr/>
          <p:nvPr/>
        </p:nvSpPr>
        <p:spPr>
          <a:xfrm>
            <a:off x="-4" y="0"/>
            <a:ext cx="12192000" cy="102412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7" name="TextBox 3">
            <a:extLst>
              <a:ext uri="{FF2B5EF4-FFF2-40B4-BE49-F238E27FC236}">
                <a16:creationId xmlns:a16="http://schemas.microsoft.com/office/drawing/2014/main" id="{5BEB4055-BE78-5C73-E2CD-8361D802A762}"/>
              </a:ext>
            </a:extLst>
          </p:cNvPr>
          <p:cNvSpPr txBox="1"/>
          <p:nvPr/>
        </p:nvSpPr>
        <p:spPr>
          <a:xfrm>
            <a:off x="174135" y="377797"/>
            <a:ext cx="119207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latin typeface="CMU Sans Serif" panose="02000603000000000000"/>
                <a:ea typeface="CMU Sans Serif" panose="02000603000000000000" pitchFamily="2" charset="0"/>
                <a:cs typeface="CMU Sans Serif" panose="02000603000000000000" pitchFamily="2" charset="0"/>
              </a:rPr>
              <a:t>Outlier treatment: </a:t>
            </a:r>
            <a:r>
              <a:rPr lang="en-US" sz="3600" b="1" dirty="0" err="1">
                <a:latin typeface="CMU Sans Serif" panose="02000603000000000000"/>
                <a:ea typeface="CMU Sans Serif" panose="02000603000000000000" pitchFamily="2" charset="0"/>
                <a:cs typeface="CMU Sans Serif" panose="02000603000000000000" pitchFamily="2" charset="0"/>
              </a:rPr>
              <a:t>Winsorization</a:t>
            </a:r>
            <a:endParaRPr lang="en-US" sz="3600" b="1" dirty="0">
              <a:latin typeface="CMU Sans Serif" panose="02000603000000000000"/>
              <a:ea typeface="CMU Sans Serif" panose="02000603000000000000" pitchFamily="2" charset="0"/>
              <a:cs typeface="CMU Sans Serif" panose="02000603000000000000" pitchFamily="2" charset="0"/>
            </a:endParaRPr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E5534D2D-0543-DB51-BCCF-14464A1BD8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2787" y="1490359"/>
            <a:ext cx="10097247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0" algn="just"/>
            <a:r>
              <a:rPr lang="es-CL" altLang="es-CL" dirty="0">
                <a:solidFill>
                  <a:srgbClr val="000000"/>
                </a:solidFill>
              </a:rPr>
              <a:t>A </a:t>
            </a:r>
            <a:r>
              <a:rPr lang="es-CL" altLang="es-CL" dirty="0" err="1">
                <a:solidFill>
                  <a:srgbClr val="000000"/>
                </a:solidFill>
              </a:rPr>
              <a:t>technique</a:t>
            </a:r>
            <a:r>
              <a:rPr lang="es-CL" altLang="es-CL" dirty="0">
                <a:solidFill>
                  <a:srgbClr val="000000"/>
                </a:solidFill>
              </a:rPr>
              <a:t> </a:t>
            </a:r>
            <a:r>
              <a:rPr lang="es-CL" altLang="es-CL" dirty="0" err="1">
                <a:solidFill>
                  <a:srgbClr val="000000"/>
                </a:solidFill>
              </a:rPr>
              <a:t>to</a:t>
            </a:r>
            <a:r>
              <a:rPr lang="es-CL" altLang="es-CL" dirty="0">
                <a:solidFill>
                  <a:srgbClr val="000000"/>
                </a:solidFill>
              </a:rPr>
              <a:t> </a:t>
            </a:r>
            <a:r>
              <a:rPr lang="es-CL" altLang="es-CL" dirty="0" err="1">
                <a:solidFill>
                  <a:srgbClr val="000000"/>
                </a:solidFill>
              </a:rPr>
              <a:t>handle</a:t>
            </a:r>
            <a:r>
              <a:rPr lang="es-CL" altLang="es-CL" dirty="0">
                <a:solidFill>
                  <a:srgbClr val="000000"/>
                </a:solidFill>
              </a:rPr>
              <a:t> </a:t>
            </a:r>
            <a:r>
              <a:rPr lang="es-CL" altLang="es-CL" dirty="0" err="1">
                <a:solidFill>
                  <a:srgbClr val="000000"/>
                </a:solidFill>
              </a:rPr>
              <a:t>outliers</a:t>
            </a:r>
            <a:r>
              <a:rPr lang="es-CL" altLang="es-CL" dirty="0">
                <a:solidFill>
                  <a:srgbClr val="000000"/>
                </a:solidFill>
              </a:rPr>
              <a:t> </a:t>
            </a:r>
            <a:r>
              <a:rPr lang="es-CL" altLang="es-CL" dirty="0" err="1">
                <a:solidFill>
                  <a:srgbClr val="000000"/>
                </a:solidFill>
              </a:rPr>
              <a:t>by</a:t>
            </a:r>
            <a:r>
              <a:rPr lang="es-CL" altLang="es-CL" dirty="0">
                <a:solidFill>
                  <a:srgbClr val="000000"/>
                </a:solidFill>
              </a:rPr>
              <a:t> </a:t>
            </a:r>
            <a:r>
              <a:rPr lang="es-CL" altLang="es-CL" b="1" dirty="0" err="1">
                <a:solidFill>
                  <a:srgbClr val="000000"/>
                </a:solidFill>
              </a:rPr>
              <a:t>capping</a:t>
            </a:r>
            <a:r>
              <a:rPr lang="es-CL" altLang="es-CL" dirty="0">
                <a:solidFill>
                  <a:srgbClr val="000000"/>
                </a:solidFill>
              </a:rPr>
              <a:t> extreme </a:t>
            </a:r>
            <a:r>
              <a:rPr lang="es-CL" altLang="es-CL" dirty="0" err="1">
                <a:solidFill>
                  <a:srgbClr val="000000"/>
                </a:solidFill>
              </a:rPr>
              <a:t>values</a:t>
            </a:r>
            <a:r>
              <a:rPr lang="es-CL" altLang="es-CL" dirty="0">
                <a:solidFill>
                  <a:srgbClr val="000000"/>
                </a:solidFill>
              </a:rPr>
              <a:t> at a </a:t>
            </a:r>
            <a:r>
              <a:rPr lang="es-CL" altLang="es-CL" dirty="0" err="1">
                <a:solidFill>
                  <a:srgbClr val="000000"/>
                </a:solidFill>
              </a:rPr>
              <a:t>specified</a:t>
            </a:r>
            <a:r>
              <a:rPr lang="es-CL" altLang="es-CL" dirty="0">
                <a:solidFill>
                  <a:srgbClr val="000000"/>
                </a:solidFill>
              </a:rPr>
              <a:t> </a:t>
            </a:r>
            <a:r>
              <a:rPr lang="es-CL" altLang="es-CL" dirty="0" err="1">
                <a:solidFill>
                  <a:srgbClr val="000000"/>
                </a:solidFill>
              </a:rPr>
              <a:t>percentile</a:t>
            </a:r>
            <a:r>
              <a:rPr lang="es-CL" altLang="es-CL" dirty="0">
                <a:solidFill>
                  <a:srgbClr val="000000"/>
                </a:solidFill>
              </a:rPr>
              <a:t> </a:t>
            </a:r>
            <a:r>
              <a:rPr lang="es-CL" altLang="es-CL" dirty="0" err="1">
                <a:solidFill>
                  <a:srgbClr val="000000"/>
                </a:solidFill>
              </a:rPr>
              <a:t>threshold</a:t>
            </a:r>
            <a:r>
              <a:rPr lang="es-CL" altLang="es-CL" dirty="0">
                <a:solidFill>
                  <a:srgbClr val="000000"/>
                </a:solidFill>
              </a:rPr>
              <a:t> — </a:t>
            </a:r>
            <a:r>
              <a:rPr lang="es-CL" altLang="es-CL" dirty="0" err="1">
                <a:solidFill>
                  <a:srgbClr val="000000"/>
                </a:solidFill>
              </a:rPr>
              <a:t>rather</a:t>
            </a:r>
            <a:r>
              <a:rPr lang="es-CL" altLang="es-CL" dirty="0">
                <a:solidFill>
                  <a:srgbClr val="000000"/>
                </a:solidFill>
              </a:rPr>
              <a:t> </a:t>
            </a:r>
            <a:r>
              <a:rPr lang="es-CL" altLang="es-CL" dirty="0" err="1">
                <a:solidFill>
                  <a:srgbClr val="000000"/>
                </a:solidFill>
              </a:rPr>
              <a:t>than</a:t>
            </a:r>
            <a:r>
              <a:rPr lang="es-CL" altLang="es-CL" dirty="0">
                <a:solidFill>
                  <a:srgbClr val="000000"/>
                </a:solidFill>
              </a:rPr>
              <a:t> </a:t>
            </a:r>
            <a:r>
              <a:rPr lang="es-CL" altLang="es-CL" dirty="0" err="1">
                <a:solidFill>
                  <a:srgbClr val="000000"/>
                </a:solidFill>
              </a:rPr>
              <a:t>removing</a:t>
            </a:r>
            <a:r>
              <a:rPr lang="es-CL" altLang="es-CL" dirty="0">
                <a:solidFill>
                  <a:srgbClr val="000000"/>
                </a:solidFill>
              </a:rPr>
              <a:t> </a:t>
            </a:r>
            <a:r>
              <a:rPr lang="es-CL" altLang="es-CL" dirty="0" err="1">
                <a:solidFill>
                  <a:srgbClr val="000000"/>
                </a:solidFill>
              </a:rPr>
              <a:t>them</a:t>
            </a:r>
            <a:r>
              <a:rPr lang="es-CL" altLang="es-CL" dirty="0">
                <a:solidFill>
                  <a:srgbClr val="000000"/>
                </a:solidFill>
              </a:rPr>
              <a:t>. </a:t>
            </a:r>
            <a:r>
              <a:rPr lang="es-CL" altLang="es-CL" dirty="0" err="1">
                <a:solidFill>
                  <a:srgbClr val="000000"/>
                </a:solidFill>
              </a:rPr>
              <a:t>The</a:t>
            </a:r>
            <a:r>
              <a:rPr lang="es-CL" altLang="es-CL" dirty="0">
                <a:solidFill>
                  <a:srgbClr val="000000"/>
                </a:solidFill>
              </a:rPr>
              <a:t> </a:t>
            </a:r>
            <a:r>
              <a:rPr lang="es-CL" altLang="es-CL" dirty="0" err="1">
                <a:solidFill>
                  <a:srgbClr val="000000"/>
                </a:solidFill>
              </a:rPr>
              <a:t>record</a:t>
            </a:r>
            <a:r>
              <a:rPr lang="es-CL" altLang="es-CL" dirty="0">
                <a:solidFill>
                  <a:srgbClr val="000000"/>
                </a:solidFill>
              </a:rPr>
              <a:t> </a:t>
            </a:r>
            <a:r>
              <a:rPr lang="es-CL" altLang="es-CL" dirty="0" err="1">
                <a:solidFill>
                  <a:srgbClr val="000000"/>
                </a:solidFill>
              </a:rPr>
              <a:t>stays</a:t>
            </a:r>
            <a:r>
              <a:rPr lang="es-CL" altLang="es-CL" dirty="0">
                <a:solidFill>
                  <a:srgbClr val="000000"/>
                </a:solidFill>
              </a:rPr>
              <a:t> in </a:t>
            </a:r>
            <a:r>
              <a:rPr lang="es-CL" altLang="es-CL" dirty="0" err="1">
                <a:solidFill>
                  <a:srgbClr val="000000"/>
                </a:solidFill>
              </a:rPr>
              <a:t>the</a:t>
            </a:r>
            <a:r>
              <a:rPr lang="es-CL" altLang="es-CL" dirty="0">
                <a:solidFill>
                  <a:srgbClr val="000000"/>
                </a:solidFill>
              </a:rPr>
              <a:t> </a:t>
            </a:r>
            <a:r>
              <a:rPr lang="es-CL" altLang="es-CL" dirty="0" err="1">
                <a:solidFill>
                  <a:srgbClr val="000000"/>
                </a:solidFill>
              </a:rPr>
              <a:t>dataset</a:t>
            </a:r>
            <a:r>
              <a:rPr lang="es-CL" altLang="es-CL" dirty="0">
                <a:solidFill>
                  <a:srgbClr val="000000"/>
                </a:solidFill>
              </a:rPr>
              <a:t>; </a:t>
            </a:r>
            <a:r>
              <a:rPr lang="es-CL" altLang="es-CL" dirty="0" err="1">
                <a:solidFill>
                  <a:srgbClr val="000000"/>
                </a:solidFill>
              </a:rPr>
              <a:t>only</a:t>
            </a:r>
            <a:r>
              <a:rPr lang="es-CL" altLang="es-CL" dirty="0">
                <a:solidFill>
                  <a:srgbClr val="000000"/>
                </a:solidFill>
              </a:rPr>
              <a:t> </a:t>
            </a:r>
            <a:r>
              <a:rPr lang="es-CL" altLang="es-CL" dirty="0" err="1">
                <a:solidFill>
                  <a:srgbClr val="000000"/>
                </a:solidFill>
              </a:rPr>
              <a:t>the</a:t>
            </a:r>
            <a:r>
              <a:rPr lang="es-CL" altLang="es-CL" dirty="0">
                <a:solidFill>
                  <a:srgbClr val="000000"/>
                </a:solidFill>
              </a:rPr>
              <a:t> extreme </a:t>
            </a:r>
            <a:r>
              <a:rPr lang="es-CL" altLang="es-CL" dirty="0" err="1">
                <a:solidFill>
                  <a:srgbClr val="000000"/>
                </a:solidFill>
              </a:rPr>
              <a:t>value</a:t>
            </a:r>
            <a:r>
              <a:rPr lang="es-CL" altLang="es-CL" dirty="0">
                <a:solidFill>
                  <a:srgbClr val="000000"/>
                </a:solidFill>
              </a:rPr>
              <a:t> </a:t>
            </a:r>
            <a:r>
              <a:rPr lang="es-CL" altLang="es-CL" dirty="0" err="1">
                <a:solidFill>
                  <a:srgbClr val="000000"/>
                </a:solidFill>
              </a:rPr>
              <a:t>is</a:t>
            </a:r>
            <a:r>
              <a:rPr lang="es-CL" altLang="es-CL" dirty="0">
                <a:solidFill>
                  <a:srgbClr val="000000"/>
                </a:solidFill>
              </a:rPr>
              <a:t> </a:t>
            </a:r>
            <a:r>
              <a:rPr lang="es-CL" altLang="es-CL" dirty="0" err="1">
                <a:solidFill>
                  <a:srgbClr val="000000"/>
                </a:solidFill>
              </a:rPr>
              <a:t>replaced</a:t>
            </a:r>
            <a:r>
              <a:rPr lang="es-CL" altLang="es-CL" dirty="0">
                <a:solidFill>
                  <a:srgbClr val="000000"/>
                </a:solidFill>
              </a:rPr>
              <a:t>.</a:t>
            </a:r>
          </a:p>
          <a:p>
            <a:pPr lvl="0" algn="just"/>
            <a:endParaRPr lang="es-CL" altLang="es-CL" b="1" dirty="0">
              <a:solidFill>
                <a:srgbClr val="000000"/>
              </a:solidFill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CB7C1C46-7850-E735-E99A-D593BB526E3B}"/>
              </a:ext>
            </a:extLst>
          </p:cNvPr>
          <p:cNvSpPr txBox="1"/>
          <p:nvPr/>
        </p:nvSpPr>
        <p:spPr>
          <a:xfrm>
            <a:off x="800100" y="2935764"/>
            <a:ext cx="2957415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/>
            <a:r>
              <a:rPr lang="es-CL" altLang="es-CL" b="1" dirty="0" err="1">
                <a:solidFill>
                  <a:srgbClr val="000000"/>
                </a:solidFill>
              </a:rPr>
              <a:t>How</a:t>
            </a:r>
            <a:r>
              <a:rPr lang="es-CL" altLang="es-CL" b="1" dirty="0">
                <a:solidFill>
                  <a:srgbClr val="000000"/>
                </a:solidFill>
              </a:rPr>
              <a:t> </a:t>
            </a:r>
            <a:r>
              <a:rPr lang="es-CL" altLang="es-CL" b="1" dirty="0" err="1">
                <a:solidFill>
                  <a:srgbClr val="000000"/>
                </a:solidFill>
              </a:rPr>
              <a:t>it</a:t>
            </a:r>
            <a:r>
              <a:rPr lang="es-CL" altLang="es-CL" b="1" dirty="0">
                <a:solidFill>
                  <a:srgbClr val="000000"/>
                </a:solidFill>
              </a:rPr>
              <a:t> </a:t>
            </a:r>
            <a:r>
              <a:rPr lang="es-CL" altLang="es-CL" b="1" dirty="0" err="1">
                <a:solidFill>
                  <a:srgbClr val="000000"/>
                </a:solidFill>
              </a:rPr>
              <a:t>works</a:t>
            </a:r>
            <a:r>
              <a:rPr lang="es-CL" altLang="es-CL" dirty="0">
                <a:solidFill>
                  <a:srgbClr val="000000"/>
                </a:solidFill>
              </a:rPr>
              <a:t> </a:t>
            </a:r>
            <a:r>
              <a:rPr lang="es-CL" altLang="es-CL" dirty="0" err="1">
                <a:solidFill>
                  <a:srgbClr val="000000"/>
                </a:solidFill>
              </a:rPr>
              <a:t>Choose</a:t>
            </a:r>
            <a:r>
              <a:rPr lang="es-CL" altLang="es-CL" dirty="0">
                <a:solidFill>
                  <a:srgbClr val="000000"/>
                </a:solidFill>
              </a:rPr>
              <a:t> a </a:t>
            </a:r>
            <a:r>
              <a:rPr lang="es-CL" altLang="es-CL" dirty="0" err="1">
                <a:solidFill>
                  <a:srgbClr val="000000"/>
                </a:solidFill>
              </a:rPr>
              <a:t>percentile</a:t>
            </a:r>
            <a:r>
              <a:rPr lang="es-CL" altLang="es-CL" dirty="0">
                <a:solidFill>
                  <a:srgbClr val="000000"/>
                </a:solidFill>
              </a:rPr>
              <a:t> </a:t>
            </a:r>
            <a:r>
              <a:rPr lang="es-CL" altLang="es-CL" dirty="0" err="1">
                <a:solidFill>
                  <a:srgbClr val="000000"/>
                </a:solidFill>
              </a:rPr>
              <a:t>limit</a:t>
            </a:r>
            <a:r>
              <a:rPr lang="es-CL" altLang="es-CL" dirty="0">
                <a:solidFill>
                  <a:srgbClr val="000000"/>
                </a:solidFill>
              </a:rPr>
              <a:t> (</a:t>
            </a:r>
            <a:r>
              <a:rPr lang="es-CL" altLang="es-CL" dirty="0" err="1">
                <a:solidFill>
                  <a:srgbClr val="000000"/>
                </a:solidFill>
              </a:rPr>
              <a:t>commonly</a:t>
            </a:r>
            <a:r>
              <a:rPr lang="es-CL" altLang="es-CL" dirty="0">
                <a:solidFill>
                  <a:srgbClr val="000000"/>
                </a:solidFill>
              </a:rPr>
              <a:t> 5th–95th </a:t>
            </a:r>
            <a:r>
              <a:rPr lang="es-CL" altLang="es-CL" dirty="0" err="1">
                <a:solidFill>
                  <a:srgbClr val="000000"/>
                </a:solidFill>
              </a:rPr>
              <a:t>or</a:t>
            </a:r>
            <a:r>
              <a:rPr lang="es-CL" altLang="es-CL" dirty="0">
                <a:solidFill>
                  <a:srgbClr val="000000"/>
                </a:solidFill>
              </a:rPr>
              <a:t> 1st–99th). </a:t>
            </a:r>
            <a:r>
              <a:rPr lang="es-CL" altLang="es-CL" dirty="0" err="1">
                <a:solidFill>
                  <a:srgbClr val="000000"/>
                </a:solidFill>
              </a:rPr>
              <a:t>Any</a:t>
            </a:r>
            <a:r>
              <a:rPr lang="es-CL" altLang="es-CL" dirty="0">
                <a:solidFill>
                  <a:srgbClr val="000000"/>
                </a:solidFill>
              </a:rPr>
              <a:t> </a:t>
            </a:r>
            <a:r>
              <a:rPr lang="es-CL" altLang="es-CL" dirty="0" err="1">
                <a:solidFill>
                  <a:srgbClr val="000000"/>
                </a:solidFill>
              </a:rPr>
              <a:t>value</a:t>
            </a:r>
            <a:r>
              <a:rPr lang="es-CL" altLang="es-CL" dirty="0">
                <a:solidFill>
                  <a:srgbClr val="000000"/>
                </a:solidFill>
              </a:rPr>
              <a:t> </a:t>
            </a:r>
            <a:r>
              <a:rPr lang="es-CL" altLang="es-CL" dirty="0" err="1">
                <a:solidFill>
                  <a:srgbClr val="000000"/>
                </a:solidFill>
              </a:rPr>
              <a:t>below</a:t>
            </a:r>
            <a:r>
              <a:rPr lang="es-CL" altLang="es-CL" dirty="0">
                <a:solidFill>
                  <a:srgbClr val="000000"/>
                </a:solidFill>
              </a:rPr>
              <a:t> </a:t>
            </a:r>
            <a:r>
              <a:rPr lang="es-CL" altLang="es-CL" dirty="0" err="1">
                <a:solidFill>
                  <a:srgbClr val="000000"/>
                </a:solidFill>
              </a:rPr>
              <a:t>the</a:t>
            </a:r>
            <a:r>
              <a:rPr lang="es-CL" altLang="es-CL" dirty="0">
                <a:solidFill>
                  <a:srgbClr val="000000"/>
                </a:solidFill>
              </a:rPr>
              <a:t> </a:t>
            </a:r>
            <a:r>
              <a:rPr lang="es-CL" altLang="es-CL" dirty="0" err="1">
                <a:solidFill>
                  <a:srgbClr val="000000"/>
                </a:solidFill>
              </a:rPr>
              <a:t>lower</a:t>
            </a:r>
            <a:r>
              <a:rPr lang="es-CL" altLang="es-CL" dirty="0">
                <a:solidFill>
                  <a:srgbClr val="000000"/>
                </a:solidFill>
              </a:rPr>
              <a:t> </a:t>
            </a:r>
            <a:r>
              <a:rPr lang="es-CL" altLang="es-CL" dirty="0" err="1">
                <a:solidFill>
                  <a:srgbClr val="000000"/>
                </a:solidFill>
              </a:rPr>
              <a:t>threshold</a:t>
            </a:r>
            <a:r>
              <a:rPr lang="es-CL" altLang="es-CL" dirty="0">
                <a:solidFill>
                  <a:srgbClr val="000000"/>
                </a:solidFill>
              </a:rPr>
              <a:t> </a:t>
            </a:r>
            <a:r>
              <a:rPr lang="es-CL" altLang="es-CL" dirty="0" err="1">
                <a:solidFill>
                  <a:srgbClr val="000000"/>
                </a:solidFill>
              </a:rPr>
              <a:t>is</a:t>
            </a:r>
            <a:r>
              <a:rPr lang="es-CL" altLang="es-CL" dirty="0">
                <a:solidFill>
                  <a:srgbClr val="000000"/>
                </a:solidFill>
              </a:rPr>
              <a:t> </a:t>
            </a:r>
            <a:r>
              <a:rPr lang="es-CL" altLang="es-CL" dirty="0" err="1">
                <a:solidFill>
                  <a:srgbClr val="000000"/>
                </a:solidFill>
              </a:rPr>
              <a:t>replaced</a:t>
            </a:r>
            <a:r>
              <a:rPr lang="es-CL" altLang="es-CL" dirty="0">
                <a:solidFill>
                  <a:srgbClr val="000000"/>
                </a:solidFill>
              </a:rPr>
              <a:t> </a:t>
            </a:r>
            <a:r>
              <a:rPr lang="es-CL" altLang="es-CL" dirty="0" err="1">
                <a:solidFill>
                  <a:srgbClr val="000000"/>
                </a:solidFill>
              </a:rPr>
              <a:t>with</a:t>
            </a:r>
            <a:r>
              <a:rPr lang="es-CL" altLang="es-CL" dirty="0">
                <a:solidFill>
                  <a:srgbClr val="000000"/>
                </a:solidFill>
              </a:rPr>
              <a:t> </a:t>
            </a:r>
            <a:r>
              <a:rPr lang="es-CL" altLang="es-CL" dirty="0" err="1">
                <a:solidFill>
                  <a:srgbClr val="000000"/>
                </a:solidFill>
              </a:rPr>
              <a:t>the</a:t>
            </a:r>
            <a:r>
              <a:rPr lang="es-CL" altLang="es-CL" dirty="0">
                <a:solidFill>
                  <a:srgbClr val="000000"/>
                </a:solidFill>
              </a:rPr>
              <a:t> </a:t>
            </a:r>
            <a:r>
              <a:rPr lang="es-CL" altLang="es-CL" dirty="0" err="1">
                <a:solidFill>
                  <a:srgbClr val="000000"/>
                </a:solidFill>
              </a:rPr>
              <a:t>lower</a:t>
            </a:r>
            <a:r>
              <a:rPr lang="es-CL" altLang="es-CL" dirty="0">
                <a:solidFill>
                  <a:srgbClr val="000000"/>
                </a:solidFill>
              </a:rPr>
              <a:t> </a:t>
            </a:r>
            <a:r>
              <a:rPr lang="es-CL" altLang="es-CL" dirty="0" err="1">
                <a:solidFill>
                  <a:srgbClr val="000000"/>
                </a:solidFill>
              </a:rPr>
              <a:t>threshold</a:t>
            </a:r>
            <a:r>
              <a:rPr lang="es-CL" altLang="es-CL" dirty="0">
                <a:solidFill>
                  <a:srgbClr val="000000"/>
                </a:solidFill>
              </a:rPr>
              <a:t>. </a:t>
            </a:r>
            <a:r>
              <a:rPr lang="es-CL" altLang="es-CL" dirty="0" err="1">
                <a:solidFill>
                  <a:srgbClr val="000000"/>
                </a:solidFill>
              </a:rPr>
              <a:t>Any</a:t>
            </a:r>
            <a:r>
              <a:rPr lang="es-CL" altLang="es-CL" dirty="0">
                <a:solidFill>
                  <a:srgbClr val="000000"/>
                </a:solidFill>
              </a:rPr>
              <a:t> </a:t>
            </a:r>
            <a:r>
              <a:rPr lang="es-CL" altLang="es-CL" dirty="0" err="1">
                <a:solidFill>
                  <a:srgbClr val="000000"/>
                </a:solidFill>
              </a:rPr>
              <a:t>value</a:t>
            </a:r>
            <a:r>
              <a:rPr lang="es-CL" altLang="es-CL" dirty="0">
                <a:solidFill>
                  <a:srgbClr val="000000"/>
                </a:solidFill>
              </a:rPr>
              <a:t> </a:t>
            </a:r>
            <a:r>
              <a:rPr lang="es-CL" altLang="es-CL" dirty="0" err="1">
                <a:solidFill>
                  <a:srgbClr val="000000"/>
                </a:solidFill>
              </a:rPr>
              <a:t>above</a:t>
            </a:r>
            <a:r>
              <a:rPr lang="es-CL" altLang="es-CL" dirty="0">
                <a:solidFill>
                  <a:srgbClr val="000000"/>
                </a:solidFill>
              </a:rPr>
              <a:t> </a:t>
            </a:r>
            <a:r>
              <a:rPr lang="es-CL" altLang="es-CL" dirty="0" err="1">
                <a:solidFill>
                  <a:srgbClr val="000000"/>
                </a:solidFill>
              </a:rPr>
              <a:t>the</a:t>
            </a:r>
            <a:r>
              <a:rPr lang="es-CL" altLang="es-CL" dirty="0">
                <a:solidFill>
                  <a:srgbClr val="000000"/>
                </a:solidFill>
              </a:rPr>
              <a:t> </a:t>
            </a:r>
            <a:r>
              <a:rPr lang="es-CL" altLang="es-CL" dirty="0" err="1">
                <a:solidFill>
                  <a:srgbClr val="000000"/>
                </a:solidFill>
              </a:rPr>
              <a:t>upper</a:t>
            </a:r>
            <a:r>
              <a:rPr lang="es-CL" altLang="es-CL" dirty="0">
                <a:solidFill>
                  <a:srgbClr val="000000"/>
                </a:solidFill>
              </a:rPr>
              <a:t> </a:t>
            </a:r>
            <a:r>
              <a:rPr lang="es-CL" altLang="es-CL" dirty="0" err="1">
                <a:solidFill>
                  <a:srgbClr val="000000"/>
                </a:solidFill>
              </a:rPr>
              <a:t>threshold</a:t>
            </a:r>
            <a:r>
              <a:rPr lang="es-CL" altLang="es-CL" dirty="0">
                <a:solidFill>
                  <a:srgbClr val="000000"/>
                </a:solidFill>
              </a:rPr>
              <a:t> </a:t>
            </a:r>
            <a:r>
              <a:rPr lang="es-CL" altLang="es-CL" dirty="0" err="1">
                <a:solidFill>
                  <a:srgbClr val="000000"/>
                </a:solidFill>
              </a:rPr>
              <a:t>is</a:t>
            </a:r>
            <a:r>
              <a:rPr lang="es-CL" altLang="es-CL" dirty="0">
                <a:solidFill>
                  <a:srgbClr val="000000"/>
                </a:solidFill>
              </a:rPr>
              <a:t> </a:t>
            </a:r>
            <a:r>
              <a:rPr lang="es-CL" altLang="es-CL" dirty="0" err="1">
                <a:solidFill>
                  <a:srgbClr val="000000"/>
                </a:solidFill>
              </a:rPr>
              <a:t>replaced</a:t>
            </a:r>
            <a:r>
              <a:rPr lang="es-CL" altLang="es-CL" dirty="0">
                <a:solidFill>
                  <a:srgbClr val="000000"/>
                </a:solidFill>
              </a:rPr>
              <a:t> </a:t>
            </a:r>
            <a:r>
              <a:rPr lang="es-CL" altLang="es-CL" dirty="0" err="1">
                <a:solidFill>
                  <a:srgbClr val="000000"/>
                </a:solidFill>
              </a:rPr>
              <a:t>with</a:t>
            </a:r>
            <a:r>
              <a:rPr lang="es-CL" altLang="es-CL" dirty="0">
                <a:solidFill>
                  <a:srgbClr val="000000"/>
                </a:solidFill>
              </a:rPr>
              <a:t> </a:t>
            </a:r>
            <a:r>
              <a:rPr lang="es-CL" altLang="es-CL" dirty="0" err="1">
                <a:solidFill>
                  <a:srgbClr val="000000"/>
                </a:solidFill>
              </a:rPr>
              <a:t>the</a:t>
            </a:r>
            <a:r>
              <a:rPr lang="es-CL" altLang="es-CL" dirty="0">
                <a:solidFill>
                  <a:srgbClr val="000000"/>
                </a:solidFill>
              </a:rPr>
              <a:t> </a:t>
            </a:r>
            <a:r>
              <a:rPr lang="es-CL" altLang="es-CL" dirty="0" err="1">
                <a:solidFill>
                  <a:srgbClr val="000000"/>
                </a:solidFill>
              </a:rPr>
              <a:t>upper</a:t>
            </a:r>
            <a:r>
              <a:rPr lang="es-CL" altLang="es-CL" dirty="0">
                <a:solidFill>
                  <a:srgbClr val="000000"/>
                </a:solidFill>
              </a:rPr>
              <a:t> </a:t>
            </a:r>
            <a:r>
              <a:rPr lang="es-CL" altLang="es-CL" dirty="0" err="1">
                <a:solidFill>
                  <a:srgbClr val="000000"/>
                </a:solidFill>
              </a:rPr>
              <a:t>threshold</a:t>
            </a:r>
            <a:r>
              <a:rPr lang="es-CL" altLang="es-CL" dirty="0">
                <a:solidFill>
                  <a:srgbClr val="000000"/>
                </a:solidFill>
              </a:rPr>
              <a:t>.</a:t>
            </a:r>
            <a:endParaRPr lang="es-CL" altLang="es-CL" dirty="0"/>
          </a:p>
        </p:txBody>
      </p:sp>
      <p:graphicFrame>
        <p:nvGraphicFramePr>
          <p:cNvPr id="16" name="Tabla 15">
            <a:extLst>
              <a:ext uri="{FF2B5EF4-FFF2-40B4-BE49-F238E27FC236}">
                <a16:creationId xmlns:a16="http://schemas.microsoft.com/office/drawing/2014/main" id="{BDD6A975-4245-07AD-2DE7-563C8F92B7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7917472"/>
              </p:ext>
            </p:extLst>
          </p:nvPr>
        </p:nvGraphicFramePr>
        <p:xfrm>
          <a:off x="4725703" y="2580353"/>
          <a:ext cx="6022788" cy="354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7596">
                  <a:extLst>
                    <a:ext uri="{9D8B030D-6E8A-4147-A177-3AD203B41FA5}">
                      <a16:colId xmlns:a16="http://schemas.microsoft.com/office/drawing/2014/main" val="167833325"/>
                    </a:ext>
                  </a:extLst>
                </a:gridCol>
                <a:gridCol w="2007596">
                  <a:extLst>
                    <a:ext uri="{9D8B030D-6E8A-4147-A177-3AD203B41FA5}">
                      <a16:colId xmlns:a16="http://schemas.microsoft.com/office/drawing/2014/main" val="806132178"/>
                    </a:ext>
                  </a:extLst>
                </a:gridCol>
                <a:gridCol w="2007596">
                  <a:extLst>
                    <a:ext uri="{9D8B030D-6E8A-4147-A177-3AD203B41FA5}">
                      <a16:colId xmlns:a16="http://schemas.microsoft.com/office/drawing/2014/main" val="155844321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600" dirty="0" err="1"/>
                        <a:t>Student</a:t>
                      </a:r>
                      <a:endParaRPr lang="es-CL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600" dirty="0"/>
                        <a:t>Score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600" dirty="0"/>
                        <a:t>Score – </a:t>
                      </a:r>
                      <a:r>
                        <a:rPr lang="es-CL" sz="1600" dirty="0" err="1"/>
                        <a:t>Winsorizated</a:t>
                      </a:r>
                      <a:r>
                        <a:rPr lang="es-CL" sz="1600" dirty="0"/>
                        <a:t> (90th </a:t>
                      </a:r>
                      <a:r>
                        <a:rPr lang="es-CL" sz="1600" dirty="0" err="1"/>
                        <a:t>percentile</a:t>
                      </a:r>
                      <a:r>
                        <a:rPr lang="es-CL" sz="1600" dirty="0"/>
                        <a:t>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085844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600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600" dirty="0"/>
                        <a:t>55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600" dirty="0"/>
                        <a:t>55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56035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600"/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600" dirty="0"/>
                        <a:t>60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600" dirty="0"/>
                        <a:t>60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454567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600"/>
                        <a:t>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600"/>
                        <a:t>62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600" dirty="0"/>
                        <a:t>62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560419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600"/>
                        <a:t>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600"/>
                        <a:t>65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600" dirty="0"/>
                        <a:t>65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652363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600"/>
                        <a:t>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600" dirty="0"/>
                        <a:t>68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600" dirty="0"/>
                        <a:t>68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65056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600"/>
                        <a:t>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600"/>
                        <a:t>70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600" dirty="0"/>
                        <a:t>70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744664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600"/>
                        <a:t>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600"/>
                        <a:t>72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600" dirty="0"/>
                        <a:t>72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679148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600"/>
                        <a:t>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600" dirty="0"/>
                        <a:t>98 ← </a:t>
                      </a:r>
                      <a:r>
                        <a:rPr lang="es-CL" sz="1600" dirty="0" err="1"/>
                        <a:t>outlier</a:t>
                      </a:r>
                      <a:endParaRPr lang="es-CL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600" dirty="0"/>
                        <a:t>72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47182649"/>
                  </a:ext>
                </a:extLst>
              </a:tr>
            </a:tbl>
          </a:graphicData>
        </a:graphic>
      </p:graphicFrame>
      <p:sp>
        <p:nvSpPr>
          <p:cNvPr id="17" name="CuadroTexto 12">
            <a:extLst>
              <a:ext uri="{FF2B5EF4-FFF2-40B4-BE49-F238E27FC236}">
                <a16:creationId xmlns:a16="http://schemas.microsoft.com/office/drawing/2014/main" id="{3A0D9753-092D-F936-C24F-166F16E60849}"/>
              </a:ext>
            </a:extLst>
          </p:cNvPr>
          <p:cNvSpPr txBox="1"/>
          <p:nvPr/>
        </p:nvSpPr>
        <p:spPr>
          <a:xfrm>
            <a:off x="77001" y="6578525"/>
            <a:ext cx="133838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4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          </a:t>
            </a:r>
            <a:r>
              <a:rPr lang="es-CL" sz="12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Muñoz-Herrera and  Hormazábal	</a:t>
            </a:r>
            <a:r>
              <a:rPr lang="es-CL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                                                </a:t>
            </a:r>
            <a:r>
              <a:rPr lang="en-US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Clase 3: Data </a:t>
            </a:r>
            <a:r>
              <a:rPr lang="es-419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Cleaning and Transformation 		</a:t>
            </a:r>
            <a:r>
              <a:rPr lang="es-CL" sz="1200" b="1" dirty="0" err="1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Unit</a:t>
            </a:r>
            <a:r>
              <a:rPr lang="es-CL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1: Fundamentals of Business Intelligence     	   </a:t>
            </a:r>
            <a:endParaRPr lang="es-CL" sz="1400" dirty="0">
              <a:latin typeface="CMU Sans Serif" panose="02000603000000000000" pitchFamily="2" charset="0"/>
              <a:ea typeface="CMU Sans Serif" panose="02000603000000000000" pitchFamily="2" charset="0"/>
              <a:cs typeface="CMU Sans Serif" panose="02000603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59135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76EC1D-A014-4B4B-82A9-681A366823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Imagen 11">
            <a:extLst>
              <a:ext uri="{FF2B5EF4-FFF2-40B4-BE49-F238E27FC236}">
                <a16:creationId xmlns:a16="http://schemas.microsoft.com/office/drawing/2014/main" id="{8FC34AAB-6B9F-8531-7A7C-64B02DD8675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6587658"/>
            <a:ext cx="12191996" cy="28887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3D4582BD-FC4C-628F-E51B-51477D3C8771}"/>
              </a:ext>
            </a:extLst>
          </p:cNvPr>
          <p:cNvSpPr/>
          <p:nvPr/>
        </p:nvSpPr>
        <p:spPr>
          <a:xfrm>
            <a:off x="-4" y="0"/>
            <a:ext cx="12192000" cy="102412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8" name="Rectángulo redondeado 7">
            <a:extLst>
              <a:ext uri="{FF2B5EF4-FFF2-40B4-BE49-F238E27FC236}">
                <a16:creationId xmlns:a16="http://schemas.microsoft.com/office/drawing/2014/main" id="{ACAB69F1-BB7B-B687-A0EB-782EE0742C7D}"/>
              </a:ext>
            </a:extLst>
          </p:cNvPr>
          <p:cNvSpPr/>
          <p:nvPr/>
        </p:nvSpPr>
        <p:spPr>
          <a:xfrm>
            <a:off x="800100" y="1336914"/>
            <a:ext cx="10952629" cy="881852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7" name="TextBox 3">
            <a:extLst>
              <a:ext uri="{FF2B5EF4-FFF2-40B4-BE49-F238E27FC236}">
                <a16:creationId xmlns:a16="http://schemas.microsoft.com/office/drawing/2014/main" id="{DD48A4FD-6BA6-5E49-734E-5569D34C9026}"/>
              </a:ext>
            </a:extLst>
          </p:cNvPr>
          <p:cNvSpPr txBox="1"/>
          <p:nvPr/>
        </p:nvSpPr>
        <p:spPr>
          <a:xfrm>
            <a:off x="174135" y="377797"/>
            <a:ext cx="119207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latin typeface="CMU Sans Serif" panose="02000603000000000000"/>
                <a:ea typeface="CMU Sans Serif" panose="02000603000000000000" pitchFamily="2" charset="0"/>
                <a:cs typeface="CMU Sans Serif" panose="02000603000000000000" pitchFamily="2" charset="0"/>
              </a:rPr>
              <a:t>Outlier treatment: Log-transformation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A4892D06-0D8C-8F68-CB35-BC11F0A5CA8A}"/>
              </a:ext>
            </a:extLst>
          </p:cNvPr>
          <p:cNvSpPr txBox="1"/>
          <p:nvPr/>
        </p:nvSpPr>
        <p:spPr>
          <a:xfrm>
            <a:off x="1216958" y="1407992"/>
            <a:ext cx="1017494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Log </a:t>
            </a:r>
            <a:r>
              <a:rPr lang="es-CL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transformation</a:t>
            </a:r>
            <a:r>
              <a:rPr lang="es-CL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es-CL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applies</a:t>
            </a:r>
            <a:r>
              <a:rPr lang="es-CL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es-CL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the</a:t>
            </a:r>
            <a:r>
              <a:rPr lang="es-CL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es-CL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logarithm</a:t>
            </a:r>
            <a:r>
              <a:rPr lang="es-CL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es-CL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function</a:t>
            </a:r>
            <a:r>
              <a:rPr lang="es-CL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es-CL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to</a:t>
            </a:r>
            <a:r>
              <a:rPr lang="es-CL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a variable, </a:t>
            </a:r>
            <a:r>
              <a:rPr lang="es-CL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compressing</a:t>
            </a:r>
            <a:r>
              <a:rPr lang="es-CL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es-CL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large</a:t>
            </a:r>
            <a:r>
              <a:rPr lang="es-CL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es-CL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values</a:t>
            </a:r>
            <a:r>
              <a:rPr lang="es-CL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more </a:t>
            </a:r>
            <a:r>
              <a:rPr lang="es-CL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than</a:t>
            </a:r>
            <a:r>
              <a:rPr lang="es-CL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es-CL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small</a:t>
            </a:r>
            <a:r>
              <a:rPr lang="es-CL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es-CL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ones</a:t>
            </a:r>
            <a:r>
              <a:rPr lang="es-CL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. </a:t>
            </a:r>
            <a:r>
              <a:rPr lang="es-CL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This</a:t>
            </a:r>
            <a:r>
              <a:rPr lang="es-CL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reduces </a:t>
            </a:r>
            <a:r>
              <a:rPr lang="es-CL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the</a:t>
            </a:r>
            <a:r>
              <a:rPr lang="es-CL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es-CL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effect</a:t>
            </a:r>
            <a:r>
              <a:rPr lang="es-CL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es-CL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of</a:t>
            </a:r>
            <a:r>
              <a:rPr lang="es-CL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extreme </a:t>
            </a:r>
            <a:r>
              <a:rPr lang="es-CL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outliers</a:t>
            </a:r>
            <a:r>
              <a:rPr lang="es-CL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and can </a:t>
            </a:r>
            <a:r>
              <a:rPr lang="es-CL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make</a:t>
            </a:r>
            <a:r>
              <a:rPr lang="es-CL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a </a:t>
            </a:r>
            <a:r>
              <a:rPr lang="es-CL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skewed</a:t>
            </a:r>
            <a:r>
              <a:rPr lang="es-CL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es-CL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distribution</a:t>
            </a:r>
            <a:r>
              <a:rPr lang="es-CL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more </a:t>
            </a:r>
            <a:r>
              <a:rPr lang="es-CL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symmetric</a:t>
            </a:r>
            <a:r>
              <a:rPr lang="es-CL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.</a:t>
            </a:r>
            <a:endParaRPr lang="es-CL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173BC690-2F06-A9E5-2C34-BFAEFA3404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1176" y="2854128"/>
            <a:ext cx="2971800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L" altLang="es-CL" sz="1800" b="1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Why</a:t>
            </a:r>
            <a:r>
              <a:rPr kumimoji="0" lang="es-CL" altLang="es-CL" sz="1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L" altLang="es-CL" sz="1800" b="1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it</a:t>
            </a:r>
            <a:r>
              <a:rPr kumimoji="0" lang="es-CL" altLang="es-CL" sz="1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L" altLang="es-CL" sz="1800" b="1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works</a:t>
            </a: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 </a:t>
            </a:r>
            <a:r>
              <a:rPr kumimoji="0" lang="es-CL" altLang="es-CL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The</a:t>
            </a: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 log </a:t>
            </a:r>
            <a:r>
              <a:rPr kumimoji="0" lang="es-CL" altLang="es-CL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scale</a:t>
            </a: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kumimoji="0" lang="es-CL" altLang="es-CL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grows</a:t>
            </a: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kumimoji="0" lang="es-CL" altLang="es-CL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slowly</a:t>
            </a: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 — </a:t>
            </a:r>
            <a:r>
              <a:rPr kumimoji="0" lang="es-CL" altLang="es-CL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the</a:t>
            </a: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 gap </a:t>
            </a:r>
            <a:r>
              <a:rPr kumimoji="0" lang="es-CL" altLang="es-CL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between</a:t>
            </a: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 10 and 100 </a:t>
            </a:r>
            <a:r>
              <a:rPr kumimoji="0" lang="es-CL" altLang="es-CL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becomes</a:t>
            </a: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kumimoji="0" lang="es-CL" altLang="es-CL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the</a:t>
            </a: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kumimoji="0" lang="es-CL" altLang="es-CL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same</a:t>
            </a: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  as </a:t>
            </a:r>
            <a:r>
              <a:rPr kumimoji="0" lang="es-CL" altLang="es-CL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the</a:t>
            </a: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 gap </a:t>
            </a:r>
            <a:r>
              <a:rPr kumimoji="0" lang="es-CL" altLang="es-CL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between</a:t>
            </a: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 100 and 1,000. Extreme </a:t>
            </a:r>
            <a:r>
              <a:rPr kumimoji="0" lang="es-CL" altLang="es-CL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high</a:t>
            </a: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kumimoji="0" lang="es-CL" altLang="es-CL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values</a:t>
            </a: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 are </a:t>
            </a:r>
            <a:r>
              <a:rPr kumimoji="0" lang="es-CL" altLang="es-CL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pulled</a:t>
            </a: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kumimoji="0" lang="es-CL" altLang="es-CL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inward</a:t>
            </a: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; </a:t>
            </a:r>
            <a:r>
              <a:rPr kumimoji="0" lang="es-CL" altLang="es-CL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small</a:t>
            </a: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kumimoji="0" lang="es-CL" altLang="es-CL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values</a:t>
            </a: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 spread </a:t>
            </a:r>
            <a:r>
              <a:rPr kumimoji="0" lang="es-CL" altLang="es-CL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out</a:t>
            </a: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kumimoji="0" lang="es-CL" altLang="es-CL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slightly</a:t>
            </a: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.</a:t>
            </a:r>
            <a:endParaRPr kumimoji="0" lang="es-CL" altLang="es-CL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11" name="Tabla 10">
            <a:extLst>
              <a:ext uri="{FF2B5EF4-FFF2-40B4-BE49-F238E27FC236}">
                <a16:creationId xmlns:a16="http://schemas.microsoft.com/office/drawing/2014/main" id="{75DA2C7F-BF65-A4F2-5905-E74325D6FC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9904106"/>
              </p:ext>
            </p:extLst>
          </p:nvPr>
        </p:nvGraphicFramePr>
        <p:xfrm>
          <a:off x="5124824" y="2854128"/>
          <a:ext cx="6096000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222626704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590463925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7219015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dirty="0" err="1"/>
                        <a:t>Person</a:t>
                      </a:r>
                      <a:endParaRPr lang="es-CL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/>
                        <a:t>Income ($)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/>
                        <a:t>Log₁₀(Income)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724489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/>
                        <a:t>1,000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/>
                        <a:t>3.00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21238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/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/>
                        <a:t>1,500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/>
                        <a:t>3.18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873565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/>
                        <a:t>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/>
                        <a:t>2,000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/>
                        <a:t>3.30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175652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/>
                        <a:t>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/>
                        <a:t>2,500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/>
                        <a:t>3.40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70287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/>
                        <a:t>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/>
                        <a:t>3,000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/>
                        <a:t>3.48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242476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/>
                        <a:t>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/>
                        <a:t>120,000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dirty="0"/>
                        <a:t>5.08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56343207"/>
                  </a:ext>
                </a:extLst>
              </a:tr>
            </a:tbl>
          </a:graphicData>
        </a:graphic>
      </p:graphicFrame>
      <p:sp>
        <p:nvSpPr>
          <p:cNvPr id="13" name="CuadroTexto 12">
            <a:extLst>
              <a:ext uri="{FF2B5EF4-FFF2-40B4-BE49-F238E27FC236}">
                <a16:creationId xmlns:a16="http://schemas.microsoft.com/office/drawing/2014/main" id="{558DFD3C-F486-FBDD-2ED2-B5DE6D65CDC8}"/>
              </a:ext>
            </a:extLst>
          </p:cNvPr>
          <p:cNvSpPr txBox="1"/>
          <p:nvPr/>
        </p:nvSpPr>
        <p:spPr>
          <a:xfrm>
            <a:off x="77001" y="6578525"/>
            <a:ext cx="133838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4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          </a:t>
            </a:r>
            <a:r>
              <a:rPr lang="es-CL" sz="12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Muñoz-Herrera and  Hormazábal	</a:t>
            </a:r>
            <a:r>
              <a:rPr lang="es-CL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                                                </a:t>
            </a:r>
            <a:r>
              <a:rPr lang="en-US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Clase 3: Data </a:t>
            </a:r>
            <a:r>
              <a:rPr lang="es-419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Cleaning and Transformation 		</a:t>
            </a:r>
            <a:r>
              <a:rPr lang="es-CL" sz="1200" b="1" dirty="0" err="1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Unit</a:t>
            </a:r>
            <a:r>
              <a:rPr lang="es-CL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1: Fundamentals of Business Intelligence     	   </a:t>
            </a:r>
            <a:endParaRPr lang="es-CL" sz="1400" dirty="0">
              <a:latin typeface="CMU Sans Serif" panose="02000603000000000000" pitchFamily="2" charset="0"/>
              <a:ea typeface="CMU Sans Serif" panose="02000603000000000000" pitchFamily="2" charset="0"/>
              <a:cs typeface="CMU Sans Serif" panose="02000603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80213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A0BF0D-A724-F8EE-C6E8-CC9D0DEA11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Imagen 11">
            <a:extLst>
              <a:ext uri="{FF2B5EF4-FFF2-40B4-BE49-F238E27FC236}">
                <a16:creationId xmlns:a16="http://schemas.microsoft.com/office/drawing/2014/main" id="{36BAE5AC-FF06-0E4C-D989-603FC14772C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6587658"/>
            <a:ext cx="12191996" cy="28887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EE1821B3-95DA-6192-B327-9F73D1783819}"/>
              </a:ext>
            </a:extLst>
          </p:cNvPr>
          <p:cNvSpPr/>
          <p:nvPr/>
        </p:nvSpPr>
        <p:spPr>
          <a:xfrm>
            <a:off x="-4" y="0"/>
            <a:ext cx="12192000" cy="102412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8" name="Rectángulo redondeado 7">
            <a:extLst>
              <a:ext uri="{FF2B5EF4-FFF2-40B4-BE49-F238E27FC236}">
                <a16:creationId xmlns:a16="http://schemas.microsoft.com/office/drawing/2014/main" id="{D55790FA-D231-B53A-8163-8ED91588CED5}"/>
              </a:ext>
            </a:extLst>
          </p:cNvPr>
          <p:cNvSpPr/>
          <p:nvPr/>
        </p:nvSpPr>
        <p:spPr>
          <a:xfrm>
            <a:off x="800100" y="1336914"/>
            <a:ext cx="10952629" cy="881852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7" name="TextBox 3">
            <a:extLst>
              <a:ext uri="{FF2B5EF4-FFF2-40B4-BE49-F238E27FC236}">
                <a16:creationId xmlns:a16="http://schemas.microsoft.com/office/drawing/2014/main" id="{91CA0888-B70D-7A87-4C74-0B35637C21F9}"/>
              </a:ext>
            </a:extLst>
          </p:cNvPr>
          <p:cNvSpPr txBox="1"/>
          <p:nvPr/>
        </p:nvSpPr>
        <p:spPr>
          <a:xfrm>
            <a:off x="174135" y="377797"/>
            <a:ext cx="119207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latin typeface="CMU Sans Serif" panose="02000603000000000000"/>
                <a:ea typeface="CMU Sans Serif" panose="02000603000000000000" pitchFamily="2" charset="0"/>
                <a:cs typeface="CMU Sans Serif" panose="02000603000000000000" pitchFamily="2" charset="0"/>
              </a:rPr>
              <a:t>Outlier treatment: Log-transformation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93EFA4F7-CE4B-8492-E8F5-01EF3E3AAABE}"/>
              </a:ext>
            </a:extLst>
          </p:cNvPr>
          <p:cNvSpPr txBox="1"/>
          <p:nvPr/>
        </p:nvSpPr>
        <p:spPr>
          <a:xfrm>
            <a:off x="1216958" y="1407992"/>
            <a:ext cx="1017494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Log </a:t>
            </a:r>
            <a:r>
              <a:rPr lang="es-CL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transformation</a:t>
            </a:r>
            <a:r>
              <a:rPr lang="es-CL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es-CL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applies</a:t>
            </a:r>
            <a:r>
              <a:rPr lang="es-CL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es-CL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the</a:t>
            </a:r>
            <a:r>
              <a:rPr lang="es-CL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es-CL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logarithm</a:t>
            </a:r>
            <a:r>
              <a:rPr lang="es-CL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es-CL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function</a:t>
            </a:r>
            <a:r>
              <a:rPr lang="es-CL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es-CL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to</a:t>
            </a:r>
            <a:r>
              <a:rPr lang="es-CL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a variable, </a:t>
            </a:r>
            <a:r>
              <a:rPr lang="es-CL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compressing</a:t>
            </a:r>
            <a:r>
              <a:rPr lang="es-CL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es-CL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large</a:t>
            </a:r>
            <a:r>
              <a:rPr lang="es-CL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es-CL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values</a:t>
            </a:r>
            <a:r>
              <a:rPr lang="es-CL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more </a:t>
            </a:r>
            <a:r>
              <a:rPr lang="es-CL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than</a:t>
            </a:r>
            <a:r>
              <a:rPr lang="es-CL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es-CL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small</a:t>
            </a:r>
            <a:r>
              <a:rPr lang="es-CL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es-CL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ones</a:t>
            </a:r>
            <a:r>
              <a:rPr lang="es-CL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. </a:t>
            </a:r>
            <a:r>
              <a:rPr lang="es-CL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This</a:t>
            </a:r>
            <a:r>
              <a:rPr lang="es-CL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reduces </a:t>
            </a:r>
            <a:r>
              <a:rPr lang="es-CL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the</a:t>
            </a:r>
            <a:r>
              <a:rPr lang="es-CL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es-CL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effect</a:t>
            </a:r>
            <a:r>
              <a:rPr lang="es-CL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es-CL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of</a:t>
            </a:r>
            <a:r>
              <a:rPr lang="es-CL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extreme </a:t>
            </a:r>
            <a:r>
              <a:rPr lang="es-CL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outliers</a:t>
            </a:r>
            <a:r>
              <a:rPr lang="es-CL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and can </a:t>
            </a:r>
            <a:r>
              <a:rPr lang="es-CL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make</a:t>
            </a:r>
            <a:r>
              <a:rPr lang="es-CL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a </a:t>
            </a:r>
            <a:r>
              <a:rPr lang="es-CL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skewed</a:t>
            </a:r>
            <a:r>
              <a:rPr lang="es-CL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es-CL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distribution</a:t>
            </a:r>
            <a:r>
              <a:rPr lang="es-CL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more </a:t>
            </a:r>
            <a:r>
              <a:rPr lang="es-CL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symmetric</a:t>
            </a:r>
            <a:r>
              <a:rPr lang="es-CL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.</a:t>
            </a:r>
            <a:endParaRPr lang="es-CL" dirty="0"/>
          </a:p>
        </p:txBody>
      </p:sp>
      <p:graphicFrame>
        <p:nvGraphicFramePr>
          <p:cNvPr id="10" name="Tabla 9">
            <a:extLst>
              <a:ext uri="{FF2B5EF4-FFF2-40B4-BE49-F238E27FC236}">
                <a16:creationId xmlns:a16="http://schemas.microsoft.com/office/drawing/2014/main" id="{39B2AFEA-C356-F322-D3E8-5CF5F8F577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6079823"/>
              </p:ext>
            </p:extLst>
          </p:nvPr>
        </p:nvGraphicFramePr>
        <p:xfrm>
          <a:off x="800100" y="2898090"/>
          <a:ext cx="4780430" cy="283972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390215">
                  <a:extLst>
                    <a:ext uri="{9D8B030D-6E8A-4147-A177-3AD203B41FA5}">
                      <a16:colId xmlns:a16="http://schemas.microsoft.com/office/drawing/2014/main" val="3980117172"/>
                    </a:ext>
                  </a:extLst>
                </a:gridCol>
                <a:gridCol w="2390215">
                  <a:extLst>
                    <a:ext uri="{9D8B030D-6E8A-4147-A177-3AD203B41FA5}">
                      <a16:colId xmlns:a16="http://schemas.microsoft.com/office/drawing/2014/main" val="266639405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dirty="0" err="1"/>
                        <a:t>Condition</a:t>
                      </a:r>
                      <a:endParaRPr lang="es-CL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dirty="0"/>
                        <a:t>Reason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762740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/>
                        <a:t>All values must be &gt; 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/>
                        <a:t>log(0) and log(negative) are undefined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932519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/>
                        <a:t>If zeros exist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/>
                        <a:t>use log(x + 1) — called log1p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799402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dirty="0" err="1"/>
                        <a:t>Interpretation</a:t>
                      </a:r>
                      <a:r>
                        <a:rPr lang="es-CL" dirty="0"/>
                        <a:t> </a:t>
                      </a:r>
                      <a:r>
                        <a:rPr lang="es-CL" dirty="0" err="1"/>
                        <a:t>changes</a:t>
                      </a:r>
                      <a:endParaRPr lang="es-CL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dirty="0" err="1"/>
                        <a:t>model</a:t>
                      </a:r>
                      <a:r>
                        <a:rPr lang="es-CL" dirty="0"/>
                        <a:t> </a:t>
                      </a:r>
                      <a:r>
                        <a:rPr lang="es-CL" dirty="0" err="1"/>
                        <a:t>results</a:t>
                      </a:r>
                      <a:r>
                        <a:rPr lang="es-CL" dirty="0"/>
                        <a:t> are </a:t>
                      </a:r>
                      <a:r>
                        <a:rPr lang="es-CL" dirty="0" err="1"/>
                        <a:t>on</a:t>
                      </a:r>
                      <a:r>
                        <a:rPr lang="es-CL" dirty="0"/>
                        <a:t> </a:t>
                      </a:r>
                      <a:r>
                        <a:rPr lang="es-CL" dirty="0" err="1"/>
                        <a:t>the</a:t>
                      </a:r>
                      <a:r>
                        <a:rPr lang="es-CL" dirty="0"/>
                        <a:t> log </a:t>
                      </a:r>
                      <a:r>
                        <a:rPr lang="es-CL" dirty="0" err="1"/>
                        <a:t>scale</a:t>
                      </a:r>
                      <a:r>
                        <a:rPr lang="es-CL" dirty="0"/>
                        <a:t>, </a:t>
                      </a:r>
                      <a:r>
                        <a:rPr lang="es-CL" dirty="0" err="1"/>
                        <a:t>must</a:t>
                      </a:r>
                      <a:r>
                        <a:rPr lang="es-CL" dirty="0"/>
                        <a:t> back-</a:t>
                      </a:r>
                      <a:r>
                        <a:rPr lang="es-CL" dirty="0" err="1"/>
                        <a:t>transform</a:t>
                      </a:r>
                      <a:r>
                        <a:rPr lang="es-CL" dirty="0"/>
                        <a:t> </a:t>
                      </a:r>
                      <a:r>
                        <a:rPr lang="es-CL" dirty="0" err="1"/>
                        <a:t>to</a:t>
                      </a:r>
                      <a:r>
                        <a:rPr lang="es-CL" dirty="0"/>
                        <a:t> </a:t>
                      </a:r>
                      <a:r>
                        <a:rPr lang="es-CL" dirty="0" err="1"/>
                        <a:t>interpret</a:t>
                      </a:r>
                      <a:endParaRPr lang="es-CL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45993374"/>
                  </a:ext>
                </a:extLst>
              </a:tr>
            </a:tbl>
          </a:graphicData>
        </a:graphic>
      </p:graphicFrame>
      <p:sp>
        <p:nvSpPr>
          <p:cNvPr id="12" name="CuadroTexto 11">
            <a:extLst>
              <a:ext uri="{FF2B5EF4-FFF2-40B4-BE49-F238E27FC236}">
                <a16:creationId xmlns:a16="http://schemas.microsoft.com/office/drawing/2014/main" id="{2EFAE47B-1CC8-39AC-E8A3-5CBFE83FB302}"/>
              </a:ext>
            </a:extLst>
          </p:cNvPr>
          <p:cNvSpPr txBox="1"/>
          <p:nvPr/>
        </p:nvSpPr>
        <p:spPr>
          <a:xfrm>
            <a:off x="800100" y="2373762"/>
            <a:ext cx="25482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b="1" dirty="0" err="1"/>
              <a:t>Important</a:t>
            </a:r>
            <a:r>
              <a:rPr lang="es-CL" b="1" dirty="0"/>
              <a:t> </a:t>
            </a:r>
            <a:r>
              <a:rPr lang="es-CL" b="1" dirty="0" err="1"/>
              <a:t>Conditions</a:t>
            </a:r>
            <a:endParaRPr lang="es-CL" b="1" dirty="0"/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5BB47823-E792-9829-91E2-8EB25C354C0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5996" y="2373762"/>
            <a:ext cx="5698161" cy="3519749"/>
          </a:xfrm>
          <a:prstGeom prst="rect">
            <a:avLst/>
          </a:prstGeom>
        </p:spPr>
      </p:pic>
      <p:sp>
        <p:nvSpPr>
          <p:cNvPr id="15" name="CuadroTexto 12">
            <a:extLst>
              <a:ext uri="{FF2B5EF4-FFF2-40B4-BE49-F238E27FC236}">
                <a16:creationId xmlns:a16="http://schemas.microsoft.com/office/drawing/2014/main" id="{04D9B853-36DF-EF3A-896D-72ACC79D8D40}"/>
              </a:ext>
            </a:extLst>
          </p:cNvPr>
          <p:cNvSpPr txBox="1"/>
          <p:nvPr/>
        </p:nvSpPr>
        <p:spPr>
          <a:xfrm>
            <a:off x="77001" y="6578525"/>
            <a:ext cx="133838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4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          </a:t>
            </a:r>
            <a:r>
              <a:rPr lang="es-CL" sz="12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Muñoz-Herrera and  Hormazábal	</a:t>
            </a:r>
            <a:r>
              <a:rPr lang="es-CL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                                                </a:t>
            </a:r>
            <a:r>
              <a:rPr lang="en-US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Clase 3: Data </a:t>
            </a:r>
            <a:r>
              <a:rPr lang="es-419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Cleaning and Transformation 		</a:t>
            </a:r>
            <a:r>
              <a:rPr lang="es-CL" sz="1200" b="1" dirty="0" err="1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Unit</a:t>
            </a:r>
            <a:r>
              <a:rPr lang="es-CL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1: Fundamentals of Business Intelligence     	   </a:t>
            </a:r>
            <a:endParaRPr lang="es-CL" sz="1400" dirty="0">
              <a:latin typeface="CMU Sans Serif" panose="02000603000000000000" pitchFamily="2" charset="0"/>
              <a:ea typeface="CMU Sans Serif" panose="02000603000000000000" pitchFamily="2" charset="0"/>
              <a:cs typeface="CMU Sans Serif" panose="02000603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89766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40DF0A-8858-D3EB-3496-7FE2421217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Imagen 11">
            <a:extLst>
              <a:ext uri="{FF2B5EF4-FFF2-40B4-BE49-F238E27FC236}">
                <a16:creationId xmlns:a16="http://schemas.microsoft.com/office/drawing/2014/main" id="{86435AF7-5553-4F08-C22D-1388F064A23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6587658"/>
            <a:ext cx="12191996" cy="28887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8FB72825-4A1F-E59A-AAA1-75271446A247}"/>
              </a:ext>
            </a:extLst>
          </p:cNvPr>
          <p:cNvSpPr/>
          <p:nvPr/>
        </p:nvSpPr>
        <p:spPr>
          <a:xfrm>
            <a:off x="-4" y="0"/>
            <a:ext cx="12192000" cy="102412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7" name="TextBox 3">
            <a:extLst>
              <a:ext uri="{FF2B5EF4-FFF2-40B4-BE49-F238E27FC236}">
                <a16:creationId xmlns:a16="http://schemas.microsoft.com/office/drawing/2014/main" id="{E9F942A9-7D50-387F-ACC4-21124B85DDF8}"/>
              </a:ext>
            </a:extLst>
          </p:cNvPr>
          <p:cNvSpPr txBox="1"/>
          <p:nvPr/>
        </p:nvSpPr>
        <p:spPr>
          <a:xfrm>
            <a:off x="174135" y="377797"/>
            <a:ext cx="119207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latin typeface="CMU Sans Serif" panose="02000603000000000000"/>
                <a:ea typeface="CMU Sans Serif" panose="02000603000000000000" pitchFamily="2" charset="0"/>
                <a:cs typeface="CMU Sans Serif" panose="02000603000000000000" pitchFamily="2" charset="0"/>
              </a:rPr>
              <a:t>Normalization (Min-Max scaling)</a:t>
            </a:r>
          </a:p>
        </p:txBody>
      </p:sp>
      <p:sp>
        <p:nvSpPr>
          <p:cNvPr id="4" name="Rectángulo redondeado 3">
            <a:extLst>
              <a:ext uri="{FF2B5EF4-FFF2-40B4-BE49-F238E27FC236}">
                <a16:creationId xmlns:a16="http://schemas.microsoft.com/office/drawing/2014/main" id="{5B35CAF1-2A44-7FD2-14A8-6799B69120D1}"/>
              </a:ext>
            </a:extLst>
          </p:cNvPr>
          <p:cNvSpPr/>
          <p:nvPr/>
        </p:nvSpPr>
        <p:spPr>
          <a:xfrm>
            <a:off x="800100" y="1336913"/>
            <a:ext cx="10556567" cy="2092087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B5B70416-500E-7F1C-BC7E-4C6F69A3F8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0365" y="1401925"/>
            <a:ext cx="10110694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L" altLang="es-CL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Normalization</a:t>
            </a:r>
            <a:r>
              <a:rPr kumimoji="0" lang="es-CL" altLang="es-CL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kumimoji="0" lang="es-CL" altLang="es-CL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rescales</a:t>
            </a:r>
            <a:r>
              <a:rPr kumimoji="0" lang="es-CL" altLang="es-CL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kumimoji="0" lang="es-CL" altLang="es-CL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all</a:t>
            </a:r>
            <a:r>
              <a:rPr kumimoji="0" lang="es-CL" altLang="es-CL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kumimoji="0" lang="es-CL" altLang="es-CL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values</a:t>
            </a:r>
            <a:r>
              <a:rPr kumimoji="0" lang="es-CL" altLang="es-CL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kumimoji="0" lang="es-CL" altLang="es-CL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of</a:t>
            </a:r>
            <a:r>
              <a:rPr kumimoji="0" lang="es-CL" altLang="es-CL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 a variable </a:t>
            </a:r>
            <a:r>
              <a:rPr kumimoji="0" lang="es-CL" altLang="es-CL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to</a:t>
            </a:r>
            <a:r>
              <a:rPr kumimoji="0" lang="es-CL" altLang="es-CL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 a </a:t>
            </a:r>
            <a:r>
              <a:rPr kumimoji="0" lang="es-CL" altLang="es-CL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fixed</a:t>
            </a:r>
            <a:r>
              <a:rPr kumimoji="0" lang="es-CL" altLang="es-CL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kumimoji="0" lang="es-CL" altLang="es-CL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range</a:t>
            </a:r>
            <a:r>
              <a:rPr kumimoji="0" lang="es-CL" altLang="es-CL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, </a:t>
            </a:r>
            <a:r>
              <a:rPr kumimoji="0" lang="es-CL" altLang="es-CL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typically</a:t>
            </a:r>
            <a:r>
              <a:rPr kumimoji="0" lang="es-CL" altLang="es-CL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 </a:t>
            </a:r>
            <a:r>
              <a:rPr kumimoji="0" lang="es-CL" altLang="es-CL" sz="2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0 </a:t>
            </a:r>
            <a:r>
              <a:rPr kumimoji="0" lang="es-CL" altLang="es-CL" sz="2000" b="1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</a:rPr>
              <a:t>to</a:t>
            </a:r>
            <a:r>
              <a:rPr kumimoji="0" lang="es-CL" altLang="es-CL" sz="2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 1</a:t>
            </a:r>
            <a:r>
              <a:rPr kumimoji="0" lang="es-CL" altLang="es-CL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, </a:t>
            </a:r>
            <a:r>
              <a:rPr kumimoji="0" lang="es-CL" altLang="es-CL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by</a:t>
            </a:r>
            <a:r>
              <a:rPr kumimoji="0" lang="es-CL" altLang="es-CL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kumimoji="0" lang="es-CL" altLang="es-CL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subtracting</a:t>
            </a:r>
            <a:r>
              <a:rPr kumimoji="0" lang="es-CL" altLang="es-CL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kumimoji="0" lang="es-CL" altLang="es-CL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the</a:t>
            </a:r>
            <a:r>
              <a:rPr kumimoji="0" lang="es-CL" altLang="es-CL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kumimoji="0" lang="es-CL" altLang="es-CL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minimum</a:t>
            </a:r>
            <a:r>
              <a:rPr kumimoji="0" lang="es-CL" altLang="es-CL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 and </a:t>
            </a:r>
            <a:r>
              <a:rPr kumimoji="0" lang="es-CL" altLang="es-CL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dividing</a:t>
            </a:r>
            <a:r>
              <a:rPr kumimoji="0" lang="es-CL" altLang="es-CL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kumimoji="0" lang="es-CL" altLang="es-CL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by</a:t>
            </a:r>
            <a:r>
              <a:rPr kumimoji="0" lang="es-CL" altLang="es-CL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kumimoji="0" lang="es-CL" altLang="es-CL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the</a:t>
            </a:r>
            <a:r>
              <a:rPr kumimoji="0" lang="es-CL" altLang="es-CL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kumimoji="0" lang="es-CL" altLang="es-CL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range</a:t>
            </a:r>
            <a:r>
              <a:rPr kumimoji="0" lang="es-CL" altLang="es-CL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. </a:t>
            </a:r>
            <a:r>
              <a:rPr kumimoji="0" lang="es-CL" altLang="es-CL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It</a:t>
            </a:r>
            <a:r>
              <a:rPr kumimoji="0" lang="es-CL" altLang="es-CL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 preserves </a:t>
            </a:r>
            <a:r>
              <a:rPr kumimoji="0" lang="es-CL" altLang="es-CL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the</a:t>
            </a:r>
            <a:r>
              <a:rPr kumimoji="0" lang="es-CL" altLang="es-CL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kumimoji="0" lang="es-CL" altLang="es-CL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shape</a:t>
            </a:r>
            <a:r>
              <a:rPr kumimoji="0" lang="es-CL" altLang="es-CL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kumimoji="0" lang="es-CL" altLang="es-CL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of</a:t>
            </a:r>
            <a:r>
              <a:rPr kumimoji="0" lang="es-CL" altLang="es-CL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kumimoji="0" lang="es-CL" altLang="es-CL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the</a:t>
            </a:r>
            <a:r>
              <a:rPr kumimoji="0" lang="es-CL" altLang="es-CL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 original </a:t>
            </a:r>
            <a:r>
              <a:rPr kumimoji="0" lang="es-CL" altLang="es-CL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distribution</a:t>
            </a:r>
            <a:r>
              <a:rPr kumimoji="0" lang="es-CL" altLang="es-CL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kumimoji="0" lang="es-CL" altLang="es-CL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but</a:t>
            </a:r>
            <a:r>
              <a:rPr kumimoji="0" lang="es-CL" altLang="es-CL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kumimoji="0" lang="es-CL" altLang="es-CL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changes</a:t>
            </a:r>
            <a:r>
              <a:rPr kumimoji="0" lang="es-CL" altLang="es-CL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kumimoji="0" lang="es-CL" altLang="es-CL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the</a:t>
            </a:r>
            <a:r>
              <a:rPr kumimoji="0" lang="es-CL" altLang="es-CL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kumimoji="0" lang="es-CL" altLang="es-CL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scale</a:t>
            </a:r>
            <a:r>
              <a:rPr kumimoji="0" lang="es-CL" altLang="es-CL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.</a:t>
            </a:r>
            <a:endParaRPr kumimoji="0" lang="es-CL" altLang="es-CL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9D068D8F-1DB3-05EC-02E1-84C3B4CA0590}"/>
                  </a:ext>
                </a:extLst>
              </p:cNvPr>
              <p:cNvSpPr txBox="1"/>
              <p:nvPr/>
            </p:nvSpPr>
            <p:spPr>
              <a:xfrm>
                <a:off x="4558553" y="2482600"/>
                <a:ext cx="1942391" cy="56541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s-CL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419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p>
                          <m:r>
                            <a:rPr lang="es-CL" i="1">
                              <a:latin typeface="Cambria Math" panose="02040503050406030204" pitchFamily="18" charset="0"/>
                            </a:rPr>
                            <m:t>´</m:t>
                          </m:r>
                        </m:sup>
                      </m:sSup>
                      <m:r>
                        <a:rPr lang="es-419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s-419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419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s-419" b="0" i="1" smtClean="0">
                              <a:latin typeface="Cambria Math" panose="02040503050406030204" pitchFamily="18" charset="0"/>
                            </a:rPr>
                            <m:t> −</m:t>
                          </m:r>
                          <m:sSub>
                            <m:sSubPr>
                              <m:ctrlPr>
                                <a:rPr lang="es-419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419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s-419" b="0" i="1" smtClean="0">
                                  <a:latin typeface="Cambria Math" panose="02040503050406030204" pitchFamily="18" charset="0"/>
                                </a:rPr>
                                <m:t>𝑚𝑖𝑛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s-419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419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s-419" b="0" i="1" smtClean="0">
                                  <a:latin typeface="Cambria Math" panose="02040503050406030204" pitchFamily="18" charset="0"/>
                                </a:rPr>
                                <m:t>𝑚𝑎𝑥</m:t>
                              </m:r>
                            </m:sub>
                          </m:sSub>
                          <m:r>
                            <a:rPr lang="es-419" b="0" i="1" smtClean="0">
                              <a:latin typeface="Cambria Math" panose="02040503050406030204" pitchFamily="18" charset="0"/>
                            </a:rPr>
                            <m:t> −</m:t>
                          </m:r>
                          <m:sSub>
                            <m:sSubPr>
                              <m:ctrlPr>
                                <a:rPr lang="es-419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419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s-419" b="0" i="1" smtClean="0">
                                  <a:latin typeface="Cambria Math" panose="02040503050406030204" pitchFamily="18" charset="0"/>
                                </a:rPr>
                                <m:t>𝑚𝑖𝑛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s-CL" dirty="0"/>
              </a:p>
            </p:txBody>
          </p:sp>
        </mc:Choice>
        <mc:Fallback xmlns=""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9D068D8F-1DB3-05EC-02E1-84C3B4CA05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58553" y="2482600"/>
                <a:ext cx="1942391" cy="565411"/>
              </a:xfrm>
              <a:prstGeom prst="rect">
                <a:avLst/>
              </a:prstGeom>
              <a:blipFill>
                <a:blip r:embed="rId4"/>
                <a:stretch>
                  <a:fillRect l="-2614" t="-8696" r="-654" b="-17391"/>
                </a:stretch>
              </a:blipFill>
            </p:spPr>
            <p:txBody>
              <a:bodyPr/>
              <a:lstStyle/>
              <a:p>
                <a:r>
                  <a:rPr lang="es-C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2">
            <a:extLst>
              <a:ext uri="{FF2B5EF4-FFF2-40B4-BE49-F238E27FC236}">
                <a16:creationId xmlns:a16="http://schemas.microsoft.com/office/drawing/2014/main" id="{6047D1D1-0F88-1A19-5B5F-AECA8E2196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8394" y="4675197"/>
            <a:ext cx="4390465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L" altLang="es-CL" sz="1800" b="1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When</a:t>
            </a:r>
            <a:r>
              <a:rPr kumimoji="0" lang="es-CL" altLang="es-CL" sz="1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L" altLang="es-CL" sz="1800" b="1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to</a:t>
            </a:r>
            <a:r>
              <a:rPr kumimoji="0" lang="es-CL" altLang="es-CL" sz="1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use </a:t>
            </a:r>
            <a:r>
              <a:rPr kumimoji="0" lang="es-CL" altLang="es-CL" sz="1800" b="1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it</a:t>
            </a: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 </a:t>
            </a:r>
            <a:r>
              <a:rPr kumimoji="0" lang="es-CL" altLang="es-CL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When</a:t>
            </a: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kumimoji="0" lang="es-CL" altLang="es-CL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features</a:t>
            </a: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kumimoji="0" lang="es-CL" altLang="es-CL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have</a:t>
            </a: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kumimoji="0" lang="es-CL" altLang="es-CL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different</a:t>
            </a: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kumimoji="0" lang="es-CL" altLang="es-CL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units</a:t>
            </a: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kumimoji="0" lang="es-CL" altLang="es-CL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or</a:t>
            </a: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kumimoji="0" lang="es-CL" altLang="es-CL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scales</a:t>
            </a: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 and </a:t>
            </a:r>
            <a:r>
              <a:rPr kumimoji="0" lang="es-CL" altLang="es-CL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the</a:t>
            </a: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kumimoji="0" lang="es-CL" altLang="es-CL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algorithm</a:t>
            </a: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kumimoji="0" lang="es-CL" altLang="es-CL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is</a:t>
            </a: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 sensitive </a:t>
            </a:r>
            <a:r>
              <a:rPr kumimoji="0" lang="es-CL" altLang="es-CL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to</a:t>
            </a: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kumimoji="0" lang="es-CL" altLang="es-CL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magnitude</a:t>
            </a: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 — </a:t>
            </a:r>
            <a:r>
              <a:rPr kumimoji="0" lang="es-CL" altLang="es-CL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e.g</a:t>
            </a: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. KNN, neural </a:t>
            </a:r>
            <a:r>
              <a:rPr kumimoji="0" lang="es-CL" altLang="es-CL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networks</a:t>
            </a: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, </a:t>
            </a:r>
            <a:r>
              <a:rPr kumimoji="0" lang="es-CL" altLang="es-CL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gradient</a:t>
            </a: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kumimoji="0" lang="es-CL" altLang="es-CL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descent</a:t>
            </a: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.</a:t>
            </a:r>
            <a:endParaRPr kumimoji="0" lang="es-CL" altLang="es-CL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DA98F7BF-F46A-9DC5-A2E6-8F3FA0E150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03259" y="4675197"/>
            <a:ext cx="5123329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L" altLang="es-CL" sz="1800" b="1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Sensitivity</a:t>
            </a:r>
            <a:r>
              <a:rPr kumimoji="0" lang="es-CL" altLang="es-CL" sz="1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L" altLang="es-CL" sz="1800" b="1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to</a:t>
            </a:r>
            <a:r>
              <a:rPr kumimoji="0" lang="es-CL" altLang="es-CL" sz="1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L" altLang="es-CL" sz="1800" b="1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outliers</a:t>
            </a:r>
            <a:r>
              <a:rPr kumimoji="0" lang="es-CL" altLang="es-CL" sz="1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— </a:t>
            </a:r>
            <a:r>
              <a:rPr kumimoji="0" lang="es-CL" altLang="es-CL" sz="1800" b="1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important</a:t>
            </a:r>
            <a:r>
              <a:rPr kumimoji="0" lang="es-CL" altLang="es-CL" sz="1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L" altLang="es-CL" sz="1800" b="1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caveat</a:t>
            </a: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  </a:t>
            </a:r>
            <a:r>
              <a:rPr kumimoji="0" lang="es-CL" altLang="es-CL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If</a:t>
            </a: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kumimoji="0" lang="es-CL" altLang="es-CL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one</a:t>
            </a: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kumimoji="0" lang="es-CL" altLang="es-CL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value</a:t>
            </a: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kumimoji="0" lang="es-CL" altLang="es-CL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is</a:t>
            </a: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kumimoji="0" lang="es-CL" altLang="es-CL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huge</a:t>
            </a: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 in </a:t>
            </a:r>
            <a:r>
              <a:rPr kumimoji="0" lang="es-CL" altLang="es-CL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comparison</a:t>
            </a: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kumimoji="0" lang="es-CL" altLang="es-CL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with</a:t>
            </a: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kumimoji="0" lang="es-CL" altLang="es-CL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the</a:t>
            </a: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kumimoji="0" lang="es-CL" altLang="es-CL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others</a:t>
            </a:r>
            <a:r>
              <a:rPr lang="es-CL" altLang="es-CL" dirty="0">
                <a:solidFill>
                  <a:srgbClr val="000000"/>
                </a:solidFill>
                <a:latin typeface="-webkit-standard"/>
              </a:rPr>
              <a:t>, </a:t>
            </a:r>
            <a:r>
              <a:rPr kumimoji="0" lang="es-CL" altLang="es-CL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all</a:t>
            </a: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kumimoji="0" lang="es-CL" altLang="es-CL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other</a:t>
            </a: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kumimoji="0" lang="es-CL" altLang="es-CL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normalized</a:t>
            </a: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kumimoji="0" lang="es-CL" altLang="es-CL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values</a:t>
            </a: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kumimoji="0" lang="es-CL" altLang="es-CL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would</a:t>
            </a: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 be </a:t>
            </a:r>
            <a:r>
              <a:rPr kumimoji="0" lang="es-CL" altLang="es-CL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compressed</a:t>
            </a: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kumimoji="0" lang="es-CL" altLang="es-CL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into</a:t>
            </a: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 a </a:t>
            </a:r>
            <a:r>
              <a:rPr kumimoji="0" lang="es-CL" altLang="es-CL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tiny</a:t>
            </a: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kumimoji="0" lang="es-CL" altLang="es-CL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range</a:t>
            </a: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kumimoji="0" lang="es-CL" altLang="es-CL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near</a:t>
            </a: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 0. </a:t>
            </a:r>
            <a:r>
              <a:rPr kumimoji="0" lang="es-CL" altLang="es-CL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This</a:t>
            </a: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kumimoji="0" lang="es-CL" altLang="es-CL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is</a:t>
            </a: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kumimoji="0" lang="es-CL" altLang="es-CL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why</a:t>
            </a: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kumimoji="0" lang="es-CL" altLang="es-CL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outliers</a:t>
            </a: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kumimoji="0" lang="es-CL" altLang="es-CL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should</a:t>
            </a: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 be </a:t>
            </a:r>
            <a:r>
              <a:rPr kumimoji="0" lang="es-CL" altLang="es-CL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treated</a:t>
            </a: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 </a:t>
            </a:r>
            <a:r>
              <a:rPr kumimoji="0" lang="es-CL" altLang="es-CL" sz="1800" b="0" i="1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</a:rPr>
              <a:t>before</a:t>
            </a: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 </a:t>
            </a:r>
            <a:r>
              <a:rPr kumimoji="0" lang="es-CL" altLang="es-CL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normalizing</a:t>
            </a: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.</a:t>
            </a:r>
            <a:endParaRPr kumimoji="0" lang="es-CL" altLang="es-CL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4341" name="Picture 5" descr="Easy use - Free gestures icons">
            <a:extLst>
              <a:ext uri="{FF2B5EF4-FFF2-40B4-BE49-F238E27FC236}">
                <a16:creationId xmlns:a16="http://schemas.microsoft.com/office/drawing/2014/main" id="{34B8666E-295C-F442-3C98-B039F32945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5544" y="3663785"/>
            <a:ext cx="868082" cy="8680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343" name="Picture 7" descr="Ilustración de Stock Isolated icon of a statistics dashboard a bubble chart  . Concept of machine learning and anomaly detection of outliers. | Adobe  Stock">
            <a:extLst>
              <a:ext uri="{FF2B5EF4-FFF2-40B4-BE49-F238E27FC236}">
                <a16:creationId xmlns:a16="http://schemas.microsoft.com/office/drawing/2014/main" id="{5735998D-FB76-2CB3-EFB2-94BB83D5CF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2132" y="3779261"/>
            <a:ext cx="1219479" cy="8182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CuadroTexto 12">
            <a:extLst>
              <a:ext uri="{FF2B5EF4-FFF2-40B4-BE49-F238E27FC236}">
                <a16:creationId xmlns:a16="http://schemas.microsoft.com/office/drawing/2014/main" id="{F2165E2B-30B5-2B03-0A83-FF55C62A059D}"/>
              </a:ext>
            </a:extLst>
          </p:cNvPr>
          <p:cNvSpPr txBox="1"/>
          <p:nvPr/>
        </p:nvSpPr>
        <p:spPr>
          <a:xfrm>
            <a:off x="77001" y="6578525"/>
            <a:ext cx="133838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4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          </a:t>
            </a:r>
            <a:r>
              <a:rPr lang="es-CL" sz="12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Muñoz-Herrera and  Hormazábal	</a:t>
            </a:r>
            <a:r>
              <a:rPr lang="es-CL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                                                </a:t>
            </a:r>
            <a:r>
              <a:rPr lang="en-US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Clase 3: Data </a:t>
            </a:r>
            <a:r>
              <a:rPr lang="es-419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Cleaning and Transformation 		</a:t>
            </a:r>
            <a:r>
              <a:rPr lang="es-CL" sz="1200" b="1" dirty="0" err="1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Unit</a:t>
            </a:r>
            <a:r>
              <a:rPr lang="es-CL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1: Fundamentals of Business Intelligence     	   </a:t>
            </a:r>
            <a:endParaRPr lang="es-CL" sz="1400" dirty="0">
              <a:latin typeface="CMU Sans Serif" panose="02000603000000000000" pitchFamily="2" charset="0"/>
              <a:ea typeface="CMU Sans Serif" panose="02000603000000000000" pitchFamily="2" charset="0"/>
              <a:cs typeface="CMU Sans Serif" panose="02000603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34444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CD0485-4B25-10C4-D121-1896C0AF7B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Imagen 11">
            <a:extLst>
              <a:ext uri="{FF2B5EF4-FFF2-40B4-BE49-F238E27FC236}">
                <a16:creationId xmlns:a16="http://schemas.microsoft.com/office/drawing/2014/main" id="{37F0A3B2-2CB4-D539-96A5-5F6F6202603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6587658"/>
            <a:ext cx="12191996" cy="28887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9CAD7F3B-4FDC-3CCA-B9CB-4B5521B978E8}"/>
              </a:ext>
            </a:extLst>
          </p:cNvPr>
          <p:cNvSpPr/>
          <p:nvPr/>
        </p:nvSpPr>
        <p:spPr>
          <a:xfrm>
            <a:off x="-4" y="0"/>
            <a:ext cx="12192000" cy="102412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7" name="TextBox 3">
            <a:extLst>
              <a:ext uri="{FF2B5EF4-FFF2-40B4-BE49-F238E27FC236}">
                <a16:creationId xmlns:a16="http://schemas.microsoft.com/office/drawing/2014/main" id="{72D19DA7-0774-46B5-D835-99E51EB17067}"/>
              </a:ext>
            </a:extLst>
          </p:cNvPr>
          <p:cNvSpPr txBox="1"/>
          <p:nvPr/>
        </p:nvSpPr>
        <p:spPr>
          <a:xfrm>
            <a:off x="174135" y="377797"/>
            <a:ext cx="119207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 err="1">
                <a:latin typeface="CMU Sans Serif" panose="02000603000000000000"/>
                <a:ea typeface="CMU Sans Serif" panose="02000603000000000000" pitchFamily="2" charset="0"/>
                <a:cs typeface="CMU Sans Serif" panose="02000603000000000000" pitchFamily="2" charset="0"/>
              </a:rPr>
              <a:t>Standarization</a:t>
            </a:r>
            <a:r>
              <a:rPr lang="en-US" sz="3600" b="1" dirty="0">
                <a:latin typeface="CMU Sans Serif" panose="02000603000000000000"/>
                <a:ea typeface="CMU Sans Serif" panose="02000603000000000000" pitchFamily="2" charset="0"/>
                <a:cs typeface="CMU Sans Serif" panose="02000603000000000000" pitchFamily="2" charset="0"/>
              </a:rPr>
              <a:t> (Standard scaling)</a:t>
            </a:r>
          </a:p>
        </p:txBody>
      </p:sp>
      <p:sp>
        <p:nvSpPr>
          <p:cNvPr id="4" name="Rectángulo redondeado 3">
            <a:extLst>
              <a:ext uri="{FF2B5EF4-FFF2-40B4-BE49-F238E27FC236}">
                <a16:creationId xmlns:a16="http://schemas.microsoft.com/office/drawing/2014/main" id="{1CC773D3-6B28-0397-4055-8C984BBE6184}"/>
              </a:ext>
            </a:extLst>
          </p:cNvPr>
          <p:cNvSpPr/>
          <p:nvPr/>
        </p:nvSpPr>
        <p:spPr>
          <a:xfrm>
            <a:off x="800100" y="1336913"/>
            <a:ext cx="10556567" cy="2092087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046206A9-56DB-DFA9-E0F6-6F281AA929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154" y="1521471"/>
            <a:ext cx="10110694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L" altLang="es-CL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Rescales</a:t>
            </a:r>
            <a:r>
              <a:rPr kumimoji="0" lang="es-CL" altLang="es-CL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kumimoji="0" lang="es-CL" altLang="es-CL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values</a:t>
            </a:r>
            <a:r>
              <a:rPr kumimoji="0" lang="es-CL" altLang="es-CL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 so </a:t>
            </a:r>
            <a:r>
              <a:rPr kumimoji="0" lang="es-CL" altLang="es-CL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the</a:t>
            </a:r>
            <a:r>
              <a:rPr kumimoji="0" lang="es-CL" altLang="es-CL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 variable has a mean </a:t>
            </a:r>
            <a:r>
              <a:rPr kumimoji="0" lang="es-CL" altLang="es-CL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of</a:t>
            </a:r>
            <a:r>
              <a:rPr kumimoji="0" lang="es-CL" altLang="es-CL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 0 and a standard </a:t>
            </a:r>
            <a:r>
              <a:rPr kumimoji="0" lang="es-CL" altLang="es-CL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deviation</a:t>
            </a:r>
            <a:r>
              <a:rPr kumimoji="0" lang="es-CL" altLang="es-CL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kumimoji="0" lang="es-CL" altLang="es-CL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of</a:t>
            </a:r>
            <a:r>
              <a:rPr kumimoji="0" lang="es-CL" altLang="es-CL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 1. </a:t>
            </a:r>
            <a:r>
              <a:rPr kumimoji="0" lang="es-CL" altLang="es-CL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Unlike</a:t>
            </a:r>
            <a:r>
              <a:rPr kumimoji="0" lang="es-CL" altLang="es-CL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kumimoji="0" lang="es-CL" altLang="es-CL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normalization</a:t>
            </a:r>
            <a:r>
              <a:rPr kumimoji="0" lang="es-CL" altLang="es-CL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, </a:t>
            </a:r>
            <a:r>
              <a:rPr kumimoji="0" lang="es-CL" altLang="es-CL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there</a:t>
            </a:r>
            <a:r>
              <a:rPr kumimoji="0" lang="es-CL" altLang="es-CL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kumimoji="0" lang="es-CL" altLang="es-CL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is</a:t>
            </a:r>
            <a:r>
              <a:rPr kumimoji="0" lang="es-CL" altLang="es-CL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 no </a:t>
            </a:r>
            <a:r>
              <a:rPr kumimoji="0" lang="es-CL" altLang="es-CL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fixed</a:t>
            </a:r>
            <a:r>
              <a:rPr kumimoji="0" lang="es-CL" altLang="es-CL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 output </a:t>
            </a:r>
            <a:r>
              <a:rPr kumimoji="0" lang="es-CL" altLang="es-CL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range</a:t>
            </a:r>
            <a:r>
              <a:rPr kumimoji="0" lang="es-CL" altLang="es-CL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 — </a:t>
            </a:r>
            <a:r>
              <a:rPr kumimoji="0" lang="es-CL" altLang="es-CL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values</a:t>
            </a:r>
            <a:r>
              <a:rPr kumimoji="0" lang="es-CL" altLang="es-CL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 can be negative </a:t>
            </a:r>
            <a:r>
              <a:rPr kumimoji="0" lang="es-CL" altLang="es-CL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or</a:t>
            </a:r>
            <a:r>
              <a:rPr kumimoji="0" lang="es-CL" altLang="es-CL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kumimoji="0" lang="es-CL" altLang="es-CL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exceed</a:t>
            </a:r>
            <a:r>
              <a:rPr kumimoji="0" lang="es-CL" altLang="es-CL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 1.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CL" altLang="es-CL" sz="2000" b="0" i="0" u="none" strike="noStrike" cap="none" normalizeH="0" baseline="0" dirty="0" err="1">
              <a:ln>
                <a:noFill/>
              </a:ln>
              <a:solidFill>
                <a:srgbClr val="000000"/>
              </a:solidFill>
              <a:effectLst/>
              <a:latin typeface="-webkit-standard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34C7F451-4C35-E2FF-1D20-F003C2591F01}"/>
                  </a:ext>
                </a:extLst>
              </p:cNvPr>
              <p:cNvSpPr txBox="1"/>
              <p:nvPr/>
            </p:nvSpPr>
            <p:spPr>
              <a:xfrm>
                <a:off x="4558553" y="2482600"/>
                <a:ext cx="1340495" cy="51674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s-CL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419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p>
                          <m:r>
                            <a:rPr lang="es-CL" i="1">
                              <a:latin typeface="Cambria Math" panose="02040503050406030204" pitchFamily="18" charset="0"/>
                            </a:rPr>
                            <m:t>´</m:t>
                          </m:r>
                        </m:sup>
                      </m:sSup>
                      <m:r>
                        <a:rPr lang="es-419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s-419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419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s-419" b="0" i="1" smtClean="0">
                              <a:latin typeface="Cambria Math" panose="02040503050406030204" pitchFamily="18" charset="0"/>
                            </a:rPr>
                            <m:t> −  </m:t>
                          </m:r>
                          <m:r>
                            <a:rPr lang="es-419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num>
                        <m:den>
                          <m:r>
                            <a:rPr lang="es-419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den>
                      </m:f>
                    </m:oMath>
                  </m:oMathPara>
                </a14:m>
                <a:endParaRPr lang="es-CL" dirty="0"/>
              </a:p>
            </p:txBody>
          </p:sp>
        </mc:Choice>
        <mc:Fallback xmlns=""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34C7F451-4C35-E2FF-1D20-F003C2591F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58553" y="2482600"/>
                <a:ext cx="1340495" cy="516745"/>
              </a:xfrm>
              <a:prstGeom prst="rect">
                <a:avLst/>
              </a:prstGeom>
              <a:blipFill>
                <a:blip r:embed="rId4"/>
                <a:stretch>
                  <a:fillRect l="-3774" t="-9524" r="-2830" b="-7143"/>
                </a:stretch>
              </a:blipFill>
            </p:spPr>
            <p:txBody>
              <a:bodyPr/>
              <a:lstStyle/>
              <a:p>
                <a:r>
                  <a:rPr lang="es-C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2">
            <a:extLst>
              <a:ext uri="{FF2B5EF4-FFF2-40B4-BE49-F238E27FC236}">
                <a16:creationId xmlns:a16="http://schemas.microsoft.com/office/drawing/2014/main" id="{4D683793-12BE-7826-3272-C5A4B3F722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8393" y="4675197"/>
            <a:ext cx="4390465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L" altLang="es-CL" sz="1800" b="1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When</a:t>
            </a:r>
            <a:r>
              <a:rPr kumimoji="0" lang="es-CL" altLang="es-CL" sz="1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L" altLang="es-CL" sz="1800" b="1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to</a:t>
            </a:r>
            <a:r>
              <a:rPr kumimoji="0" lang="es-CL" altLang="es-CL" sz="1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use </a:t>
            </a:r>
            <a:r>
              <a:rPr kumimoji="0" lang="es-CL" altLang="es-CL" sz="1800" b="1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it</a:t>
            </a: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 </a:t>
            </a:r>
            <a:r>
              <a:rPr kumimoji="0" lang="es-CL" altLang="es-CL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Algorithm</a:t>
            </a: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kumimoji="0" lang="es-CL" altLang="es-CL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assumes</a:t>
            </a: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kumimoji="0" lang="es-CL" altLang="es-CL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normality</a:t>
            </a: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kumimoji="0" lang="es-CL" altLang="es-CL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or</a:t>
            </a: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kumimoji="0" lang="es-CL" altLang="es-CL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is</a:t>
            </a: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 sensitive </a:t>
            </a:r>
            <a:r>
              <a:rPr kumimoji="0" lang="es-CL" altLang="es-CL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to</a:t>
            </a: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kumimoji="0" lang="es-CL" altLang="es-CL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variance</a:t>
            </a: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 — linear/</a:t>
            </a:r>
            <a:r>
              <a:rPr kumimoji="0" lang="es-CL" altLang="es-CL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logistic</a:t>
            </a: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kumimoji="0" lang="es-CL" altLang="es-CL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regression</a:t>
            </a: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, PCA, SVM.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Data </a:t>
            </a:r>
            <a:r>
              <a:rPr kumimoji="0" lang="es-CL" altLang="es-CL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contains</a:t>
            </a: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kumimoji="0" lang="es-CL" altLang="es-CL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outliers</a:t>
            </a: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 — </a:t>
            </a:r>
            <a:r>
              <a:rPr kumimoji="0" lang="es-CL" altLang="es-CL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less</a:t>
            </a: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kumimoji="0" lang="es-CL" altLang="es-CL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distorted</a:t>
            </a: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kumimoji="0" lang="es-CL" altLang="es-CL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by</a:t>
            </a: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 extremes </a:t>
            </a:r>
            <a:r>
              <a:rPr kumimoji="0" lang="es-CL" altLang="es-CL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than</a:t>
            </a: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kumimoji="0" lang="es-CL" altLang="es-CL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normalization</a:t>
            </a: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L" altLang="es-CL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Features</a:t>
            </a: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kumimoji="0" lang="es-CL" altLang="es-CL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have</a:t>
            </a: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kumimoji="0" lang="es-CL" altLang="es-CL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different</a:t>
            </a: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kumimoji="0" lang="es-CL" altLang="es-CL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units</a:t>
            </a: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kumimoji="0" lang="es-CL" altLang="es-CL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or</a:t>
            </a: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kumimoji="0" lang="es-CL" altLang="es-CL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scales</a:t>
            </a: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CL" altLang="es-CL" sz="18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-webkit-standard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CL" altLang="es-CL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14CE6020-09F8-B0FF-607F-CB9003F177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03259" y="4398199"/>
            <a:ext cx="5123329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0"/>
            <a:endParaRPr lang="es-CL" altLang="es-CL" dirty="0">
              <a:solidFill>
                <a:srgbClr val="000000"/>
              </a:solidFill>
            </a:endParaRPr>
          </a:p>
          <a:p>
            <a:pPr lvl="0"/>
            <a:r>
              <a:rPr lang="es-CL" altLang="es-CL" dirty="0">
                <a:solidFill>
                  <a:srgbClr val="000000"/>
                </a:solidFill>
              </a:rPr>
              <a:t>No </a:t>
            </a:r>
            <a:r>
              <a:rPr lang="es-CL" altLang="es-CL" dirty="0" err="1">
                <a:solidFill>
                  <a:srgbClr val="000000"/>
                </a:solidFill>
              </a:rPr>
              <a:t>bounded</a:t>
            </a:r>
            <a:r>
              <a:rPr lang="es-CL" altLang="es-CL" dirty="0">
                <a:solidFill>
                  <a:srgbClr val="000000"/>
                </a:solidFill>
              </a:rPr>
              <a:t> output — </a:t>
            </a:r>
            <a:r>
              <a:rPr lang="es-CL" altLang="es-CL" dirty="0" err="1">
                <a:solidFill>
                  <a:srgbClr val="000000"/>
                </a:solidFill>
              </a:rPr>
              <a:t>unsuitable</a:t>
            </a:r>
            <a:r>
              <a:rPr lang="es-CL" altLang="es-CL" dirty="0">
                <a:solidFill>
                  <a:srgbClr val="000000"/>
                </a:solidFill>
              </a:rPr>
              <a:t> </a:t>
            </a:r>
            <a:r>
              <a:rPr lang="es-CL" altLang="es-CL" dirty="0" err="1">
                <a:solidFill>
                  <a:srgbClr val="000000"/>
                </a:solidFill>
              </a:rPr>
              <a:t>for</a:t>
            </a:r>
            <a:r>
              <a:rPr lang="es-CL" altLang="es-CL" dirty="0">
                <a:solidFill>
                  <a:srgbClr val="000000"/>
                </a:solidFill>
              </a:rPr>
              <a:t> </a:t>
            </a:r>
            <a:r>
              <a:rPr lang="es-CL" altLang="es-CL" dirty="0" err="1">
                <a:solidFill>
                  <a:srgbClr val="000000"/>
                </a:solidFill>
              </a:rPr>
              <a:t>algorithms</a:t>
            </a:r>
            <a:r>
              <a:rPr lang="es-CL" altLang="es-CL" dirty="0">
                <a:solidFill>
                  <a:srgbClr val="000000"/>
                </a:solidFill>
              </a:rPr>
              <a:t> </a:t>
            </a:r>
            <a:r>
              <a:rPr lang="es-CL" altLang="es-CL" dirty="0" err="1">
                <a:solidFill>
                  <a:srgbClr val="000000"/>
                </a:solidFill>
              </a:rPr>
              <a:t>requiring</a:t>
            </a:r>
            <a:r>
              <a:rPr lang="es-CL" altLang="es-CL" dirty="0">
                <a:solidFill>
                  <a:srgbClr val="000000"/>
                </a:solidFill>
              </a:rPr>
              <a:t> [0, 1] input</a:t>
            </a:r>
          </a:p>
          <a:p>
            <a:pPr lvl="0"/>
            <a:r>
              <a:rPr lang="es-CL" altLang="es-CL" dirty="0" err="1">
                <a:solidFill>
                  <a:srgbClr val="000000"/>
                </a:solidFill>
              </a:rPr>
              <a:t>Still</a:t>
            </a:r>
            <a:r>
              <a:rPr lang="es-CL" altLang="es-CL" dirty="0">
                <a:solidFill>
                  <a:srgbClr val="000000"/>
                </a:solidFill>
              </a:rPr>
              <a:t> sensitive </a:t>
            </a:r>
            <a:r>
              <a:rPr lang="es-CL" altLang="es-CL" dirty="0" err="1">
                <a:solidFill>
                  <a:srgbClr val="000000"/>
                </a:solidFill>
              </a:rPr>
              <a:t>to</a:t>
            </a:r>
            <a:r>
              <a:rPr lang="es-CL" altLang="es-CL" dirty="0">
                <a:solidFill>
                  <a:srgbClr val="000000"/>
                </a:solidFill>
              </a:rPr>
              <a:t> extreme </a:t>
            </a:r>
            <a:r>
              <a:rPr lang="es-CL" altLang="es-CL" dirty="0" err="1">
                <a:solidFill>
                  <a:srgbClr val="000000"/>
                </a:solidFill>
              </a:rPr>
              <a:t>outliers</a:t>
            </a:r>
            <a:r>
              <a:rPr lang="es-CL" altLang="es-CL" dirty="0">
                <a:solidFill>
                  <a:srgbClr val="000000"/>
                </a:solidFill>
              </a:rPr>
              <a:t> — Z &gt; 3 </a:t>
            </a:r>
            <a:r>
              <a:rPr lang="es-CL" altLang="es-CL" dirty="0" err="1">
                <a:solidFill>
                  <a:srgbClr val="000000"/>
                </a:solidFill>
              </a:rPr>
              <a:t>flags</a:t>
            </a:r>
            <a:r>
              <a:rPr lang="es-CL" altLang="es-CL" dirty="0">
                <a:solidFill>
                  <a:srgbClr val="000000"/>
                </a:solidFill>
              </a:rPr>
              <a:t> </a:t>
            </a:r>
            <a:r>
              <a:rPr lang="es-CL" altLang="es-CL" dirty="0" err="1">
                <a:solidFill>
                  <a:srgbClr val="000000"/>
                </a:solidFill>
              </a:rPr>
              <a:t>them</a:t>
            </a:r>
            <a:r>
              <a:rPr lang="es-CL" altLang="es-CL" dirty="0">
                <a:solidFill>
                  <a:srgbClr val="000000"/>
                </a:solidFill>
              </a:rPr>
              <a:t> </a:t>
            </a:r>
            <a:r>
              <a:rPr lang="es-CL" altLang="es-CL" dirty="0" err="1">
                <a:solidFill>
                  <a:srgbClr val="000000"/>
                </a:solidFill>
              </a:rPr>
              <a:t>but</a:t>
            </a:r>
            <a:r>
              <a:rPr lang="es-CL" altLang="es-CL" dirty="0">
                <a:solidFill>
                  <a:srgbClr val="000000"/>
                </a:solidFill>
              </a:rPr>
              <a:t> </a:t>
            </a:r>
            <a:r>
              <a:rPr lang="es-CL" altLang="es-CL" dirty="0" err="1">
                <a:solidFill>
                  <a:srgbClr val="000000"/>
                </a:solidFill>
              </a:rPr>
              <a:t>doesn't</a:t>
            </a:r>
            <a:r>
              <a:rPr lang="es-CL" altLang="es-CL" dirty="0">
                <a:solidFill>
                  <a:srgbClr val="000000"/>
                </a:solidFill>
              </a:rPr>
              <a:t> </a:t>
            </a:r>
            <a:r>
              <a:rPr lang="es-CL" altLang="es-CL" dirty="0" err="1">
                <a:solidFill>
                  <a:srgbClr val="000000"/>
                </a:solidFill>
              </a:rPr>
              <a:t>remove</a:t>
            </a:r>
            <a:r>
              <a:rPr lang="es-CL" altLang="es-CL" dirty="0">
                <a:solidFill>
                  <a:srgbClr val="000000"/>
                </a:solidFill>
              </a:rPr>
              <a:t> </a:t>
            </a:r>
            <a:r>
              <a:rPr lang="es-CL" altLang="es-CL" dirty="0" err="1">
                <a:solidFill>
                  <a:srgbClr val="000000"/>
                </a:solidFill>
              </a:rPr>
              <a:t>them</a:t>
            </a:r>
            <a:endParaRPr lang="es-CL" altLang="es-CL" dirty="0">
              <a:solidFill>
                <a:srgbClr val="000000"/>
              </a:solidFill>
            </a:endParaRPr>
          </a:p>
          <a:p>
            <a:pPr lvl="0"/>
            <a:r>
              <a:rPr lang="es-CL" altLang="es-CL" dirty="0" err="1">
                <a:solidFill>
                  <a:srgbClr val="000000"/>
                </a:solidFill>
              </a:rPr>
              <a:t>Fit</a:t>
            </a:r>
            <a:r>
              <a:rPr lang="es-CL" altLang="es-CL" dirty="0">
                <a:solidFill>
                  <a:srgbClr val="000000"/>
                </a:solidFill>
              </a:rPr>
              <a:t> </a:t>
            </a:r>
            <a:r>
              <a:rPr lang="es-CL" altLang="es-CL" dirty="0" err="1">
                <a:solidFill>
                  <a:srgbClr val="000000"/>
                </a:solidFill>
              </a:rPr>
              <a:t>on</a:t>
            </a:r>
            <a:r>
              <a:rPr lang="es-CL" altLang="es-CL" dirty="0">
                <a:solidFill>
                  <a:srgbClr val="000000"/>
                </a:solidFill>
              </a:rPr>
              <a:t> training data </a:t>
            </a:r>
            <a:r>
              <a:rPr lang="es-CL" altLang="es-CL" dirty="0" err="1">
                <a:solidFill>
                  <a:srgbClr val="000000"/>
                </a:solidFill>
              </a:rPr>
              <a:t>only</a:t>
            </a:r>
            <a:r>
              <a:rPr lang="es-CL" altLang="es-CL" dirty="0">
                <a:solidFill>
                  <a:srgbClr val="000000"/>
                </a:solidFill>
              </a:rPr>
              <a:t> — </a:t>
            </a:r>
            <a:r>
              <a:rPr lang="es-CL" altLang="es-CL" dirty="0" err="1">
                <a:solidFill>
                  <a:srgbClr val="000000"/>
                </a:solidFill>
              </a:rPr>
              <a:t>applying</a:t>
            </a:r>
            <a:r>
              <a:rPr lang="es-CL" altLang="es-CL" dirty="0">
                <a:solidFill>
                  <a:srgbClr val="000000"/>
                </a:solidFill>
              </a:rPr>
              <a:t> </a:t>
            </a:r>
            <a:r>
              <a:rPr lang="es-CL" altLang="es-CL" dirty="0" err="1">
                <a:solidFill>
                  <a:srgbClr val="000000"/>
                </a:solidFill>
              </a:rPr>
              <a:t>to</a:t>
            </a:r>
            <a:r>
              <a:rPr lang="es-CL" altLang="es-CL" dirty="0">
                <a:solidFill>
                  <a:srgbClr val="000000"/>
                </a:solidFill>
              </a:rPr>
              <a:t> </a:t>
            </a:r>
            <a:r>
              <a:rPr lang="es-CL" altLang="es-CL" dirty="0" err="1">
                <a:solidFill>
                  <a:srgbClr val="000000"/>
                </a:solidFill>
              </a:rPr>
              <a:t>the</a:t>
            </a:r>
            <a:r>
              <a:rPr lang="es-CL" altLang="es-CL" dirty="0">
                <a:solidFill>
                  <a:srgbClr val="000000"/>
                </a:solidFill>
              </a:rPr>
              <a:t> full </a:t>
            </a:r>
            <a:r>
              <a:rPr lang="es-CL" altLang="es-CL" dirty="0" err="1">
                <a:solidFill>
                  <a:srgbClr val="000000"/>
                </a:solidFill>
              </a:rPr>
              <a:t>dataset</a:t>
            </a:r>
            <a:r>
              <a:rPr lang="es-CL" altLang="es-CL" dirty="0">
                <a:solidFill>
                  <a:srgbClr val="000000"/>
                </a:solidFill>
              </a:rPr>
              <a:t> causes data </a:t>
            </a:r>
            <a:r>
              <a:rPr lang="es-CL" altLang="es-CL" dirty="0" err="1">
                <a:solidFill>
                  <a:srgbClr val="000000"/>
                </a:solidFill>
              </a:rPr>
              <a:t>leakage</a:t>
            </a:r>
            <a:endParaRPr lang="es-CL" altLang="es-CL" dirty="0"/>
          </a:p>
        </p:txBody>
      </p:sp>
      <p:pic>
        <p:nvPicPr>
          <p:cNvPr id="14341" name="Picture 5" descr="Easy use - Free gestures icons">
            <a:extLst>
              <a:ext uri="{FF2B5EF4-FFF2-40B4-BE49-F238E27FC236}">
                <a16:creationId xmlns:a16="http://schemas.microsoft.com/office/drawing/2014/main" id="{64F404CA-EFF3-F208-BB73-F3B505B73A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5544" y="3663785"/>
            <a:ext cx="868082" cy="8680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365" name="Picture 5" descr="Ninja Icon Images – Browse 59,021 Stock Photos, Vectors, and Video | Adobe  Stock">
            <a:extLst>
              <a:ext uri="{FF2B5EF4-FFF2-40B4-BE49-F238E27FC236}">
                <a16:creationId xmlns:a16="http://schemas.microsoft.com/office/drawing/2014/main" id="{A35874A2-CA4E-48FD-1D32-9B990C9142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000" b="90000" l="10000" r="90000">
                        <a14:foregroundMark x1="52259" y1="44444" x2="52259" y2="44444"/>
                        <a14:foregroundMark x1="56974" y1="44167" x2="56974" y2="44167"/>
                        <a14:foregroundMark x1="51866" y1="75556" x2="51866" y2="7555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87751" y="3029326"/>
            <a:ext cx="3021479" cy="2136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CuadroTexto 12">
            <a:extLst>
              <a:ext uri="{FF2B5EF4-FFF2-40B4-BE49-F238E27FC236}">
                <a16:creationId xmlns:a16="http://schemas.microsoft.com/office/drawing/2014/main" id="{285B26AE-A35F-D7F8-605A-4CD674D7AD49}"/>
              </a:ext>
            </a:extLst>
          </p:cNvPr>
          <p:cNvSpPr txBox="1"/>
          <p:nvPr/>
        </p:nvSpPr>
        <p:spPr>
          <a:xfrm>
            <a:off x="77001" y="6578525"/>
            <a:ext cx="133838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4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          </a:t>
            </a:r>
            <a:r>
              <a:rPr lang="es-CL" sz="12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Muñoz-Herrera and  Hormazábal	</a:t>
            </a:r>
            <a:r>
              <a:rPr lang="es-CL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                                                </a:t>
            </a:r>
            <a:r>
              <a:rPr lang="en-US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Clase 3: Data </a:t>
            </a:r>
            <a:r>
              <a:rPr lang="es-419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Cleaning and Transformation 		</a:t>
            </a:r>
            <a:r>
              <a:rPr lang="es-CL" sz="1200" b="1" dirty="0" err="1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Unit</a:t>
            </a:r>
            <a:r>
              <a:rPr lang="es-CL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1: Fundamentals of Business Intelligence     	   </a:t>
            </a:r>
            <a:endParaRPr lang="es-CL" sz="1400" dirty="0">
              <a:latin typeface="CMU Sans Serif" panose="02000603000000000000" pitchFamily="2" charset="0"/>
              <a:ea typeface="CMU Sans Serif" panose="02000603000000000000" pitchFamily="2" charset="0"/>
              <a:cs typeface="CMU Sans Serif" panose="02000603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79328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1BC1D9-4AB9-7CAD-B5A0-BFED80066D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Imagen 11">
            <a:extLst>
              <a:ext uri="{FF2B5EF4-FFF2-40B4-BE49-F238E27FC236}">
                <a16:creationId xmlns:a16="http://schemas.microsoft.com/office/drawing/2014/main" id="{BCCFC0D0-1716-9253-0A94-5FB918A8114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6587658"/>
            <a:ext cx="12191996" cy="28887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8C400315-D3B7-3850-8C07-554BB8FAB3DC}"/>
              </a:ext>
            </a:extLst>
          </p:cNvPr>
          <p:cNvSpPr/>
          <p:nvPr/>
        </p:nvSpPr>
        <p:spPr>
          <a:xfrm>
            <a:off x="-4" y="0"/>
            <a:ext cx="12192000" cy="102412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5" name="Rectángulo redondeado 4">
            <a:extLst>
              <a:ext uri="{FF2B5EF4-FFF2-40B4-BE49-F238E27FC236}">
                <a16:creationId xmlns:a16="http://schemas.microsoft.com/office/drawing/2014/main" id="{35C3E32D-626B-A228-2A51-C89C82A6AB10}"/>
              </a:ext>
            </a:extLst>
          </p:cNvPr>
          <p:cNvSpPr/>
          <p:nvPr/>
        </p:nvSpPr>
        <p:spPr>
          <a:xfrm>
            <a:off x="1223682" y="1336914"/>
            <a:ext cx="9388289" cy="111045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7" name="TextBox 3">
            <a:extLst>
              <a:ext uri="{FF2B5EF4-FFF2-40B4-BE49-F238E27FC236}">
                <a16:creationId xmlns:a16="http://schemas.microsoft.com/office/drawing/2014/main" id="{EABA3BD6-0463-2018-7ABC-A5B8DB894E33}"/>
              </a:ext>
            </a:extLst>
          </p:cNvPr>
          <p:cNvSpPr txBox="1"/>
          <p:nvPr/>
        </p:nvSpPr>
        <p:spPr>
          <a:xfrm>
            <a:off x="174135" y="377797"/>
            <a:ext cx="119207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latin typeface="CMU Sans Serif" panose="02000603000000000000"/>
                <a:ea typeface="CMU Sans Serif" panose="02000603000000000000" pitchFamily="2" charset="0"/>
                <a:cs typeface="CMU Sans Serif" panose="02000603000000000000" pitchFamily="2" charset="0"/>
              </a:rPr>
              <a:t>Categorical handling: Label encoding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4F6630A1-AD68-C8B9-8528-646357E44419}"/>
              </a:ext>
            </a:extLst>
          </p:cNvPr>
          <p:cNvSpPr txBox="1"/>
          <p:nvPr/>
        </p:nvSpPr>
        <p:spPr>
          <a:xfrm>
            <a:off x="1580029" y="1401925"/>
            <a:ext cx="873982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CL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Converts</a:t>
            </a:r>
            <a:r>
              <a:rPr lang="es-CL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es-CL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categorical</a:t>
            </a:r>
            <a:r>
              <a:rPr lang="es-CL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es-CL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text</a:t>
            </a:r>
            <a:r>
              <a:rPr lang="es-CL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es-CL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values</a:t>
            </a:r>
            <a:r>
              <a:rPr lang="es-CL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es-CL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into</a:t>
            </a:r>
            <a:r>
              <a:rPr lang="es-CL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es-CL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integers</a:t>
            </a:r>
            <a:r>
              <a:rPr lang="es-CL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es-CL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by</a:t>
            </a:r>
            <a:r>
              <a:rPr lang="es-CL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es-CL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assigning</a:t>
            </a:r>
            <a:r>
              <a:rPr lang="es-CL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es-CL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each</a:t>
            </a:r>
            <a:r>
              <a:rPr lang="es-CL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es-CL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unique</a:t>
            </a:r>
            <a:r>
              <a:rPr lang="es-CL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es-CL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category</a:t>
            </a:r>
            <a:r>
              <a:rPr lang="es-CL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a </a:t>
            </a:r>
            <a:r>
              <a:rPr lang="es-CL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number</a:t>
            </a:r>
            <a:r>
              <a:rPr lang="es-CL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. Simple and </a:t>
            </a:r>
            <a:r>
              <a:rPr lang="es-CL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memory-efficient</a:t>
            </a:r>
            <a:r>
              <a:rPr lang="es-CL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, </a:t>
            </a:r>
            <a:r>
              <a:rPr lang="es-CL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but</a:t>
            </a:r>
            <a:r>
              <a:rPr lang="es-CL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introduces </a:t>
            </a:r>
            <a:r>
              <a:rPr lang="es-CL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an</a:t>
            </a:r>
            <a:r>
              <a:rPr lang="es-CL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es-CL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implicit</a:t>
            </a:r>
            <a:r>
              <a:rPr lang="es-CL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es-CL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numeric</a:t>
            </a:r>
            <a:r>
              <a:rPr lang="es-CL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es-CL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order</a:t>
            </a:r>
            <a:r>
              <a:rPr lang="es-CL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es-CL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that</a:t>
            </a:r>
            <a:r>
              <a:rPr lang="es-CL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es-CL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may</a:t>
            </a:r>
            <a:r>
              <a:rPr lang="es-CL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es-CL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not</a:t>
            </a:r>
            <a:r>
              <a:rPr lang="es-CL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es-CL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exist</a:t>
            </a:r>
            <a:r>
              <a:rPr lang="es-CL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in </a:t>
            </a:r>
            <a:r>
              <a:rPr lang="es-CL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the</a:t>
            </a:r>
            <a:r>
              <a:rPr lang="es-CL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data. </a:t>
            </a:r>
            <a:endParaRPr lang="es-CL" dirty="0"/>
          </a:p>
        </p:txBody>
      </p:sp>
      <p:graphicFrame>
        <p:nvGraphicFramePr>
          <p:cNvPr id="8" name="Tabla 7">
            <a:extLst>
              <a:ext uri="{FF2B5EF4-FFF2-40B4-BE49-F238E27FC236}">
                <a16:creationId xmlns:a16="http://schemas.microsoft.com/office/drawing/2014/main" id="{F98BDDD4-18C1-48BE-E01E-7EA1164EC4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8792588"/>
              </p:ext>
            </p:extLst>
          </p:nvPr>
        </p:nvGraphicFramePr>
        <p:xfrm>
          <a:off x="493039" y="2807533"/>
          <a:ext cx="5404224" cy="27091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1408">
                  <a:extLst>
                    <a:ext uri="{9D8B030D-6E8A-4147-A177-3AD203B41FA5}">
                      <a16:colId xmlns:a16="http://schemas.microsoft.com/office/drawing/2014/main" val="10507510"/>
                    </a:ext>
                  </a:extLst>
                </a:gridCol>
                <a:gridCol w="1801408">
                  <a:extLst>
                    <a:ext uri="{9D8B030D-6E8A-4147-A177-3AD203B41FA5}">
                      <a16:colId xmlns:a16="http://schemas.microsoft.com/office/drawing/2014/main" val="4291164967"/>
                    </a:ext>
                  </a:extLst>
                </a:gridCol>
                <a:gridCol w="1801408">
                  <a:extLst>
                    <a:ext uri="{9D8B030D-6E8A-4147-A177-3AD203B41FA5}">
                      <a16:colId xmlns:a16="http://schemas.microsoft.com/office/drawing/2014/main" val="2145028211"/>
                    </a:ext>
                  </a:extLst>
                </a:gridCol>
              </a:tblGrid>
              <a:tr h="4515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dirty="0" err="1"/>
                        <a:t>Student</a:t>
                      </a:r>
                      <a:endParaRPr lang="es-CL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/>
                        <a:t>Education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/>
                        <a:t>Label encoded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87064581"/>
                  </a:ext>
                </a:extLst>
              </a:tr>
              <a:tr h="4515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/>
                        <a:t>High school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06146568"/>
                  </a:ext>
                </a:extLst>
              </a:tr>
              <a:tr h="4515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dirty="0"/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/>
                        <a:t>Bachelor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66861290"/>
                  </a:ext>
                </a:extLst>
              </a:tr>
              <a:tr h="4515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/>
                        <a:t>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/>
                        <a:t>Master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dirty="0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39597502"/>
                  </a:ext>
                </a:extLst>
              </a:tr>
              <a:tr h="4515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/>
                        <a:t>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/>
                        <a:t>PhD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/>
                        <a:t>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49195806"/>
                  </a:ext>
                </a:extLst>
              </a:tr>
              <a:tr h="4515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/>
                        <a:t>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/>
                        <a:t>Bachelor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dirty="0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13841878"/>
                  </a:ext>
                </a:extLst>
              </a:tr>
            </a:tbl>
          </a:graphicData>
        </a:graphic>
      </p:graphicFrame>
      <p:sp>
        <p:nvSpPr>
          <p:cNvPr id="10" name="Rectangle 1">
            <a:extLst>
              <a:ext uri="{FF2B5EF4-FFF2-40B4-BE49-F238E27FC236}">
                <a16:creationId xmlns:a16="http://schemas.microsoft.com/office/drawing/2014/main" id="{54C18F8A-F3C1-C402-BF82-6D429039C3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3039" y="5553666"/>
            <a:ext cx="5404224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Here </a:t>
            </a:r>
            <a:r>
              <a:rPr kumimoji="0" lang="es-CL" altLang="es-CL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the</a:t>
            </a: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kumimoji="0" lang="es-CL" altLang="es-CL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encoding</a:t>
            </a: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kumimoji="0" lang="es-CL" altLang="es-CL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is</a:t>
            </a: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kumimoji="0" lang="es-CL" altLang="es-CL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valid</a:t>
            </a: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 — </a:t>
            </a:r>
            <a:r>
              <a:rPr kumimoji="0" lang="es-CL" altLang="es-CL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there</a:t>
            </a: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kumimoji="0" lang="es-CL" altLang="es-CL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is</a:t>
            </a: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 a natural </a:t>
            </a:r>
            <a:r>
              <a:rPr kumimoji="0" lang="es-CL" altLang="es-CL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order</a:t>
            </a: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 (High </a:t>
            </a:r>
            <a:r>
              <a:rPr kumimoji="0" lang="es-CL" altLang="es-CL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school</a:t>
            </a: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 &lt; </a:t>
            </a:r>
            <a:r>
              <a:rPr kumimoji="0" lang="es-CL" altLang="es-CL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Bachelor</a:t>
            </a: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 &lt; Master &lt; PhD). L</a:t>
            </a:r>
            <a:r>
              <a:rPr lang="es-CL" altLang="es-CL" dirty="0">
                <a:solidFill>
                  <a:srgbClr val="000000"/>
                </a:solidFill>
                <a:latin typeface="-webkit-standard"/>
              </a:rPr>
              <a:t>ucky !!</a:t>
            </a:r>
            <a:endParaRPr kumimoji="0" lang="es-CL" altLang="es-CL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1358D976-5EA2-AA50-201D-7EF6CDEE66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34501" y="2839748"/>
            <a:ext cx="5564460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L" altLang="es-CL" sz="1800" b="1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When</a:t>
            </a:r>
            <a:r>
              <a:rPr kumimoji="0" lang="es-CL" altLang="es-CL" sz="1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L" altLang="es-CL" sz="1800" b="1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to</a:t>
            </a:r>
            <a:r>
              <a:rPr kumimoji="0" lang="es-CL" altLang="es-CL" sz="1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use </a:t>
            </a:r>
            <a:r>
              <a:rPr kumimoji="0" lang="es-CL" altLang="es-CL" sz="1800" b="1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it</a:t>
            </a:r>
            <a:r>
              <a:rPr lang="es-CL" altLang="es-CL" dirty="0"/>
              <a:t>. </a:t>
            </a:r>
            <a:r>
              <a:rPr kumimoji="0" lang="es-CL" altLang="es-CL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The</a:t>
            </a: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variable </a:t>
            </a:r>
            <a:r>
              <a:rPr kumimoji="0" lang="es-CL" altLang="es-CL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is</a:t>
            </a: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</a:t>
            </a:r>
            <a:r>
              <a:rPr kumimoji="0" lang="es-CL" altLang="es-CL" sz="1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ordinal</a:t>
            </a: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— </a:t>
            </a:r>
            <a:r>
              <a:rPr kumimoji="0" lang="es-CL" altLang="es-CL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categories</a:t>
            </a: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L" altLang="es-CL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have</a:t>
            </a: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a </a:t>
            </a:r>
            <a:r>
              <a:rPr kumimoji="0" lang="es-CL" altLang="es-CL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meaningful</a:t>
            </a: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s-CL" altLang="es-CL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agreed</a:t>
            </a: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L" altLang="es-CL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order</a:t>
            </a:r>
            <a:r>
              <a:rPr lang="es-CL" altLang="es-CL" dirty="0">
                <a:solidFill>
                  <a:srgbClr val="000000"/>
                </a:solidFill>
              </a:rPr>
              <a:t>. </a:t>
            </a:r>
            <a:r>
              <a:rPr kumimoji="0" lang="es-CL" altLang="es-CL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The</a:t>
            </a: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L" altLang="es-CL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algorithm</a:t>
            </a: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L" altLang="es-CL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is</a:t>
            </a: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L" altLang="es-CL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tree-based</a:t>
            </a: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— </a:t>
            </a:r>
            <a:r>
              <a:rPr kumimoji="0" lang="es-CL" altLang="es-CL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decision</a:t>
            </a: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L" altLang="es-CL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trees</a:t>
            </a: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kumimoji="0" lang="es-CL" altLang="es-CL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random</a:t>
            </a: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L" altLang="es-CL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forests</a:t>
            </a: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are </a:t>
            </a:r>
            <a:r>
              <a:rPr kumimoji="0" lang="es-CL" altLang="es-CL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not</a:t>
            </a: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L" altLang="es-CL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misled</a:t>
            </a: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L" altLang="es-CL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by</a:t>
            </a: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L" altLang="es-CL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arbitrary</a:t>
            </a: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L" altLang="es-CL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integers</a:t>
            </a:r>
            <a:r>
              <a:rPr lang="es-CL" altLang="es-CL" dirty="0">
                <a:solidFill>
                  <a:srgbClr val="000000"/>
                </a:solidFill>
              </a:rPr>
              <a:t>. </a:t>
            </a:r>
            <a:r>
              <a:rPr kumimoji="0" lang="es-CL" altLang="es-CL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Memory</a:t>
            </a: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L" altLang="es-CL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or</a:t>
            </a: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L" altLang="es-CL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simplicity</a:t>
            </a: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L" altLang="es-CL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is</a:t>
            </a: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a </a:t>
            </a:r>
            <a:r>
              <a:rPr kumimoji="0" lang="es-CL" altLang="es-CL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constraint</a:t>
            </a:r>
            <a:endParaRPr kumimoji="0" lang="es-CL" altLang="es-CL" sz="18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CL" altLang="es-CL" sz="18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L" altLang="es-CL" sz="1800" b="1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When</a:t>
            </a:r>
            <a:r>
              <a:rPr kumimoji="0" lang="es-CL" altLang="es-CL" sz="1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NOT </a:t>
            </a:r>
            <a:r>
              <a:rPr kumimoji="0" lang="es-CL" altLang="es-CL" sz="1800" b="1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to</a:t>
            </a:r>
            <a:r>
              <a:rPr kumimoji="0" lang="es-CL" altLang="es-CL" sz="1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use </a:t>
            </a:r>
            <a:r>
              <a:rPr kumimoji="0" lang="es-CL" altLang="es-CL" sz="1800" b="1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it</a:t>
            </a:r>
            <a:r>
              <a:rPr lang="es-CL" altLang="es-CL" dirty="0"/>
              <a:t>. </a:t>
            </a:r>
            <a:r>
              <a:rPr kumimoji="0" lang="es-CL" altLang="es-CL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The</a:t>
            </a: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variable </a:t>
            </a:r>
            <a:r>
              <a:rPr kumimoji="0" lang="es-CL" altLang="es-CL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is</a:t>
            </a: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</a:t>
            </a:r>
            <a:r>
              <a:rPr kumimoji="0" lang="es-CL" altLang="es-CL" sz="1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nominal</a:t>
            </a: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— no natural </a:t>
            </a:r>
            <a:r>
              <a:rPr kumimoji="0" lang="es-CL" altLang="es-CL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order</a:t>
            </a: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L" altLang="es-CL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exists</a:t>
            </a:r>
            <a:r>
              <a:rPr lang="es-CL" altLang="es-CL" dirty="0">
                <a:solidFill>
                  <a:srgbClr val="000000"/>
                </a:solidFill>
              </a:rPr>
              <a:t>. </a:t>
            </a:r>
            <a:r>
              <a:rPr kumimoji="0" lang="es-CL" altLang="es-CL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The</a:t>
            </a: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L" altLang="es-CL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algorithm</a:t>
            </a: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L" altLang="es-CL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is</a:t>
            </a: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L" altLang="es-CL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distance-based</a:t>
            </a: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L" altLang="es-CL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or</a:t>
            </a: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linear — KNN, SVM, linear </a:t>
            </a:r>
            <a:r>
              <a:rPr kumimoji="0" lang="es-CL" altLang="es-CL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regression</a:t>
            </a: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L" altLang="es-CL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will</a:t>
            </a: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be </a:t>
            </a:r>
            <a:r>
              <a:rPr kumimoji="0" lang="es-CL" altLang="es-CL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distorted</a:t>
            </a:r>
            <a:endParaRPr kumimoji="0" lang="es-CL" altLang="es-CL" sz="18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CL" altLang="es-CL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2" name="CuadroTexto 12">
            <a:extLst>
              <a:ext uri="{FF2B5EF4-FFF2-40B4-BE49-F238E27FC236}">
                <a16:creationId xmlns:a16="http://schemas.microsoft.com/office/drawing/2014/main" id="{D2CC24DC-2D21-555F-84DE-18C5C90F8A26}"/>
              </a:ext>
            </a:extLst>
          </p:cNvPr>
          <p:cNvSpPr txBox="1"/>
          <p:nvPr/>
        </p:nvSpPr>
        <p:spPr>
          <a:xfrm>
            <a:off x="77001" y="6578525"/>
            <a:ext cx="133838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4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          </a:t>
            </a:r>
            <a:r>
              <a:rPr lang="es-CL" sz="12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Muñoz-Herrera and  Hormazábal	</a:t>
            </a:r>
            <a:r>
              <a:rPr lang="es-CL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                                                </a:t>
            </a:r>
            <a:r>
              <a:rPr lang="en-US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Clase 3: Data </a:t>
            </a:r>
            <a:r>
              <a:rPr lang="es-419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Cleaning and Transformation 		</a:t>
            </a:r>
            <a:r>
              <a:rPr lang="es-CL" sz="1200" b="1" dirty="0" err="1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Unit</a:t>
            </a:r>
            <a:r>
              <a:rPr lang="es-CL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1: Fundamentals of Business Intelligence     	   </a:t>
            </a:r>
            <a:endParaRPr lang="es-CL" sz="1400" dirty="0">
              <a:latin typeface="CMU Sans Serif" panose="02000603000000000000" pitchFamily="2" charset="0"/>
              <a:ea typeface="CMU Sans Serif" panose="02000603000000000000" pitchFamily="2" charset="0"/>
              <a:cs typeface="CMU Sans Serif" panose="02000603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16927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0B6FEB-4468-1E9A-6A69-D7FB72B047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Imagen 11">
            <a:extLst>
              <a:ext uri="{FF2B5EF4-FFF2-40B4-BE49-F238E27FC236}">
                <a16:creationId xmlns:a16="http://schemas.microsoft.com/office/drawing/2014/main" id="{E370341F-6CAB-C409-4F5A-E5A891330FF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6587658"/>
            <a:ext cx="12191996" cy="28887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F53F8A8D-9F21-B2EE-F999-1E38466A8A20}"/>
              </a:ext>
            </a:extLst>
          </p:cNvPr>
          <p:cNvSpPr/>
          <p:nvPr/>
        </p:nvSpPr>
        <p:spPr>
          <a:xfrm>
            <a:off x="-4" y="0"/>
            <a:ext cx="12192000" cy="102412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7" name="TextBox 3">
            <a:extLst>
              <a:ext uri="{FF2B5EF4-FFF2-40B4-BE49-F238E27FC236}">
                <a16:creationId xmlns:a16="http://schemas.microsoft.com/office/drawing/2014/main" id="{69A27EE9-ADFF-D256-EE49-3837DB246F2F}"/>
              </a:ext>
            </a:extLst>
          </p:cNvPr>
          <p:cNvSpPr txBox="1"/>
          <p:nvPr/>
        </p:nvSpPr>
        <p:spPr>
          <a:xfrm>
            <a:off x="174135" y="377797"/>
            <a:ext cx="119207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latin typeface="CMU Sans Serif" panose="02000603000000000000"/>
                <a:ea typeface="CMU Sans Serif" panose="02000603000000000000" pitchFamily="2" charset="0"/>
                <a:cs typeface="CMU Sans Serif" panose="02000603000000000000" pitchFamily="2" charset="0"/>
              </a:rPr>
              <a:t>Categorical handling: One-hot encoding</a:t>
            </a:r>
          </a:p>
        </p:txBody>
      </p:sp>
      <p:sp>
        <p:nvSpPr>
          <p:cNvPr id="3" name="Rectángulo redondeado 2">
            <a:extLst>
              <a:ext uri="{FF2B5EF4-FFF2-40B4-BE49-F238E27FC236}">
                <a16:creationId xmlns:a16="http://schemas.microsoft.com/office/drawing/2014/main" id="{2CB6ABFC-61EC-1988-0D73-7CE19378E5A7}"/>
              </a:ext>
            </a:extLst>
          </p:cNvPr>
          <p:cNvSpPr/>
          <p:nvPr/>
        </p:nvSpPr>
        <p:spPr>
          <a:xfrm>
            <a:off x="1089211" y="1341335"/>
            <a:ext cx="9388289" cy="111045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AF8A846C-DBC4-E4D1-0ED3-FA006DE3B594}"/>
              </a:ext>
            </a:extLst>
          </p:cNvPr>
          <p:cNvSpPr txBox="1"/>
          <p:nvPr/>
        </p:nvSpPr>
        <p:spPr>
          <a:xfrm>
            <a:off x="1445558" y="1406346"/>
            <a:ext cx="873982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CL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Converts</a:t>
            </a:r>
            <a:r>
              <a:rPr lang="es-CL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es-CL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categorical</a:t>
            </a:r>
            <a:r>
              <a:rPr lang="es-CL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es-CL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text</a:t>
            </a:r>
            <a:r>
              <a:rPr lang="es-CL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es-CL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values</a:t>
            </a:r>
            <a:r>
              <a:rPr lang="es-CL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es-CL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into</a:t>
            </a:r>
            <a:r>
              <a:rPr lang="es-CL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es-CL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integers</a:t>
            </a:r>
            <a:r>
              <a:rPr lang="es-CL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es-CL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by</a:t>
            </a:r>
            <a:r>
              <a:rPr lang="es-CL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es-CL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assigning</a:t>
            </a:r>
            <a:r>
              <a:rPr lang="es-CL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es-CL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each</a:t>
            </a:r>
            <a:r>
              <a:rPr lang="es-CL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es-CL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unique</a:t>
            </a:r>
            <a:r>
              <a:rPr lang="es-CL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es-CL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category</a:t>
            </a:r>
            <a:r>
              <a:rPr lang="es-CL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a </a:t>
            </a:r>
            <a:r>
              <a:rPr lang="es-CL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number</a:t>
            </a:r>
            <a:r>
              <a:rPr lang="es-CL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. Simple and </a:t>
            </a:r>
            <a:r>
              <a:rPr lang="es-CL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memory-efficient</a:t>
            </a:r>
            <a:r>
              <a:rPr lang="es-CL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, </a:t>
            </a:r>
            <a:r>
              <a:rPr lang="es-CL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but</a:t>
            </a:r>
            <a:r>
              <a:rPr lang="es-CL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introduces </a:t>
            </a:r>
            <a:r>
              <a:rPr lang="es-CL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an</a:t>
            </a:r>
            <a:r>
              <a:rPr lang="es-CL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es-CL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implicit</a:t>
            </a:r>
            <a:r>
              <a:rPr lang="es-CL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es-CL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numeric</a:t>
            </a:r>
            <a:r>
              <a:rPr lang="es-CL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es-CL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order</a:t>
            </a:r>
            <a:r>
              <a:rPr lang="es-CL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es-CL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that</a:t>
            </a:r>
            <a:r>
              <a:rPr lang="es-CL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es-CL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may</a:t>
            </a:r>
            <a:r>
              <a:rPr lang="es-CL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es-CL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not</a:t>
            </a:r>
            <a:r>
              <a:rPr lang="es-CL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es-CL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exist</a:t>
            </a:r>
            <a:r>
              <a:rPr lang="es-CL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in </a:t>
            </a:r>
            <a:r>
              <a:rPr lang="es-CL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the</a:t>
            </a:r>
            <a:r>
              <a:rPr lang="es-CL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data.</a:t>
            </a:r>
            <a:endParaRPr lang="es-CL" dirty="0"/>
          </a:p>
        </p:txBody>
      </p:sp>
      <p:graphicFrame>
        <p:nvGraphicFramePr>
          <p:cNvPr id="8" name="Tabla 7">
            <a:extLst>
              <a:ext uri="{FF2B5EF4-FFF2-40B4-BE49-F238E27FC236}">
                <a16:creationId xmlns:a16="http://schemas.microsoft.com/office/drawing/2014/main" id="{8E39E804-2376-B096-4344-8B40CD9957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4447480"/>
              </p:ext>
            </p:extLst>
          </p:nvPr>
        </p:nvGraphicFramePr>
        <p:xfrm>
          <a:off x="310777" y="2660956"/>
          <a:ext cx="2714812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7406">
                  <a:extLst>
                    <a:ext uri="{9D8B030D-6E8A-4147-A177-3AD203B41FA5}">
                      <a16:colId xmlns:a16="http://schemas.microsoft.com/office/drawing/2014/main" val="2004731069"/>
                    </a:ext>
                  </a:extLst>
                </a:gridCol>
                <a:gridCol w="1357406">
                  <a:extLst>
                    <a:ext uri="{9D8B030D-6E8A-4147-A177-3AD203B41FA5}">
                      <a16:colId xmlns:a16="http://schemas.microsoft.com/office/drawing/2014/main" val="349972328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dirty="0" err="1"/>
                        <a:t>Customer</a:t>
                      </a:r>
                      <a:endParaRPr lang="es-CL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/>
                        <a:t>City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340865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dirty="0"/>
                        <a:t>Paris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998595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/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/>
                        <a:t>London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727604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/>
                        <a:t>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/>
                        <a:t>Tokyo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225961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/>
                        <a:t>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dirty="0"/>
                        <a:t>Paris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28247745"/>
                  </a:ext>
                </a:extLst>
              </a:tr>
            </a:tbl>
          </a:graphicData>
        </a:graphic>
      </p:graphicFrame>
      <p:sp>
        <p:nvSpPr>
          <p:cNvPr id="10" name="Flecha derecha 9">
            <a:extLst>
              <a:ext uri="{FF2B5EF4-FFF2-40B4-BE49-F238E27FC236}">
                <a16:creationId xmlns:a16="http://schemas.microsoft.com/office/drawing/2014/main" id="{3FFD493C-A911-7F45-912B-2DD6E43AF67A}"/>
              </a:ext>
            </a:extLst>
          </p:cNvPr>
          <p:cNvSpPr/>
          <p:nvPr/>
        </p:nvSpPr>
        <p:spPr>
          <a:xfrm>
            <a:off x="3570941" y="3335245"/>
            <a:ext cx="860612" cy="47064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graphicFrame>
        <p:nvGraphicFramePr>
          <p:cNvPr id="11" name="Tabla 10">
            <a:extLst>
              <a:ext uri="{FF2B5EF4-FFF2-40B4-BE49-F238E27FC236}">
                <a16:creationId xmlns:a16="http://schemas.microsoft.com/office/drawing/2014/main" id="{A1F7B55C-A48B-9D28-B6F8-D9170E6133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8183595"/>
              </p:ext>
            </p:extLst>
          </p:nvPr>
        </p:nvGraphicFramePr>
        <p:xfrm>
          <a:off x="4976905" y="2643468"/>
          <a:ext cx="600934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2335">
                  <a:extLst>
                    <a:ext uri="{9D8B030D-6E8A-4147-A177-3AD203B41FA5}">
                      <a16:colId xmlns:a16="http://schemas.microsoft.com/office/drawing/2014/main" val="264712074"/>
                    </a:ext>
                  </a:extLst>
                </a:gridCol>
                <a:gridCol w="1502335">
                  <a:extLst>
                    <a:ext uri="{9D8B030D-6E8A-4147-A177-3AD203B41FA5}">
                      <a16:colId xmlns:a16="http://schemas.microsoft.com/office/drawing/2014/main" val="2625404942"/>
                    </a:ext>
                  </a:extLst>
                </a:gridCol>
                <a:gridCol w="1502335">
                  <a:extLst>
                    <a:ext uri="{9D8B030D-6E8A-4147-A177-3AD203B41FA5}">
                      <a16:colId xmlns:a16="http://schemas.microsoft.com/office/drawing/2014/main" val="2823494256"/>
                    </a:ext>
                  </a:extLst>
                </a:gridCol>
                <a:gridCol w="1502335">
                  <a:extLst>
                    <a:ext uri="{9D8B030D-6E8A-4147-A177-3AD203B41FA5}">
                      <a16:colId xmlns:a16="http://schemas.microsoft.com/office/drawing/2014/main" val="309643286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dirty="0" err="1"/>
                        <a:t>Customer</a:t>
                      </a:r>
                      <a:endParaRPr lang="es-CL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/>
                        <a:t>City_Paris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/>
                        <a:t>City_London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/>
                        <a:t>City_Tokyo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9273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888392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/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dirty="0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514512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/>
                        <a:t>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599952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/>
                        <a:t>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dirty="0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50483"/>
                  </a:ext>
                </a:extLst>
              </a:tr>
            </a:tbl>
          </a:graphicData>
        </a:graphic>
      </p:graphicFrame>
      <p:sp>
        <p:nvSpPr>
          <p:cNvPr id="12" name="Rectángulo 11">
            <a:extLst>
              <a:ext uri="{FF2B5EF4-FFF2-40B4-BE49-F238E27FC236}">
                <a16:creationId xmlns:a16="http://schemas.microsoft.com/office/drawing/2014/main" id="{831151AB-012D-F377-1892-C8DDE708CEF0}"/>
              </a:ext>
            </a:extLst>
          </p:cNvPr>
          <p:cNvSpPr/>
          <p:nvPr/>
        </p:nvSpPr>
        <p:spPr>
          <a:xfrm>
            <a:off x="9453282" y="2643468"/>
            <a:ext cx="1532963" cy="1854200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89C1ECD5-3770-DF02-69BD-178F19A85B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3754" y="4803340"/>
            <a:ext cx="3738281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L" altLang="es-CL" sz="1800" b="1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When</a:t>
            </a:r>
            <a:r>
              <a:rPr kumimoji="0" lang="es-CL" altLang="es-CL" sz="1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L" altLang="es-CL" sz="1800" b="1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to</a:t>
            </a:r>
            <a:r>
              <a:rPr kumimoji="0" lang="es-CL" altLang="es-CL" sz="1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use </a:t>
            </a:r>
            <a:r>
              <a:rPr kumimoji="0" lang="es-CL" altLang="es-CL" sz="1800" b="1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it</a:t>
            </a:r>
            <a:r>
              <a:rPr lang="es-CL" altLang="es-CL" dirty="0">
                <a:latin typeface="Arial" panose="020B0604020202020204" pitchFamily="34" charset="0"/>
              </a:rPr>
              <a:t>. </a:t>
            </a:r>
            <a:r>
              <a:rPr kumimoji="0" lang="es-CL" altLang="es-CL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The</a:t>
            </a: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variable </a:t>
            </a:r>
            <a:r>
              <a:rPr kumimoji="0" lang="es-CL" altLang="es-CL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is</a:t>
            </a: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</a:t>
            </a:r>
            <a:r>
              <a:rPr kumimoji="0" lang="es-CL" altLang="es-CL" sz="1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nominal</a:t>
            </a: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— no natural </a:t>
            </a:r>
            <a:r>
              <a:rPr kumimoji="0" lang="es-CL" altLang="es-CL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order</a:t>
            </a: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L" altLang="es-CL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exists</a:t>
            </a:r>
            <a:r>
              <a:rPr lang="es-CL" altLang="es-CL" dirty="0">
                <a:solidFill>
                  <a:srgbClr val="000000"/>
                </a:solidFill>
                <a:latin typeface="Arial" panose="020B0604020202020204" pitchFamily="34" charset="0"/>
              </a:rPr>
              <a:t>. </a:t>
            </a:r>
            <a:r>
              <a:rPr kumimoji="0" lang="es-CL" altLang="es-CL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The</a:t>
            </a: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L" altLang="es-CL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algorithm</a:t>
            </a: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L" altLang="es-CL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is</a:t>
            </a: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L" altLang="es-CL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distance-based</a:t>
            </a: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L" altLang="es-CL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or</a:t>
            </a: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linear — KNN, SVM, linear </a:t>
            </a:r>
            <a:r>
              <a:rPr kumimoji="0" lang="es-CL" altLang="es-CL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regression</a:t>
            </a: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, neural </a:t>
            </a:r>
            <a:r>
              <a:rPr kumimoji="0" lang="es-CL" altLang="es-CL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networks</a:t>
            </a:r>
            <a:endParaRPr kumimoji="0" lang="es-CL" altLang="es-CL" sz="18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CL" altLang="es-CL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4" name="Rectangle 3">
            <a:extLst>
              <a:ext uri="{FF2B5EF4-FFF2-40B4-BE49-F238E27FC236}">
                <a16:creationId xmlns:a16="http://schemas.microsoft.com/office/drawing/2014/main" id="{3AE721BB-85E8-4AC9-EC9D-AC0164378C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29093" y="4799432"/>
            <a:ext cx="6104963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L" altLang="es-CL" sz="1800" b="1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When</a:t>
            </a:r>
            <a:r>
              <a:rPr kumimoji="0" lang="es-CL" altLang="es-CL" sz="1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NOT </a:t>
            </a:r>
            <a:r>
              <a:rPr kumimoji="0" lang="es-CL" altLang="es-CL" sz="1800" b="1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to</a:t>
            </a:r>
            <a:r>
              <a:rPr kumimoji="0" lang="es-CL" altLang="es-CL" sz="1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use </a:t>
            </a:r>
            <a:r>
              <a:rPr kumimoji="0" lang="es-CL" altLang="es-CL" sz="1800" b="1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it</a:t>
            </a:r>
            <a:endParaRPr kumimoji="0" lang="es-CL" altLang="es-CL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s-CL" altLang="es-CL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The</a:t>
            </a: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variable has </a:t>
            </a:r>
            <a:r>
              <a:rPr kumimoji="0" lang="es-CL" altLang="es-CL" sz="1800" b="1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high</a:t>
            </a:r>
            <a:r>
              <a:rPr kumimoji="0" lang="es-CL" altLang="es-CL" sz="1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L" altLang="es-CL" sz="1800" b="1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cardinality</a:t>
            </a: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— a </a:t>
            </a:r>
            <a:r>
              <a:rPr kumimoji="0" lang="es-CL" altLang="es-CL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city</a:t>
            </a: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L" altLang="es-CL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column</a:t>
            </a: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L" altLang="es-CL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with</a:t>
            </a: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500 </a:t>
            </a:r>
            <a:r>
              <a:rPr kumimoji="0" lang="es-CL" altLang="es-CL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unique</a:t>
            </a: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L" altLang="es-CL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values</a:t>
            </a: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produces 500 new </a:t>
            </a:r>
            <a:r>
              <a:rPr kumimoji="0" lang="es-CL" altLang="es-CL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columns</a:t>
            </a: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s-CL" altLang="es-CL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causing</a:t>
            </a: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L" altLang="es-CL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the</a:t>
            </a: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curse </a:t>
            </a:r>
            <a:r>
              <a:rPr kumimoji="0" lang="es-CL" altLang="es-CL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of</a:t>
            </a: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L" altLang="es-CL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dimensionality</a:t>
            </a: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. </a:t>
            </a:r>
            <a:r>
              <a:rPr kumimoji="0" lang="es-CL" altLang="es-CL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Memory</a:t>
            </a: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L" altLang="es-CL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is</a:t>
            </a: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a </a:t>
            </a:r>
            <a:r>
              <a:rPr kumimoji="0" lang="es-CL" altLang="es-CL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hard</a:t>
            </a: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L" altLang="es-CL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constraint</a:t>
            </a: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CL" altLang="es-CL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CuadroTexto 12">
            <a:extLst>
              <a:ext uri="{FF2B5EF4-FFF2-40B4-BE49-F238E27FC236}">
                <a16:creationId xmlns:a16="http://schemas.microsoft.com/office/drawing/2014/main" id="{110C706B-A6E3-A7CE-C08B-C13906EA908E}"/>
              </a:ext>
            </a:extLst>
          </p:cNvPr>
          <p:cNvSpPr txBox="1"/>
          <p:nvPr/>
        </p:nvSpPr>
        <p:spPr>
          <a:xfrm>
            <a:off x="77001" y="6578525"/>
            <a:ext cx="133838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4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          </a:t>
            </a:r>
            <a:r>
              <a:rPr lang="es-CL" sz="12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Muñoz-Herrera and  Hormazábal	</a:t>
            </a:r>
            <a:r>
              <a:rPr lang="es-CL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                                                </a:t>
            </a:r>
            <a:r>
              <a:rPr lang="en-US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Clase 3: Data </a:t>
            </a:r>
            <a:r>
              <a:rPr lang="es-419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Cleaning and Transformation 		</a:t>
            </a:r>
            <a:r>
              <a:rPr lang="es-CL" sz="1200" b="1" dirty="0" err="1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Unit</a:t>
            </a:r>
            <a:r>
              <a:rPr lang="es-CL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1: Fundamentals of Business Intelligence     	   </a:t>
            </a:r>
            <a:endParaRPr lang="es-CL" sz="1400" dirty="0">
              <a:latin typeface="CMU Sans Serif" panose="02000603000000000000" pitchFamily="2" charset="0"/>
              <a:ea typeface="CMU Sans Serif" panose="02000603000000000000" pitchFamily="2" charset="0"/>
              <a:cs typeface="CMU Sans Serif" panose="02000603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89701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C874DD-C397-5CBA-EFBE-3F03957DF0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ángulo redondeado 9">
            <a:extLst>
              <a:ext uri="{FF2B5EF4-FFF2-40B4-BE49-F238E27FC236}">
                <a16:creationId xmlns:a16="http://schemas.microsoft.com/office/drawing/2014/main" id="{F09A4182-63C3-F3C1-5D07-AC7D6AA70C40}"/>
              </a:ext>
            </a:extLst>
          </p:cNvPr>
          <p:cNvSpPr/>
          <p:nvPr/>
        </p:nvSpPr>
        <p:spPr>
          <a:xfrm>
            <a:off x="1401851" y="1308364"/>
            <a:ext cx="9388289" cy="111045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pic>
        <p:nvPicPr>
          <p:cNvPr id="32" name="Imagen 11">
            <a:extLst>
              <a:ext uri="{FF2B5EF4-FFF2-40B4-BE49-F238E27FC236}">
                <a16:creationId xmlns:a16="http://schemas.microsoft.com/office/drawing/2014/main" id="{E46CECA5-2F2A-0C87-1147-F3DC9D0C545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6587658"/>
            <a:ext cx="12191996" cy="28887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0A0C5CC3-037B-6677-3AB8-0696915B3FA8}"/>
              </a:ext>
            </a:extLst>
          </p:cNvPr>
          <p:cNvSpPr/>
          <p:nvPr/>
        </p:nvSpPr>
        <p:spPr>
          <a:xfrm>
            <a:off x="-4" y="0"/>
            <a:ext cx="12192000" cy="102412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7" name="TextBox 3">
            <a:extLst>
              <a:ext uri="{FF2B5EF4-FFF2-40B4-BE49-F238E27FC236}">
                <a16:creationId xmlns:a16="http://schemas.microsoft.com/office/drawing/2014/main" id="{B7CE088B-F8DE-C570-7C3B-96B87048B9A3}"/>
              </a:ext>
            </a:extLst>
          </p:cNvPr>
          <p:cNvSpPr txBox="1"/>
          <p:nvPr/>
        </p:nvSpPr>
        <p:spPr>
          <a:xfrm>
            <a:off x="174135" y="377797"/>
            <a:ext cx="119207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latin typeface="CMU Sans Serif" panose="02000603000000000000"/>
                <a:ea typeface="CMU Sans Serif" panose="02000603000000000000" pitchFamily="2" charset="0"/>
                <a:cs typeface="CMU Sans Serif" panose="02000603000000000000" pitchFamily="2" charset="0"/>
              </a:rPr>
              <a:t>Categorical handling: Ordinal encoding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0C2F4333-DF53-552B-DC34-691BCF618A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11402" y="1401925"/>
            <a:ext cx="8969188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L" altLang="es-CL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Converts</a:t>
            </a: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kumimoji="0" lang="es-CL" altLang="es-CL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ordered</a:t>
            </a: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kumimoji="0" lang="es-CL" altLang="es-CL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categorical</a:t>
            </a: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kumimoji="0" lang="es-CL" altLang="es-CL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values</a:t>
            </a: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kumimoji="0" lang="es-CL" altLang="es-CL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into</a:t>
            </a: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kumimoji="0" lang="es-CL" altLang="es-CL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integers</a:t>
            </a: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kumimoji="0" lang="es-CL" altLang="es-CL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that</a:t>
            </a: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 </a:t>
            </a:r>
            <a:r>
              <a:rPr kumimoji="0" lang="es-CL" altLang="es-CL" sz="1800" b="1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</a:rPr>
              <a:t>respect</a:t>
            </a:r>
            <a:r>
              <a:rPr kumimoji="0" lang="es-CL" altLang="es-CL" sz="1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 </a:t>
            </a:r>
            <a:r>
              <a:rPr kumimoji="0" lang="es-CL" altLang="es-CL" sz="1800" b="1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</a:rPr>
              <a:t>the</a:t>
            </a:r>
            <a:r>
              <a:rPr kumimoji="0" lang="es-CL" altLang="es-CL" sz="1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 natural </a:t>
            </a:r>
            <a:r>
              <a:rPr kumimoji="0" lang="es-CL" altLang="es-CL" sz="1800" b="1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</a:rPr>
              <a:t>order</a:t>
            </a: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 </a:t>
            </a:r>
            <a:r>
              <a:rPr kumimoji="0" lang="es-CL" altLang="es-CL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of</a:t>
            </a: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kumimoji="0" lang="es-CL" altLang="es-CL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the</a:t>
            </a: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kumimoji="0" lang="es-CL" altLang="es-CL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categories</a:t>
            </a: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. </a:t>
            </a:r>
            <a:r>
              <a:rPr kumimoji="0" lang="es-CL" altLang="es-CL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The</a:t>
            </a: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kumimoji="0" lang="es-CL" altLang="es-CL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key</a:t>
            </a: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kumimoji="0" lang="es-CL" altLang="es-CL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difference</a:t>
            </a: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kumimoji="0" lang="es-CL" altLang="es-CL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from</a:t>
            </a: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kumimoji="0" lang="es-CL" altLang="es-CL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label</a:t>
            </a: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kumimoji="0" lang="es-CL" altLang="es-CL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encoding</a:t>
            </a: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kumimoji="0" lang="es-CL" altLang="es-CL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is</a:t>
            </a: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kumimoji="0" lang="es-CL" altLang="es-CL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that</a:t>
            </a: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kumimoji="0" lang="es-CL" altLang="es-CL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the</a:t>
            </a: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kumimoji="0" lang="es-CL" altLang="es-CL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numeric</a:t>
            </a: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kumimoji="0" lang="es-CL" altLang="es-CL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mapping</a:t>
            </a: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kumimoji="0" lang="es-CL" altLang="es-CL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is</a:t>
            </a: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kumimoji="0" lang="es-CL" altLang="es-CL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explicitly</a:t>
            </a: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kumimoji="0" lang="es-CL" altLang="es-CL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defined</a:t>
            </a: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kumimoji="0" lang="es-CL" altLang="es-CL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by</a:t>
            </a: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kumimoji="0" lang="es-CL" altLang="es-CL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the</a:t>
            </a: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kumimoji="0" lang="es-CL" altLang="es-CL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analyst</a:t>
            </a: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kumimoji="0" lang="es-CL" altLang="es-CL" sz="1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— </a:t>
            </a:r>
            <a:r>
              <a:rPr kumimoji="0" lang="es-CL" altLang="es-CL" sz="1800" b="1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not</a:t>
            </a:r>
            <a:r>
              <a:rPr kumimoji="0" lang="es-CL" altLang="es-CL" sz="1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kumimoji="0" lang="es-CL" altLang="es-CL" sz="1800" b="1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assigned</a:t>
            </a:r>
            <a:r>
              <a:rPr kumimoji="0" lang="es-CL" altLang="es-CL" sz="1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kumimoji="0" lang="es-CL" altLang="es-CL" sz="1800" b="1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arbitrarily</a:t>
            </a:r>
            <a:r>
              <a:rPr kumimoji="0" lang="es-CL" altLang="es-CL" sz="1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.</a:t>
            </a:r>
            <a:endParaRPr kumimoji="0" lang="es-CL" altLang="es-CL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A2FC27F5-0092-D707-5BA6-019B5DF86A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34501" y="2703052"/>
            <a:ext cx="5756018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L" altLang="es-CL" sz="1800" b="1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When</a:t>
            </a:r>
            <a:r>
              <a:rPr kumimoji="0" lang="es-CL" altLang="es-CL" sz="1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L" altLang="es-CL" sz="1800" b="1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to</a:t>
            </a:r>
            <a:r>
              <a:rPr kumimoji="0" lang="es-CL" altLang="es-CL" sz="1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use </a:t>
            </a:r>
            <a:r>
              <a:rPr kumimoji="0" lang="es-CL" altLang="es-CL" sz="1800" b="1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it</a:t>
            </a:r>
            <a:endParaRPr kumimoji="0" lang="es-CL" altLang="es-CL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s-CL" altLang="es-CL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The</a:t>
            </a: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variable </a:t>
            </a:r>
            <a:r>
              <a:rPr kumimoji="0" lang="es-CL" altLang="es-CL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is</a:t>
            </a: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</a:t>
            </a:r>
            <a:r>
              <a:rPr kumimoji="0" lang="es-CL" altLang="es-CL" sz="1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ordinal</a:t>
            </a: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— a </a:t>
            </a:r>
            <a:r>
              <a:rPr kumimoji="0" lang="es-CL" altLang="es-CL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clear</a:t>
            </a: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s-CL" altLang="es-CL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meaningful</a:t>
            </a: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L" altLang="es-CL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order</a:t>
            </a: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L" altLang="es-CL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exists</a:t>
            </a:r>
            <a:r>
              <a:rPr lang="es-CL" altLang="es-CL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kumimoji="0" lang="es-CL" altLang="es-CL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The</a:t>
            </a: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L" altLang="es-CL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order</a:t>
            </a: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L" altLang="es-CL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is</a:t>
            </a: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L" altLang="es-CL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domain-defined</a:t>
            </a: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s-CL" altLang="es-CL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not</a:t>
            </a: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L" altLang="es-CL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inferred</a:t>
            </a: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L" altLang="es-CL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automatically</a:t>
            </a:r>
            <a:r>
              <a:rPr lang="es-CL" altLang="es-CL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kumimoji="0" lang="es-CL" altLang="es-CL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Any</a:t>
            </a: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L" altLang="es-CL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algorithm</a:t>
            </a: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— ordinal </a:t>
            </a:r>
            <a:r>
              <a:rPr kumimoji="0" lang="es-CL" altLang="es-CL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encoding</a:t>
            </a: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L" altLang="es-CL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is</a:t>
            </a: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L" altLang="es-CL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safe</a:t>
            </a: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L" altLang="es-CL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for</a:t>
            </a: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L" altLang="es-CL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both</a:t>
            </a: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linear and </a:t>
            </a:r>
            <a:r>
              <a:rPr kumimoji="0" lang="es-CL" altLang="es-CL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tree-based</a:t>
            </a: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L" altLang="es-CL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models</a:t>
            </a: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L" altLang="es-CL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when</a:t>
            </a: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L" altLang="es-CL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order</a:t>
            </a: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L" altLang="es-CL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is</a:t>
            </a: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genuine.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CL" altLang="es-CL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1E915FE7-B2BC-0877-ED8C-B1946C7E83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34501" y="4519299"/>
            <a:ext cx="5756018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L" altLang="es-CL" sz="1800" b="1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Caveats</a:t>
            </a:r>
            <a:endParaRPr kumimoji="0" lang="es-CL" altLang="es-CL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s-CL" altLang="es-CL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Equal</a:t>
            </a: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L" altLang="es-CL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spacing</a:t>
            </a: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L" altLang="es-CL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is</a:t>
            </a: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L" altLang="es-CL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assumed</a:t>
            </a: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— </a:t>
            </a:r>
            <a:r>
              <a:rPr kumimoji="0" lang="es-CL" altLang="es-CL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if</a:t>
            </a: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L" altLang="es-CL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the</a:t>
            </a: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real gap </a:t>
            </a:r>
            <a:r>
              <a:rPr kumimoji="0" lang="es-CL" altLang="es-CL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between</a:t>
            </a: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Master and PhD </a:t>
            </a:r>
            <a:r>
              <a:rPr kumimoji="0" lang="es-CL" altLang="es-CL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is</a:t>
            </a: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L" altLang="es-CL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much</a:t>
            </a: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L" altLang="es-CL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larger</a:t>
            </a: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L" altLang="es-CL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than</a:t>
            </a: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L" altLang="es-CL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Bachelor</a:t>
            </a: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and Master, </a:t>
            </a:r>
            <a:r>
              <a:rPr kumimoji="0" lang="es-CL" altLang="es-CL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the</a:t>
            </a: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L" altLang="es-CL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encoding</a:t>
            </a: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L" altLang="es-CL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does</a:t>
            </a: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L" altLang="es-CL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not</a:t>
            </a: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capture </a:t>
            </a:r>
            <a:r>
              <a:rPr kumimoji="0" lang="es-CL" altLang="es-CL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that</a:t>
            </a: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. </a:t>
            </a:r>
            <a:r>
              <a:rPr kumimoji="0" lang="es-CL" altLang="es-CL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Never</a:t>
            </a: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L" altLang="es-CL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apply</a:t>
            </a: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L" altLang="es-CL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to</a:t>
            </a: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nominal variables. </a:t>
            </a:r>
            <a:r>
              <a:rPr kumimoji="0" lang="es-CL" altLang="es-CL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Order</a:t>
            </a: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L" altLang="es-CL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must</a:t>
            </a: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be </a:t>
            </a:r>
            <a:r>
              <a:rPr kumimoji="0" lang="es-CL" altLang="es-CL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defined</a:t>
            </a: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L" altLang="es-CL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manually</a:t>
            </a: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CL" altLang="es-CL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11" name="Tabla 10">
            <a:extLst>
              <a:ext uri="{FF2B5EF4-FFF2-40B4-BE49-F238E27FC236}">
                <a16:creationId xmlns:a16="http://schemas.microsoft.com/office/drawing/2014/main" id="{4EBA622F-5115-6EA7-AF71-3E99929EFE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2828382"/>
              </p:ext>
            </p:extLst>
          </p:nvPr>
        </p:nvGraphicFramePr>
        <p:xfrm>
          <a:off x="412356" y="2947319"/>
          <a:ext cx="5404224" cy="27091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1408">
                  <a:extLst>
                    <a:ext uri="{9D8B030D-6E8A-4147-A177-3AD203B41FA5}">
                      <a16:colId xmlns:a16="http://schemas.microsoft.com/office/drawing/2014/main" val="10507510"/>
                    </a:ext>
                  </a:extLst>
                </a:gridCol>
                <a:gridCol w="1801408">
                  <a:extLst>
                    <a:ext uri="{9D8B030D-6E8A-4147-A177-3AD203B41FA5}">
                      <a16:colId xmlns:a16="http://schemas.microsoft.com/office/drawing/2014/main" val="4291164967"/>
                    </a:ext>
                  </a:extLst>
                </a:gridCol>
                <a:gridCol w="1801408">
                  <a:extLst>
                    <a:ext uri="{9D8B030D-6E8A-4147-A177-3AD203B41FA5}">
                      <a16:colId xmlns:a16="http://schemas.microsoft.com/office/drawing/2014/main" val="2145028211"/>
                    </a:ext>
                  </a:extLst>
                </a:gridCol>
              </a:tblGrid>
              <a:tr h="4515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dirty="0" err="1"/>
                        <a:t>Student</a:t>
                      </a:r>
                      <a:endParaRPr lang="es-CL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/>
                        <a:t>Education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/>
                        <a:t>Label encoded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87064581"/>
                  </a:ext>
                </a:extLst>
              </a:tr>
              <a:tr h="4515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/>
                        <a:t>High school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06146568"/>
                  </a:ext>
                </a:extLst>
              </a:tr>
              <a:tr h="4515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dirty="0"/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/>
                        <a:t>Bachelor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66861290"/>
                  </a:ext>
                </a:extLst>
              </a:tr>
              <a:tr h="4515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/>
                        <a:t>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/>
                        <a:t>Master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dirty="0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39597502"/>
                  </a:ext>
                </a:extLst>
              </a:tr>
              <a:tr h="4515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/>
                        <a:t>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/>
                        <a:t>PhD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/>
                        <a:t>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49195806"/>
                  </a:ext>
                </a:extLst>
              </a:tr>
              <a:tr h="4515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/>
                        <a:t>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/>
                        <a:t>Bachelor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dirty="0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13841878"/>
                  </a:ext>
                </a:extLst>
              </a:tr>
            </a:tbl>
          </a:graphicData>
        </a:graphic>
      </p:graphicFrame>
      <p:sp>
        <p:nvSpPr>
          <p:cNvPr id="12" name="CuadroTexto 12">
            <a:extLst>
              <a:ext uri="{FF2B5EF4-FFF2-40B4-BE49-F238E27FC236}">
                <a16:creationId xmlns:a16="http://schemas.microsoft.com/office/drawing/2014/main" id="{E7336A08-E1C9-392A-E191-6CB36D60796B}"/>
              </a:ext>
            </a:extLst>
          </p:cNvPr>
          <p:cNvSpPr txBox="1"/>
          <p:nvPr/>
        </p:nvSpPr>
        <p:spPr>
          <a:xfrm>
            <a:off x="77001" y="6578525"/>
            <a:ext cx="133838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4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          </a:t>
            </a:r>
            <a:r>
              <a:rPr lang="es-CL" sz="12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Muñoz-Herrera and  Hormazábal	</a:t>
            </a:r>
            <a:r>
              <a:rPr lang="es-CL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                                                </a:t>
            </a:r>
            <a:r>
              <a:rPr lang="en-US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Clase 3: Data </a:t>
            </a:r>
            <a:r>
              <a:rPr lang="es-419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Cleaning and Transformation 		</a:t>
            </a:r>
            <a:r>
              <a:rPr lang="es-CL" sz="1200" b="1" dirty="0" err="1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Unit</a:t>
            </a:r>
            <a:r>
              <a:rPr lang="es-CL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1: Fundamentals of Business Intelligence     	   </a:t>
            </a:r>
            <a:endParaRPr lang="es-CL" sz="1400" dirty="0">
              <a:latin typeface="CMU Sans Serif" panose="02000603000000000000" pitchFamily="2" charset="0"/>
              <a:ea typeface="CMU Sans Serif" panose="02000603000000000000" pitchFamily="2" charset="0"/>
              <a:cs typeface="CMU Sans Serif" panose="02000603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30964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E5D29F-BBE8-65C3-7464-E48D1ED52E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>
            <a:extLst>
              <a:ext uri="{FF2B5EF4-FFF2-40B4-BE49-F238E27FC236}">
                <a16:creationId xmlns:a16="http://schemas.microsoft.com/office/drawing/2014/main" id="{E1347D83-1D98-8768-BFB0-036DFD30F6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6128" y="2417899"/>
            <a:ext cx="9980002" cy="2138249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EDBBD68A-10A1-44C0-D4C0-CD12F9946F6C}"/>
              </a:ext>
            </a:extLst>
          </p:cNvPr>
          <p:cNvSpPr txBox="1"/>
          <p:nvPr/>
        </p:nvSpPr>
        <p:spPr>
          <a:xfrm>
            <a:off x="805870" y="3245747"/>
            <a:ext cx="10674059" cy="22365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2800" b="1" dirty="0" err="1">
                <a:latin typeface="CMU Sans Serif" panose="02000603000000000000"/>
              </a:rPr>
              <a:t>Class</a:t>
            </a:r>
            <a:r>
              <a:rPr lang="es-CL" sz="2800" b="1" dirty="0">
                <a:latin typeface="CMU Sans Serif" panose="02000603000000000000"/>
              </a:rPr>
              <a:t> 3: </a:t>
            </a:r>
            <a:r>
              <a:rPr lang="es-CL" sz="2800" b="1" dirty="0" err="1">
                <a:latin typeface="CMU Sans Serif" panose="02000603000000000000"/>
              </a:rPr>
              <a:t>Introduction</a:t>
            </a:r>
            <a:r>
              <a:rPr lang="es-CL" sz="2800" b="1" dirty="0">
                <a:latin typeface="CMU Sans Serif" panose="02000603000000000000"/>
              </a:rPr>
              <a:t> to Business Intelligence</a:t>
            </a:r>
          </a:p>
          <a:p>
            <a:pPr algn="ctr"/>
            <a:r>
              <a:rPr lang="es-CL" sz="2400" dirty="0" err="1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Unit</a:t>
            </a:r>
            <a:r>
              <a:rPr lang="es-CL" sz="2400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I: </a:t>
            </a:r>
            <a:r>
              <a:rPr lang="en-US" sz="1800" b="1" dirty="0">
                <a:solidFill>
                  <a:srgbClr val="21212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Data </a:t>
            </a:r>
            <a:r>
              <a:rPr lang="en-US" b="1" dirty="0">
                <a:solidFill>
                  <a:srgbClr val="212121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Cleaning and Transformation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ctr"/>
            <a:endParaRPr lang="es-CL" sz="2400" dirty="0">
              <a:latin typeface="CMU Sans Serif" panose="02000603000000000000" pitchFamily="2" charset="0"/>
              <a:ea typeface="CMU Sans Serif" panose="02000603000000000000" pitchFamily="2" charset="0"/>
              <a:cs typeface="CMU Sans Serif" panose="02000603000000000000" pitchFamily="2" charset="0"/>
            </a:endParaRPr>
          </a:p>
          <a:p>
            <a:pPr algn="ctr"/>
            <a:endParaRPr lang="es-CL" sz="2000" dirty="0">
              <a:latin typeface="CMU Sans Serif" panose="02000603000000000000" pitchFamily="2" charset="0"/>
              <a:ea typeface="CMU Sans Serif" panose="02000603000000000000" pitchFamily="2" charset="0"/>
              <a:cs typeface="CMU Sans Serif" panose="02000603000000000000" pitchFamily="2" charset="0"/>
            </a:endParaRPr>
          </a:p>
          <a:p>
            <a:pPr algn="ctr"/>
            <a:endParaRPr lang="es-CL" sz="2000" dirty="0">
              <a:latin typeface="CMU Sans Serif" panose="02000603000000000000" pitchFamily="2" charset="0"/>
              <a:ea typeface="CMU Sans Serif" panose="02000603000000000000" pitchFamily="2" charset="0"/>
              <a:cs typeface="CMU Sans Serif" panose="02000603000000000000" pitchFamily="2" charset="0"/>
            </a:endParaRPr>
          </a:p>
          <a:p>
            <a:pPr algn="ctr"/>
            <a:endParaRPr lang="es-CL" sz="2000" dirty="0">
              <a:latin typeface="CMU Sans Serif" panose="02000603000000000000" pitchFamily="2" charset="0"/>
              <a:ea typeface="CMU Sans Serif" panose="02000603000000000000" pitchFamily="2" charset="0"/>
              <a:cs typeface="CMU Sans Serif" panose="02000603000000000000" pitchFamily="2" charset="0"/>
            </a:endParaRP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849F7FFE-31D5-ED59-50E2-F83AE337A9A5}"/>
              </a:ext>
            </a:extLst>
          </p:cNvPr>
          <p:cNvPicPr>
            <a:picLocks noChangeAspect="1"/>
          </p:cNvPicPr>
          <p:nvPr/>
        </p:nvPicPr>
        <p:blipFill>
          <a:blip r:embed="rId4">
            <a:grayscl/>
          </a:blip>
          <a:stretch>
            <a:fillRect/>
          </a:stretch>
        </p:blipFill>
        <p:spPr>
          <a:xfrm>
            <a:off x="-4" y="3578"/>
            <a:ext cx="12192000" cy="399042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AA40896A-6C3A-E34F-5AD7-88406E756C5E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prstClr val="black"/>
              <a:schemeClr val="tx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-4" y="6578525"/>
            <a:ext cx="12192000" cy="288870"/>
          </a:xfrm>
          <a:prstGeom prst="rect">
            <a:avLst/>
          </a:prstGeom>
        </p:spPr>
      </p:pic>
      <p:pic>
        <p:nvPicPr>
          <p:cNvPr id="1026" name="Picture 2" descr="Logos - Imagen UDD">
            <a:extLst>
              <a:ext uri="{FF2B5EF4-FFF2-40B4-BE49-F238E27FC236}">
                <a16:creationId xmlns:a16="http://schemas.microsoft.com/office/drawing/2014/main" id="{E6520CBC-399F-5CD4-B417-B027DAD30B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84084" y="1324170"/>
            <a:ext cx="4100830" cy="14416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CuadroTexto 6">
            <a:extLst>
              <a:ext uri="{FF2B5EF4-FFF2-40B4-BE49-F238E27FC236}">
                <a16:creationId xmlns:a16="http://schemas.microsoft.com/office/drawing/2014/main" id="{27443856-CBF3-10E0-FEF8-8457217DE44F}"/>
              </a:ext>
            </a:extLst>
          </p:cNvPr>
          <p:cNvSpPr txBox="1"/>
          <p:nvPr/>
        </p:nvSpPr>
        <p:spPr>
          <a:xfrm>
            <a:off x="3945218" y="5585882"/>
            <a:ext cx="437856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2000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Sebastián Muñoz-Herrera, PhD.</a:t>
            </a:r>
          </a:p>
          <a:p>
            <a:pPr algn="ctr"/>
            <a:r>
              <a:rPr lang="es-CL" sz="2000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Héctor Hormazábal </a:t>
            </a:r>
          </a:p>
          <a:p>
            <a:pPr algn="ctr"/>
            <a:endParaRPr lang="es-CL" sz="2000" dirty="0">
              <a:latin typeface="CMU Sans Serif" panose="02000603000000000000" pitchFamily="2" charset="0"/>
              <a:ea typeface="CMU Sans Serif" panose="02000603000000000000" pitchFamily="2" charset="0"/>
              <a:cs typeface="CMU Sans Serif" panose="02000603000000000000" pitchFamily="2" charset="0"/>
            </a:endParaRPr>
          </a:p>
        </p:txBody>
      </p:sp>
      <p:pic>
        <p:nvPicPr>
          <p:cNvPr id="6" name="Picture 2" descr="Facultad de Ingeniería UDD - YouTube">
            <a:extLst>
              <a:ext uri="{FF2B5EF4-FFF2-40B4-BE49-F238E27FC236}">
                <a16:creationId xmlns:a16="http://schemas.microsoft.com/office/drawing/2014/main" id="{06C53034-67BA-2E3A-49D3-886578F913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90333" y="4778138"/>
            <a:ext cx="1796867" cy="17968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933290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52325</TotalTime>
  <Words>1786</Words>
  <Application>Microsoft Office PowerPoint</Application>
  <PresentationFormat>Widescreen</PresentationFormat>
  <Paragraphs>338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6" baseType="lpstr">
      <vt:lpstr>Aptos</vt:lpstr>
      <vt:lpstr>Arial</vt:lpstr>
      <vt:lpstr>Arial Unicode MS</vt:lpstr>
      <vt:lpstr>Calibri</vt:lpstr>
      <vt:lpstr>Calibri Light</vt:lpstr>
      <vt:lpstr>Cambria Math</vt:lpstr>
      <vt:lpstr>CMU Sans Serif</vt:lpstr>
      <vt:lpstr>Times New Roman</vt:lpstr>
      <vt:lpstr>-webkit-standard</vt:lpstr>
      <vt:lpstr>Tema de 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Sebastian Alfredo Munoz Herrera</dc:creator>
  <cp:lastModifiedBy>Héctor Alonso Hormazábal Vildósola</cp:lastModifiedBy>
  <cp:revision>292</cp:revision>
  <cp:lastPrinted>2025-06-20T00:00:54Z</cp:lastPrinted>
  <dcterms:created xsi:type="dcterms:W3CDTF">2020-06-17T02:23:22Z</dcterms:created>
  <dcterms:modified xsi:type="dcterms:W3CDTF">2026-03-19T02:28:53Z</dcterms:modified>
</cp:coreProperties>
</file>
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47" r:id="rId2"/>
    <p:sldId id="386" r:id="rId3"/>
    <p:sldId id="399" r:id="rId4"/>
    <p:sldId id="401" r:id="rId5"/>
    <p:sldId id="402" r:id="rId6"/>
    <p:sldId id="407" r:id="rId7"/>
    <p:sldId id="408" r:id="rId8"/>
    <p:sldId id="403" r:id="rId9"/>
    <p:sldId id="404" r:id="rId10"/>
    <p:sldId id="405" r:id="rId11"/>
    <p:sldId id="398" r:id="rId12"/>
    <p:sldId id="397" r:id="rId13"/>
  </p:sldIdLst>
  <p:sldSz cx="12192000" cy="6858000"/>
  <p:notesSz cx="7010400" cy="92964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  <a:srgbClr val="F2F2F2"/>
    <a:srgbClr val="3E7D13"/>
    <a:srgbClr val="C762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Estilo oscuro 2 - Énfasis 5/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829" autoAdjust="0"/>
    <p:restoredTop sz="93792" autoAdjust="0"/>
  </p:normalViewPr>
  <p:slideViewPr>
    <p:cSldViewPr snapToGrid="0">
      <p:cViewPr>
        <p:scale>
          <a:sx n="60" d="100"/>
          <a:sy n="60" d="100"/>
        </p:scale>
        <p:origin x="176" y="192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319" cy="46524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885" y="0"/>
            <a:ext cx="3038319" cy="46524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E4ED5A-871E-4544-8630-E130C4C6C60A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519" y="4473472"/>
            <a:ext cx="5607362" cy="366087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160"/>
            <a:ext cx="3038319" cy="4652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885" y="8831160"/>
            <a:ext cx="3038319" cy="4652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DDB131-80DD-4B65-AB6A-E7BEF34656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573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Sebastián Muñoz-Herrera,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guiding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months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dive in,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quick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picture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in-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sets in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today's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data-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driven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logistics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healthcare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retail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raw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superpower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define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actually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explore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look at real-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cases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Chile,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finish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hands-on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Python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session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mental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written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begin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I'd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love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brief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introduction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Please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share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areas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interest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within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Industrial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Engineering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something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enjoy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doing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time. </a:t>
            </a:r>
          </a:p>
          <a:p>
            <a:endParaRPr lang="es-CL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Sebastián Muñoz Herrera, I am Industrial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Engineer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profession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Master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Degree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Industrial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Engineering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I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hold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PhD in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Complex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Systems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Engineering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interest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Operations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Research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methods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enjoy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time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family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play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soccer and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research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articles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wants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79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36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299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509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3434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340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052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36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862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418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EF62F-DE3E-FFF0-37FB-CA679E48A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82048D-FE24-36C7-23A5-EBF9374B8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FBAEEE-A5EB-40CA-CA29-852D7C429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E85DB-002B-4751-0424-68A1AC3C26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50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23BD7-16B1-0929-7489-2862B9E76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52C19F-B3E5-B05F-19A9-D5791A52E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F63A74-9C7B-0300-E4EB-121B98301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5935C-2EFF-621B-6180-A9FA8CA67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17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56C58-2B93-42E6-9CDE-9F837FD25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5C6770-B59D-42DE-8D03-33D589292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4CA293-93F0-45BC-AEED-C2C5CACB1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06-03-2026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C02EBB-1C18-4B40-9E89-BB182029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3C7F92-FCE0-4C48-9DF2-E3D0BCA14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45950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9B2EE1-8DA7-40DB-BA2A-E8DDD7951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232485-33A6-4477-BC7D-3A41A400A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A453EC-9D11-420C-908E-46DF2A280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06-03-2026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4CCEBC-7624-4694-894A-3BCD6F2A6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6EE914-94B8-4E83-AA9E-2A9AC0EC9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9423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0A9B43-2E43-4C05-9059-3E27F939E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183005-9C20-4DB8-B2E5-A9486B397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E309D7-9A89-444B-887C-88C7421E3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06-03-2026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DE2309-E996-4689-B1F7-0824EC51F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63F54C-4F3F-4474-AAE9-4B507FEE4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2289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0BB339-D80E-4259-8368-E6EFD0AB4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EC2EC6-7974-418B-8E94-2C518A4F02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7D232C-B60A-4B2F-8B56-6747734AB9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E33A31-13D4-420A-B839-EFD089C96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06-03-2026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61612D-A82E-47A2-8E5C-246A0EF65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CA155A-9C12-4DB8-94A5-5C9661D5A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8936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5EA5D3-7BFE-4B37-BC15-D96C1E2B9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778144-4E19-4BAB-8A10-ECBC1024E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C3E319A-2E77-4649-88E0-0D58E193B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EEE07E-3A95-402D-8661-16201E634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1DF6699-B7FF-4D87-B714-C8250A62B2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EE464B-0630-417F-9426-6F4105587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06-03-2026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77230FD-F75E-477F-B6BB-A67819A5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13E43BC-990E-47A6-BA74-74A253545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2925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CAEE56-0FF1-4325-8F11-278643706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AB73E8B-CF14-449E-A330-FD4D55ABC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06-03-2026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ED6F627-86B9-4779-8970-A1A3CB46A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97DC80-FC4F-4153-9057-8BA499A96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7318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FB130DF-15A9-43A4-A61D-6C64CCDD5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06-03-2026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AD7A77A-394A-45FF-B2EA-21D925C60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CFBB0A-ED7E-4EAD-88E5-61C84ED0A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5257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3349D5-CA78-4C19-9EB4-10733F973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F21E93-3261-4190-BBB2-63CFFB8F0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B23267E-E1FD-429E-812B-262712FAA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7308A0-6CCE-4FB6-A66A-8DED7B0BA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06-03-2026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B5B204-5199-4782-8ECF-05C4C88E2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130D90-8BAD-466C-9302-791EC3935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86656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9DA58-8A5F-4D02-9DF3-940B8113E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BB48E5E-FD10-4615-BCE6-8B9918FFA7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9B308F-814B-41E8-AC24-6DBC51133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21376FD-A848-4D0E-8F32-EBA087517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06-03-2026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D63E9E-AEB2-4506-85D8-EC9CFB6AE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30EB25-68F2-42CC-82D9-8282F1ABE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0279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34D939-6827-460F-9BA9-D9EB24C6E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4BD03BF-8A22-4428-A138-4FA085383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C56E2E-05B1-4962-96F4-2CCBE5F22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06-03-2026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DB0A4B-301D-4744-860C-5B04C061F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10D734-2B34-4F48-ADFF-283348839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59593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0B3DBF-385A-45FB-BB2B-D0B84FCC15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028EC30-4B1B-415C-9768-986A57C77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5CE1D7-8E47-4FD0-97C8-BFECC9B42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06-03-2026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DB684F-50C6-4F1D-AD98-71083DC9F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FC2AFA-2622-46D5-B58E-83EC2B68A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3582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168C10C-7047-4062-9ADD-90AB7D69F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D63B4F-A322-41B5-A16D-346326B6A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50213B-12DA-4E71-82AD-59E1E52FDF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47CACA-0C01-43AF-89B6-7E7D04E651FD}" type="datetimeFigureOut">
              <a:rPr lang="es-CL" smtClean="0"/>
              <a:t>06-03-2026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EC55FC-5C84-4652-A1B2-C47F38EF5B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E626A3-7927-4E16-9E65-034576C92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1356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D6F9E438-2579-48BA-85C0-3831D3D02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128" y="2417899"/>
            <a:ext cx="9980002" cy="213824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94F2F35-203D-41CB-8506-3752C0BD239E}"/>
              </a:ext>
            </a:extLst>
          </p:cNvPr>
          <p:cNvSpPr txBox="1"/>
          <p:nvPr/>
        </p:nvSpPr>
        <p:spPr>
          <a:xfrm>
            <a:off x="805870" y="3245747"/>
            <a:ext cx="10674059" cy="2236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800" b="1" dirty="0" err="1">
                <a:latin typeface="CMU Sans Serif" panose="02000603000000000000"/>
              </a:rPr>
              <a:t>Class</a:t>
            </a:r>
            <a:r>
              <a:rPr lang="es-CL" sz="2800" b="1" dirty="0">
                <a:latin typeface="CMU Sans Serif" panose="02000603000000000000"/>
              </a:rPr>
              <a:t> 2: </a:t>
            </a:r>
            <a:r>
              <a:rPr lang="es-CL" sz="2800" b="1" dirty="0" err="1">
                <a:latin typeface="CMU Sans Serif" panose="02000603000000000000"/>
              </a:rPr>
              <a:t>Introduction</a:t>
            </a:r>
            <a:r>
              <a:rPr lang="es-CL" sz="2800" b="1" dirty="0">
                <a:latin typeface="CMU Sans Serif" panose="02000603000000000000"/>
              </a:rPr>
              <a:t> to Business Intelligence</a:t>
            </a:r>
          </a:p>
          <a:p>
            <a:pPr algn="ctr"/>
            <a:r>
              <a:rPr lang="es-CL" sz="240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24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I: </a:t>
            </a:r>
            <a:r>
              <a:rPr lang="en-US" sz="1800" b="1" dirty="0">
                <a:solidFill>
                  <a:srgbClr val="21212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Data Exploration and Profiling (EDA)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endParaRPr lang="es-CL" sz="2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6B4FB7F-A091-4C02-86D9-92C1AE799E74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-4" y="3578"/>
            <a:ext cx="12192000" cy="39904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D372040-6CA4-4A06-9D54-3777D0D8BBE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4" y="6578525"/>
            <a:ext cx="12192000" cy="288870"/>
          </a:xfrm>
          <a:prstGeom prst="rect">
            <a:avLst/>
          </a:prstGeom>
        </p:spPr>
      </p:pic>
      <p:pic>
        <p:nvPicPr>
          <p:cNvPr id="1026" name="Picture 2" descr="Logos - Imagen UDD">
            <a:extLst>
              <a:ext uri="{FF2B5EF4-FFF2-40B4-BE49-F238E27FC236}">
                <a16:creationId xmlns:a16="http://schemas.microsoft.com/office/drawing/2014/main" id="{076CCFA2-EB6F-8536-54BC-13384D9CF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084" y="1324170"/>
            <a:ext cx="4100830" cy="144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6">
            <a:extLst>
              <a:ext uri="{FF2B5EF4-FFF2-40B4-BE49-F238E27FC236}">
                <a16:creationId xmlns:a16="http://schemas.microsoft.com/office/drawing/2014/main" id="{832B43B6-E8D7-9865-7E68-C174319807ED}"/>
              </a:ext>
            </a:extLst>
          </p:cNvPr>
          <p:cNvSpPr txBox="1"/>
          <p:nvPr/>
        </p:nvSpPr>
        <p:spPr>
          <a:xfrm>
            <a:off x="3945218" y="5585882"/>
            <a:ext cx="43785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Sebastián Muñoz-Herrera, PhD.</a:t>
            </a:r>
          </a:p>
          <a:p>
            <a:pPr algn="ctr"/>
            <a:r>
              <a:rPr lang="es-CL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Héctor Hormazábal </a:t>
            </a: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6" name="Picture 2" descr="Facultad de Ingeniería UDD - YouTube">
            <a:extLst>
              <a:ext uri="{FF2B5EF4-FFF2-40B4-BE49-F238E27FC236}">
                <a16:creationId xmlns:a16="http://schemas.microsoft.com/office/drawing/2014/main" id="{0C274A01-ACE3-103C-AFB1-CF811B1EA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0333" y="4778138"/>
            <a:ext cx="1796867" cy="1796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2186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Clase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2: Data Exploration and Profiling (EDA)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of Business Intelligence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</a:rPr>
              <a:t>Introduction to EDA – Exploratory Data Analysis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BC40CFE-81DD-4966-8605-2CE3C9F35824}"/>
              </a:ext>
            </a:extLst>
          </p:cNvPr>
          <p:cNvSpPr txBox="1"/>
          <p:nvPr/>
        </p:nvSpPr>
        <p:spPr>
          <a:xfrm>
            <a:off x="222700" y="1001815"/>
            <a:ext cx="11920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Understanding your data before the modeling phase</a:t>
            </a:r>
            <a:endParaRPr lang="en-US" sz="2000" b="1" dirty="0">
              <a:solidFill>
                <a:schemeClr val="bg2">
                  <a:lumMod val="50000"/>
                </a:schemeClr>
              </a:solidFill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6EC2C085-7FB0-49DB-B108-1EBA7EB39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198" y="2143565"/>
            <a:ext cx="575279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MU Sans Serif" panose="02000603000000000000"/>
              </a:rPr>
              <a:t> The Foundation of Data Science: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Conducting initial investigations to discover patterns, spot anomalies, and test hypotheses.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MU Sans Serif" panose="02000603000000000000"/>
              </a:rPr>
              <a:t> Why it matters: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Gaining a deep understanding of the "nature" of the dataset before applying any machine learning models.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  <a:latin typeface="CMU Sans Serif" panose="0200060300000000000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MU Sans Serif" panose="02000603000000000000"/>
              </a:rPr>
              <a:t>Process: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A structured approach to data health, moving from basic counts to complex variable relationships.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MU Sans Serif" panose="02000603000000000000"/>
              </a:rPr>
              <a:t> Practical Benefit: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Identifying early flaws in the data to prevent biased results or model failure later on.</a:t>
            </a:r>
          </a:p>
        </p:txBody>
      </p:sp>
      <p:pic>
        <p:nvPicPr>
          <p:cNvPr id="1031" name="Picture 7" descr="Tools and Libraries Used to Perform Exploratory Data Analysis (EDA)">
            <a:extLst>
              <a:ext uri="{FF2B5EF4-FFF2-40B4-BE49-F238E27FC236}">
                <a16:creationId xmlns:a16="http://schemas.microsoft.com/office/drawing/2014/main" id="{5B0A0E5C-C30C-4AB5-87F0-5DBAD49AE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066" y="1732166"/>
            <a:ext cx="5752798" cy="3760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5300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Clase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2: Data Exploration and Profiling (EDA)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of Business Intelligence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</a:rPr>
              <a:t>The Foundation of Data Analysis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BC40CFE-81DD-4966-8605-2CE3C9F35824}"/>
              </a:ext>
            </a:extLst>
          </p:cNvPr>
          <p:cNvSpPr txBox="1"/>
          <p:nvPr/>
        </p:nvSpPr>
        <p:spPr>
          <a:xfrm>
            <a:off x="222700" y="1001815"/>
            <a:ext cx="11920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MU Sans Serif" panose="02000603000000000000"/>
              </a:rPr>
              <a:t>Core Purpose and Analytical Structure</a:t>
            </a:r>
            <a:endParaRPr lang="en-US" sz="2000" b="1" dirty="0">
              <a:solidFill>
                <a:schemeClr val="bg2">
                  <a:lumMod val="50000"/>
                </a:schemeClr>
              </a:solidFill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10E0EBD-B630-4C17-9CED-920E9DE61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28" y="2042767"/>
            <a:ext cx="571027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Main Objective: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To maximize insight into the dataset and uncover underlying patterns or trends.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Data Sanitization: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Early detection and handling of outliers, missing values, and anomalies.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Feature Importance: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Identifying which variables are the most influential for future modeling.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Analysis Flow: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Moving from Univariate (single variable) to Bivariate and Multivariate investigations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2051" name="Picture 3" descr="Exploratory Data Analysis (EDA)">
            <a:extLst>
              <a:ext uri="{FF2B5EF4-FFF2-40B4-BE49-F238E27FC236}">
                <a16:creationId xmlns:a16="http://schemas.microsoft.com/office/drawing/2014/main" id="{A05742FE-93E9-4FBE-8CA4-7DDDBDFC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226" y="1752388"/>
            <a:ext cx="5576059" cy="3872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2349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Clase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2: Data Exploration and Profiling (EDA)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of Business Intelligence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</a:rPr>
              <a:t>Data Taxonomy: Numerical vs. Categorical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BC40CFE-81DD-4966-8605-2CE3C9F35824}"/>
              </a:ext>
            </a:extLst>
          </p:cNvPr>
          <p:cNvSpPr txBox="1"/>
          <p:nvPr/>
        </p:nvSpPr>
        <p:spPr>
          <a:xfrm>
            <a:off x="222700" y="1001815"/>
            <a:ext cx="11920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MU Sans Serif" panose="02000603000000000000"/>
              </a:rPr>
              <a:t>Classifying Variables for appropriate statistical analysis</a:t>
            </a:r>
            <a:endParaRPr lang="en-US" sz="2000" b="1" dirty="0">
              <a:solidFill>
                <a:schemeClr val="bg2">
                  <a:lumMod val="50000"/>
                </a:schemeClr>
              </a:solidFill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40EDCCCC-E042-4B01-9C3F-2F44FE7794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392953"/>
              </p:ext>
            </p:extLst>
          </p:nvPr>
        </p:nvGraphicFramePr>
        <p:xfrm>
          <a:off x="809255" y="1951693"/>
          <a:ext cx="10748336" cy="390449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996553">
                  <a:extLst>
                    <a:ext uri="{9D8B030D-6E8A-4147-A177-3AD203B41FA5}">
                      <a16:colId xmlns:a16="http://schemas.microsoft.com/office/drawing/2014/main" val="4060431261"/>
                    </a:ext>
                  </a:extLst>
                </a:gridCol>
                <a:gridCol w="2031867">
                  <a:extLst>
                    <a:ext uri="{9D8B030D-6E8A-4147-A177-3AD203B41FA5}">
                      <a16:colId xmlns:a16="http://schemas.microsoft.com/office/drawing/2014/main" val="1768317926"/>
                    </a:ext>
                  </a:extLst>
                </a:gridCol>
                <a:gridCol w="4032832">
                  <a:extLst>
                    <a:ext uri="{9D8B030D-6E8A-4147-A177-3AD203B41FA5}">
                      <a16:colId xmlns:a16="http://schemas.microsoft.com/office/drawing/2014/main" val="4064508463"/>
                    </a:ext>
                  </a:extLst>
                </a:gridCol>
                <a:gridCol w="2687084">
                  <a:extLst>
                    <a:ext uri="{9D8B030D-6E8A-4147-A177-3AD203B41FA5}">
                      <a16:colId xmlns:a16="http://schemas.microsoft.com/office/drawing/2014/main" val="2743235439"/>
                    </a:ext>
                  </a:extLst>
                </a:gridCol>
              </a:tblGrid>
              <a:tr h="78089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MU Sans Serif" panose="02000603000000000000"/>
                        </a:rPr>
                        <a:t>Type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MU Sans Serif" panose="02000603000000000000"/>
                        </a:rPr>
                        <a:t>Sub-type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MU Sans Serif" panose="02000603000000000000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MU Sans Serif" panose="02000603000000000000"/>
                        </a:rPr>
                        <a:t>Example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414123"/>
                  </a:ext>
                </a:extLst>
              </a:tr>
              <a:tr h="780898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MU Sans Serif" panose="02000603000000000000"/>
                        </a:rPr>
                        <a:t>Numerical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  <a:latin typeface="CMU Sans Serif" panose="02000603000000000000"/>
                        </a:rPr>
                        <a:t>Continuous</a:t>
                      </a:r>
                      <a:endParaRPr lang="en-US" dirty="0">
                        <a:solidFill>
                          <a:srgbClr val="C00000"/>
                        </a:solidFill>
                        <a:latin typeface="CMU Sans Serif" panose="02000603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MU Sans Serif" panose="02000603000000000000"/>
                        </a:rPr>
                        <a:t>Infinite values within a specific range.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MU Sans Serif" panose="02000603000000000000"/>
                        </a:rPr>
                        <a:t>Price, Weight,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323507"/>
                  </a:ext>
                </a:extLst>
              </a:tr>
              <a:tr h="780898">
                <a:tc vMerge="1">
                  <a:txBody>
                    <a:bodyPr/>
                    <a:lstStyle/>
                    <a:p>
                      <a:r>
                        <a:rPr lang="en-US" b="1" dirty="0"/>
                        <a:t>Numerical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  <a:latin typeface="CMU Sans Serif" panose="02000603000000000000"/>
                        </a:rPr>
                        <a:t>Discrete</a:t>
                      </a:r>
                      <a:endParaRPr lang="en-US" dirty="0">
                        <a:solidFill>
                          <a:srgbClr val="C00000"/>
                        </a:solidFill>
                        <a:latin typeface="CMU Sans Serif" panose="02000603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MU Sans Serif" panose="02000603000000000000"/>
                        </a:rPr>
                        <a:t>Countable, distinct whole numbers.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MU Sans Serif" panose="02000603000000000000"/>
                        </a:rPr>
                        <a:t>No. of children, Cars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2351807"/>
                  </a:ext>
                </a:extLst>
              </a:tr>
              <a:tr h="780898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MU Sans Serif" panose="02000603000000000000"/>
                        </a:rPr>
                        <a:t>Categorical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MU Sans Serif" panose="02000603000000000000"/>
                        </a:rPr>
                        <a:t>Ordinal</a:t>
                      </a:r>
                      <a:endParaRPr lang="en-US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MU Sans Serif" panose="02000603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MU Sans Serif" panose="02000603000000000000"/>
                        </a:rPr>
                        <a:t>Clear, logical sequence or rank.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MU Sans Serif" panose="02000603000000000000"/>
                        </a:rPr>
                        <a:t>Education, Ratings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1864576"/>
                  </a:ext>
                </a:extLst>
              </a:tr>
              <a:tr h="780898">
                <a:tc vMerge="1">
                  <a:txBody>
                    <a:bodyPr/>
                    <a:lstStyle/>
                    <a:p>
                      <a:r>
                        <a:rPr lang="en-US" b="1" dirty="0"/>
                        <a:t>Categorical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MU Sans Serif" panose="02000603000000000000"/>
                        </a:rPr>
                        <a:t>Nominal</a:t>
                      </a:r>
                      <a:endParaRPr lang="en-US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MU Sans Serif" panose="02000603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MU Sans Serif" panose="02000603000000000000"/>
                        </a:rPr>
                        <a:t>No inherent order or hierarchy.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MU Sans Serif" panose="02000603000000000000"/>
                        </a:rPr>
                        <a:t>Country, Gender,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7297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0901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10637" y="-1801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Clase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2: Data Exploration and Profiling (EDA)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of Business Intelligence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233907" y="377496"/>
            <a:ext cx="13531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Data Profiling - Health Check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BC40CFE-81DD-4966-8605-2CE3C9F35824}"/>
              </a:ext>
            </a:extLst>
          </p:cNvPr>
          <p:cNvSpPr txBox="1"/>
          <p:nvPr/>
        </p:nvSpPr>
        <p:spPr>
          <a:xfrm>
            <a:off x="260631" y="1108132"/>
            <a:ext cx="11920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Data Profiling: Assessing Dataset Health</a:t>
            </a:r>
            <a:endParaRPr lang="en-US" sz="2000" b="1" dirty="0">
              <a:solidFill>
                <a:schemeClr val="bg2">
                  <a:lumMod val="50000"/>
                </a:schemeClr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BA475F21-975D-499E-A6E6-DBB50EE06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706808"/>
              </p:ext>
            </p:extLst>
          </p:nvPr>
        </p:nvGraphicFramePr>
        <p:xfrm>
          <a:off x="372139" y="1889246"/>
          <a:ext cx="11387469" cy="396929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43892">
                  <a:extLst>
                    <a:ext uri="{9D8B030D-6E8A-4147-A177-3AD203B41FA5}">
                      <a16:colId xmlns:a16="http://schemas.microsoft.com/office/drawing/2014/main" val="3006734846"/>
                    </a:ext>
                  </a:extLst>
                </a:gridCol>
                <a:gridCol w="1862958">
                  <a:extLst>
                    <a:ext uri="{9D8B030D-6E8A-4147-A177-3AD203B41FA5}">
                      <a16:colId xmlns:a16="http://schemas.microsoft.com/office/drawing/2014/main" val="158933106"/>
                    </a:ext>
                  </a:extLst>
                </a:gridCol>
                <a:gridCol w="2958831">
                  <a:extLst>
                    <a:ext uri="{9D8B030D-6E8A-4147-A177-3AD203B41FA5}">
                      <a16:colId xmlns:a16="http://schemas.microsoft.com/office/drawing/2014/main" val="1270729972"/>
                    </a:ext>
                  </a:extLst>
                </a:gridCol>
                <a:gridCol w="2410894">
                  <a:extLst>
                    <a:ext uri="{9D8B030D-6E8A-4147-A177-3AD203B41FA5}">
                      <a16:colId xmlns:a16="http://schemas.microsoft.com/office/drawing/2014/main" val="1075118042"/>
                    </a:ext>
                  </a:extLst>
                </a:gridCol>
                <a:gridCol w="2410894">
                  <a:extLst>
                    <a:ext uri="{9D8B030D-6E8A-4147-A177-3AD203B41FA5}">
                      <a16:colId xmlns:a16="http://schemas.microsoft.com/office/drawing/2014/main" val="2349429243"/>
                    </a:ext>
                  </a:extLst>
                </a:gridCol>
              </a:tblGrid>
              <a:tr h="66154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Metric</a:t>
                      </a:r>
                      <a:endParaRPr lang="en-US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Focus</a:t>
                      </a:r>
                      <a:endParaRPr lang="en-US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Description</a:t>
                      </a:r>
                      <a:endParaRPr lang="en-US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Example Issue</a:t>
                      </a:r>
                      <a:endParaRPr lang="en-US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Impact</a:t>
                      </a:r>
                      <a:endParaRPr lang="en-US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181563"/>
                  </a:ext>
                </a:extLst>
              </a:tr>
              <a:tr h="66154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Completeness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Missing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Presence of null or NaN values.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30% of "Age" is missing.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Biased or skewed results.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9538744"/>
                  </a:ext>
                </a:extLst>
              </a:tr>
              <a:tr h="66154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Uniqueness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Duplicates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Identification of redundant records.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Same transaction id twice.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Overestimated metrics.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5883332"/>
                  </a:ext>
                </a:extLst>
              </a:tr>
              <a:tr h="66154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Consistency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Standards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Uniformity of formats/labels.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v-SE"/>
                        <a:t>"USA" vs. "U.S.A."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Fragmented categories.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713301"/>
                  </a:ext>
                </a:extLst>
              </a:tr>
              <a:tr h="66154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Validity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Constraints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Adherence to logical ranges.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Age = -5 or Salary = "N/A".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Computational errors.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1617114"/>
                  </a:ext>
                </a:extLst>
              </a:tr>
              <a:tr h="66154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Accuracy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Correctness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Degree of truth in the data.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 sensor reporting 500°C.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Unreliable model logic.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2556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6772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Clase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2: Data Exploration and Profiling (EDA)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of Business Intelligence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</a:rPr>
              <a:t>Spotting Anomalies in Your Data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BC40CFE-81DD-4966-8605-2CE3C9F35824}"/>
              </a:ext>
            </a:extLst>
          </p:cNvPr>
          <p:cNvSpPr txBox="1"/>
          <p:nvPr/>
        </p:nvSpPr>
        <p:spPr>
          <a:xfrm>
            <a:off x="222700" y="1001815"/>
            <a:ext cx="11920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Identifying extreme observations and their Impact</a:t>
            </a:r>
            <a:endParaRPr lang="en-US" sz="2000" b="1" dirty="0">
              <a:solidFill>
                <a:schemeClr val="bg2">
                  <a:lumMod val="50000"/>
                </a:schemeClr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ADFC99F-1FAE-456C-ABFD-171125F9E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291" y="1747737"/>
            <a:ext cx="11085744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Defining the Outlier: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Think of these as data points that simply don't "fit in" with the rest of your observations.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The Root Cause: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Most outliers come from manual entry errors, equipment glitches, or genuine but rare events that break the norm.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Why we worry: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A single extreme value can easily distort your average, making your entire analysis look skewed or dishonest.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The Box Plot Advantage: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It’s the fastest way to visualize your distribution and see which points are sitting outside the "safety zone."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34E8386-987E-47E1-8807-EADBFFFE8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530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Clase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2: Data Exploration and Profiling (EDA)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of Business Intelligence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</a:rPr>
              <a:t>Spotting Anomalies in Your Data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BC40CFE-81DD-4966-8605-2CE3C9F35824}"/>
              </a:ext>
            </a:extLst>
          </p:cNvPr>
          <p:cNvSpPr txBox="1"/>
          <p:nvPr/>
        </p:nvSpPr>
        <p:spPr>
          <a:xfrm>
            <a:off x="222700" y="1001815"/>
            <a:ext cx="11920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Identifying extreme observations and their Impact</a:t>
            </a:r>
            <a:endParaRPr lang="en-US" sz="2000" b="1" dirty="0">
              <a:solidFill>
                <a:schemeClr val="bg2">
                  <a:lumMod val="50000"/>
                </a:schemeClr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5122" name="Picture 2" descr="a box plot showing median, quartiles, and outliers">
            <a:extLst>
              <a:ext uri="{FF2B5EF4-FFF2-40B4-BE49-F238E27FC236}">
                <a16:creationId xmlns:a16="http://schemas.microsoft.com/office/drawing/2014/main" id="{D3FDF6B1-1529-48F2-95B6-540BC1F54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90442"/>
            <a:ext cx="12192000" cy="469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4092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0E4233F8-EB0E-48D4-BB8A-7C0D5839F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949" y="1401925"/>
            <a:ext cx="6412483" cy="4773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Clase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2: Data Exploration and Profiling (EDA)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of Business Intelligence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</a:rPr>
              <a:t>Calculating the "Safety Zone"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BC40CFE-81DD-4966-8605-2CE3C9F35824}"/>
              </a:ext>
            </a:extLst>
          </p:cNvPr>
          <p:cNvSpPr txBox="1"/>
          <p:nvPr/>
        </p:nvSpPr>
        <p:spPr>
          <a:xfrm>
            <a:off x="222700" y="1001815"/>
            <a:ext cx="11920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The Mathematical Standard for Outlier Detection</a:t>
            </a:r>
            <a:endParaRPr lang="en-US" sz="2000" b="1" dirty="0">
              <a:solidFill>
                <a:schemeClr val="bg2">
                  <a:lumMod val="50000"/>
                </a:schemeClr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9EEB3AFA-1323-492E-B4D9-D31E243C74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128" y="1635735"/>
                <a:ext cx="5110246" cy="47089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What is IQR?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: It is the Interquartile Range, calculated as </a:t>
                </a:r>
                <a14:m>
                  <m:oMath xmlns:m="http://schemas.openxmlformats.org/officeDocument/2006/math">
                    <m:r>
                      <a:rPr kumimoji="0" lang="en-US" alt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𝐼𝑄𝑅</m:t>
                    </m:r>
                    <m:r>
                      <a:rPr kumimoji="0" lang="en-US" alt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kumimoji="0" lang="en-US" alt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0" lang="en-US" alt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3−</m:t>
                    </m:r>
                    <m:r>
                      <a:rPr kumimoji="0" lang="en-US" alt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0" lang="en-US" alt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. This represents the middle 50% of your data.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MU Sans Serif" panose="0200060300000000000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Setting the Boundaries:</a:t>
                </a:r>
                <a:r>
                  <a:rPr lang="en-US" altLang="en-US" sz="2000" dirty="0">
                    <a:latin typeface="CMU Sans Serif" panose="02000603000000000000"/>
                  </a:rPr>
                  <a:t> 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We establish "fences" to separate normal data from anomalies using a standard multiplier of 1.5.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MU Sans Serif" panose="0200060300000000000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The Lower Fence: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Any value below: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14:m>
                  <m:oMath xmlns:m="http://schemas.openxmlformats.org/officeDocument/2006/math">
                    <m:r>
                      <a:rPr kumimoji="0" lang="en-US" alt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0" lang="en-US" alt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1−(1.5×</m:t>
                    </m:r>
                    <m:r>
                      <a:rPr kumimoji="0" lang="en-US" alt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𝐼𝑄𝑅</m:t>
                    </m:r>
                    <m:r>
                      <a:rPr kumimoji="0" lang="en-US" alt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is flagged as a potential outlier.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MU Sans Serif" panose="0200060300000000000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The Upper Fence: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Any value above: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0" lang="en-US" alt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3+(1.5×</m:t>
                    </m:r>
                    <m:r>
                      <a:rPr kumimoji="0" lang="en-US" alt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𝐼𝑄𝑅</m:t>
                    </m:r>
                    <m:r>
                      <a:rPr kumimoji="0" lang="en-US" alt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is flagged as a potential outlier.</a:t>
                </a:r>
              </a:p>
            </p:txBody>
          </p:sp>
        </mc:Choice>
        <mc:Fallback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9EEB3AFA-1323-492E-B4D9-D31E243C74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7128" y="1635735"/>
                <a:ext cx="5110246" cy="4708981"/>
              </a:xfrm>
              <a:prstGeom prst="rect">
                <a:avLst/>
              </a:prstGeom>
              <a:blipFill>
                <a:blip r:embed="rId5"/>
                <a:stretch>
                  <a:fillRect l="-1313" t="-388" r="-1193" b="-181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7373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Clase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2: Data Exploration and Profiling (EDA)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of Business Intelligence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3">
                <a:extLst>
                  <a:ext uri="{FF2B5EF4-FFF2-40B4-BE49-F238E27FC236}">
                    <a16:creationId xmlns:a16="http://schemas.microsoft.com/office/drawing/2014/main" id="{1616B852-63A6-4684-9357-AC52515CBAE6}"/>
                  </a:ext>
                </a:extLst>
              </p:cNvPr>
              <p:cNvSpPr txBox="1"/>
              <p:nvPr/>
            </p:nvSpPr>
            <p:spPr>
              <a:xfrm>
                <a:off x="174135" y="377797"/>
                <a:ext cx="1192073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MU Sans Serif" panose="02000603000000000000"/>
                  </a:rPr>
                  <a:t>Pearson Correlation Matrix (</a:t>
                </a:r>
                <a14:m>
                  <m:oMath xmlns:m="http://schemas.openxmlformats.org/officeDocument/2006/math">
                    <m:r>
                      <a:rPr lang="es-MX" sz="3600" b="1" i="1" smtClean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sz="3600" b="1" dirty="0">
                    <a:latin typeface="CMU Sans Serif" panose="02000603000000000000"/>
                    <a:ea typeface="CMU Sans Serif" panose="02000603000000000000" pitchFamily="2" charset="0"/>
                    <a:cs typeface="CMU Sans Serif" panose="02000603000000000000" pitchFamily="2" charset="0"/>
                  </a:rPr>
                  <a:t>)</a:t>
                </a:r>
              </a:p>
            </p:txBody>
          </p:sp>
        </mc:Choice>
        <mc:Fallback>
          <p:sp>
            <p:nvSpPr>
              <p:cNvPr id="7" name="TextBox 3">
                <a:extLst>
                  <a:ext uri="{FF2B5EF4-FFF2-40B4-BE49-F238E27FC236}">
                    <a16:creationId xmlns:a16="http://schemas.microsoft.com/office/drawing/2014/main" id="{1616B852-63A6-4684-9357-AC52515CB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35" y="377797"/>
                <a:ext cx="11920732" cy="646331"/>
              </a:xfrm>
              <a:prstGeom prst="rect">
                <a:avLst/>
              </a:prstGeom>
              <a:blipFill>
                <a:blip r:embed="rId4"/>
                <a:stretch>
                  <a:fillRect l="-1586" t="-15094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3">
            <a:extLst>
              <a:ext uri="{FF2B5EF4-FFF2-40B4-BE49-F238E27FC236}">
                <a16:creationId xmlns:a16="http://schemas.microsoft.com/office/drawing/2014/main" id="{6BC40CFE-81DD-4966-8605-2CE3C9F35824}"/>
              </a:ext>
            </a:extLst>
          </p:cNvPr>
          <p:cNvSpPr txBox="1"/>
          <p:nvPr/>
        </p:nvSpPr>
        <p:spPr>
          <a:xfrm>
            <a:off x="222700" y="1001815"/>
            <a:ext cx="11920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Measuring the strength of linear relationships</a:t>
            </a:r>
            <a:endParaRPr lang="en-US" sz="2000" b="1" dirty="0">
              <a:solidFill>
                <a:schemeClr val="bg2">
                  <a:lumMod val="50000"/>
                </a:schemeClr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8194" name="Picture 2" descr="correlation matrix plot we'll be generating and looking at in this tutorial">
            <a:extLst>
              <a:ext uri="{FF2B5EF4-FFF2-40B4-BE49-F238E27FC236}">
                <a16:creationId xmlns:a16="http://schemas.microsoft.com/office/drawing/2014/main" id="{DD9CE8C7-43AE-4CF4-ACA6-7CE83743F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8157" y="1096459"/>
            <a:ext cx="5972537" cy="5187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F8AB1D5A-A2B8-4893-8052-04C4E71C4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700" y="1557970"/>
            <a:ext cx="58733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Definition: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It is a statistical measure that quantifies how much two variables change together. It specifically looks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linear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patterns.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The Scale: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The value of r always ranges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-1 to +1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, where the sign indicates the direction and the number indicates the strength.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Positive vs. Negative: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+1.0: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As one variable increases, the other increases in a perfect straight line.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latin typeface="CMU Sans Serif" panose="02000603000000000000"/>
              </a:rPr>
              <a:t>-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1.0: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As one variable increases, the other decreases consistently.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The Null Point (0):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A correlation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means there is no linear relationship; the variables are independent of each other in a linear sense.</a:t>
            </a:r>
          </a:p>
        </p:txBody>
      </p:sp>
    </p:spTree>
    <p:extLst>
      <p:ext uri="{BB962C8B-B14F-4D97-AF65-F5344CB8AC3E}">
        <p14:creationId xmlns:p14="http://schemas.microsoft.com/office/powerpoint/2010/main" val="588441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Clase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2: Data Exploration and Profiling (EDA)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of Business Intelligence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BC40CFE-81DD-4966-8605-2CE3C9F35824}"/>
              </a:ext>
            </a:extLst>
          </p:cNvPr>
          <p:cNvSpPr txBox="1"/>
          <p:nvPr/>
        </p:nvSpPr>
        <p:spPr>
          <a:xfrm>
            <a:off x="222700" y="1001815"/>
            <a:ext cx="11920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MU Sans Serif" panose="02000603000000000000"/>
              </a:rPr>
              <a:t>The iterative nature of data preprocessing</a:t>
            </a:r>
            <a:endParaRPr lang="en-US" sz="2000" b="1" dirty="0">
              <a:solidFill>
                <a:schemeClr val="bg2">
                  <a:lumMod val="50000"/>
                </a:schemeClr>
              </a:solidFill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4EA83C28-E1B1-441A-B959-4E1759325EEE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 err="1">
                <a:latin typeface="CMU Sans Serif" panose="02000603000000000000"/>
              </a:rPr>
              <a:t>Sumary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80B4FDF2-05A6-4F8D-A033-BBE5E737E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35" y="1723501"/>
            <a:ext cx="1157484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Iterative Process: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 Preprocessing isn't a straight line. Discovering new patterns often requires circling back to cleaning and re-evaluating features.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Granular Cleaning: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Handling missing values through strategic imputation and removing duplicate records to prevent bias in the final metrics.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Label Consistency: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Standardizing categories and fixing naming inconsistencies to ensure the model doesn't treat identical labels as different features.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Outlier Management: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Using the </a:t>
            </a: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IQR Method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to decide if extreme values are data entry errors to be removed or critical business signals to be kept.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Dimensionality &amp; Encoding: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Filtering redundant features using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Pearson Matrix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and transforming text into binary indicators for machine readability.</a:t>
            </a:r>
          </a:p>
        </p:txBody>
      </p:sp>
    </p:spTree>
    <p:extLst>
      <p:ext uri="{BB962C8B-B14F-4D97-AF65-F5344CB8AC3E}">
        <p14:creationId xmlns:p14="http://schemas.microsoft.com/office/powerpoint/2010/main" val="338670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72AAC-87BE-8953-1D3D-628E9208B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662E756-C86F-CE66-21E3-1F6123EE3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D2674E1-590E-AEF8-CF47-A192CAE6AC52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34BE6E-4083-5F8B-4372-F75DF0C3ED7A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Practical Section</a:t>
            </a:r>
          </a:p>
        </p:txBody>
      </p:sp>
      <p:pic>
        <p:nvPicPr>
          <p:cNvPr id="6146" name="Picture 2" descr="Python logo, icon. Programming language 44600750 Vector Art at Vecteezy">
            <a:extLst>
              <a:ext uri="{FF2B5EF4-FFF2-40B4-BE49-F238E27FC236}">
                <a16:creationId xmlns:a16="http://schemas.microsoft.com/office/drawing/2014/main" id="{997D3BEC-92EB-81C8-CD18-6ACD9F9CB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730" y="1259955"/>
            <a:ext cx="4753238" cy="140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4652A2A-F914-890D-329C-11AC45BFA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758523"/>
              </p:ext>
            </p:extLst>
          </p:nvPr>
        </p:nvGraphicFramePr>
        <p:xfrm>
          <a:off x="376971" y="2660179"/>
          <a:ext cx="11515060" cy="3200400"/>
        </p:xfrm>
        <a:graphic>
          <a:graphicData uri="http://schemas.openxmlformats.org/drawingml/2006/table">
            <a:tbl>
              <a:tblPr/>
              <a:tblGrid>
                <a:gridCol w="5757530">
                  <a:extLst>
                    <a:ext uri="{9D8B030D-6E8A-4147-A177-3AD203B41FA5}">
                      <a16:colId xmlns:a16="http://schemas.microsoft.com/office/drawing/2014/main" val="2981097391"/>
                    </a:ext>
                  </a:extLst>
                </a:gridCol>
                <a:gridCol w="5757530">
                  <a:extLst>
                    <a:ext uri="{9D8B030D-6E8A-4147-A177-3AD203B41FA5}">
                      <a16:colId xmlns:a16="http://schemas.microsoft.com/office/drawing/2014/main" val="40438426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Data Profiling</a:t>
                      </a:r>
                      <a:endParaRPr lang="en-US" dirty="0"/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Exploration with .info(), .describe() and .</a:t>
                      </a:r>
                      <a:r>
                        <a:rPr lang="en-US" dirty="0" err="1"/>
                        <a:t>isna</a:t>
                      </a:r>
                      <a:r>
                        <a:rPr lang="en-US" dirty="0"/>
                        <a:t>() to assess integrity.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744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Data Cleaning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Standardization of categories using .str methods and duplicate removal.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895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Outlier Detection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Practical application of the </a:t>
                      </a:r>
                      <a:r>
                        <a:rPr lang="en-US" b="1" dirty="0"/>
                        <a:t>IQR Method</a:t>
                      </a:r>
                      <a:r>
                        <a:rPr lang="en-US" dirty="0"/>
                        <a:t> to identify extreme values.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880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Statistical Analysis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Understanding Skewness by comparing </a:t>
                      </a:r>
                      <a:r>
                        <a:rPr lang="en-US" b="1"/>
                        <a:t>Mean vs. Median</a:t>
                      </a:r>
                      <a:r>
                        <a:rPr lang="en-US"/>
                        <a:t> in histograms.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Correlation Study</a:t>
                      </a:r>
                      <a:endParaRPr lang="en-US" dirty="0"/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Visualizing relationships with </a:t>
                      </a:r>
                      <a:r>
                        <a:rPr lang="en-US" b="1" dirty="0"/>
                        <a:t>Pearson Matrices</a:t>
                      </a:r>
                      <a:r>
                        <a:rPr lang="en-US" dirty="0"/>
                        <a:t> and Scatter Plots.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350724"/>
                  </a:ext>
                </a:extLst>
              </a:tr>
            </a:tbl>
          </a:graphicData>
        </a:graphic>
      </p:graphicFrame>
      <p:sp>
        <p:nvSpPr>
          <p:cNvPr id="5" name="CuadroTexto 12">
            <a:extLst>
              <a:ext uri="{FF2B5EF4-FFF2-40B4-BE49-F238E27FC236}">
                <a16:creationId xmlns:a16="http://schemas.microsoft.com/office/drawing/2014/main" id="{BDBB5863-274C-24CA-8D66-BA51A8842EBF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Clase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2: Data Exploration and Profiling (EDA)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of Business Intelligence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537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CEEE4-D228-E52A-EDA6-D36D19478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BEBDFDDF-599D-F65D-C284-818BD3395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128" y="2417899"/>
            <a:ext cx="9980002" cy="213824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BF19555-F0D8-1030-D7F5-C37C4BC567C8}"/>
              </a:ext>
            </a:extLst>
          </p:cNvPr>
          <p:cNvSpPr txBox="1"/>
          <p:nvPr/>
        </p:nvSpPr>
        <p:spPr>
          <a:xfrm>
            <a:off x="805870" y="3245747"/>
            <a:ext cx="10674059" cy="2236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800" b="1" dirty="0" err="1">
                <a:latin typeface="CMU Sans Serif" panose="02000603000000000000"/>
              </a:rPr>
              <a:t>Class</a:t>
            </a:r>
            <a:r>
              <a:rPr lang="es-CL" sz="2800" b="1" dirty="0">
                <a:latin typeface="CMU Sans Serif" panose="02000603000000000000"/>
              </a:rPr>
              <a:t> 2: </a:t>
            </a:r>
            <a:r>
              <a:rPr lang="es-CL" sz="2800" b="1" dirty="0" err="1">
                <a:latin typeface="CMU Sans Serif" panose="02000603000000000000"/>
              </a:rPr>
              <a:t>Introduction</a:t>
            </a:r>
            <a:r>
              <a:rPr lang="es-CL" sz="2800" b="1" dirty="0">
                <a:latin typeface="CMU Sans Serif" panose="02000603000000000000"/>
              </a:rPr>
              <a:t> to Business Intelligence</a:t>
            </a:r>
          </a:p>
          <a:p>
            <a:pPr algn="ctr"/>
            <a:r>
              <a:rPr lang="es-CL" sz="240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24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I: </a:t>
            </a:r>
            <a:r>
              <a:rPr lang="en-US" sz="1800" b="1" dirty="0">
                <a:solidFill>
                  <a:srgbClr val="21212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Data Exploration and Profiling (EDA)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endParaRPr lang="es-CL" sz="2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2963376-4A67-3291-0467-00C5E376CFB0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-4" y="3578"/>
            <a:ext cx="12192000" cy="39904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9AB863C-9F64-195E-215D-D525F97BC6C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4" y="6578525"/>
            <a:ext cx="12192000" cy="288870"/>
          </a:xfrm>
          <a:prstGeom prst="rect">
            <a:avLst/>
          </a:prstGeom>
        </p:spPr>
      </p:pic>
      <p:pic>
        <p:nvPicPr>
          <p:cNvPr id="1026" name="Picture 2" descr="Logos - Imagen UDD">
            <a:extLst>
              <a:ext uri="{FF2B5EF4-FFF2-40B4-BE49-F238E27FC236}">
                <a16:creationId xmlns:a16="http://schemas.microsoft.com/office/drawing/2014/main" id="{EBFBC538-54DF-4931-C592-5D09D7D17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084" y="1324170"/>
            <a:ext cx="4100830" cy="144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6">
            <a:extLst>
              <a:ext uri="{FF2B5EF4-FFF2-40B4-BE49-F238E27FC236}">
                <a16:creationId xmlns:a16="http://schemas.microsoft.com/office/drawing/2014/main" id="{D17138F2-F95C-5CFA-F11F-7A51421AC832}"/>
              </a:ext>
            </a:extLst>
          </p:cNvPr>
          <p:cNvSpPr txBox="1"/>
          <p:nvPr/>
        </p:nvSpPr>
        <p:spPr>
          <a:xfrm>
            <a:off x="3945218" y="5585882"/>
            <a:ext cx="43785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Sebastián Muñoz-Herrera, PhD.</a:t>
            </a:r>
          </a:p>
          <a:p>
            <a:pPr algn="ctr"/>
            <a:r>
              <a:rPr lang="es-CL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Héctor Hormazábal </a:t>
            </a: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6" name="Picture 2" descr="Facultad de Ingeniería UDD - YouTube">
            <a:extLst>
              <a:ext uri="{FF2B5EF4-FFF2-40B4-BE49-F238E27FC236}">
                <a16:creationId xmlns:a16="http://schemas.microsoft.com/office/drawing/2014/main" id="{41BC2B6A-9892-C522-A54E-41A1C166D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0333" y="4778138"/>
            <a:ext cx="1796867" cy="1796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9722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50918</TotalTime>
  <Words>3049</Words>
  <Application>Microsoft Office PowerPoint</Application>
  <PresentationFormat>Panorámica</PresentationFormat>
  <Paragraphs>278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CMU Sans Serif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Alfredo Munoz Herrera</dc:creator>
  <cp:lastModifiedBy>healhovi@gmail.com</cp:lastModifiedBy>
  <cp:revision>285</cp:revision>
  <cp:lastPrinted>2025-06-20T00:00:54Z</cp:lastPrinted>
  <dcterms:created xsi:type="dcterms:W3CDTF">2020-06-17T02:23:22Z</dcterms:created>
  <dcterms:modified xsi:type="dcterms:W3CDTF">2026-03-06T20:03:38Z</dcterms:modified>
</cp:coreProperties>
</file>